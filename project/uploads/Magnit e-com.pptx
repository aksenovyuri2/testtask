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9" name="Shape 16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"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hor and Date"/>
          <p:cNvSpPr txBox="1"/>
          <p:nvPr>
            <p:ph type="body" sz="quarter" idx="21" hasCustomPrompt="1"/>
          </p:nvPr>
        </p:nvSpPr>
        <p:spPr>
          <a:xfrm>
            <a:off x="1201340" y="11859862"/>
            <a:ext cx="21971003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Author and Date</a:t>
            </a:r>
          </a:p>
        </p:txBody>
      </p:sp>
      <p:sp>
        <p:nvSpPr>
          <p:cNvPr id="12" name="Presentation Title"/>
          <p:cNvSpPr txBox="1"/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Presentation Title</a:t>
            </a:r>
          </a:p>
        </p:txBody>
      </p:sp>
      <p:sp>
        <p:nvSpPr>
          <p:cNvPr id="13" name="Уровень текста 1…"/>
          <p:cNvSpPr txBox="1"/>
          <p:nvPr>
            <p:ph type="body" sz="quarter" idx="1" hasCustomPrompt="1"/>
          </p:nvPr>
        </p:nvSpPr>
        <p:spPr>
          <a:xfrm>
            <a:off x="1201342" y="7223190"/>
            <a:ext cx="21971001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4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View from inside a stone structure, looking out towards stairs and a clear, blue sky"/>
          <p:cNvSpPr/>
          <p:nvPr>
            <p:ph type="pic" idx="21"/>
          </p:nvPr>
        </p:nvSpPr>
        <p:spPr>
          <a:xfrm>
            <a:off x="0" y="-1270000"/>
            <a:ext cx="24384000" cy="16272934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Presentation Title"/>
          <p:cNvSpPr txBox="1"/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Presentation Title</a:t>
            </a:r>
          </a:p>
        </p:txBody>
      </p:sp>
      <p:sp>
        <p:nvSpPr>
          <p:cNvPr id="23" name="Author and Date"/>
          <p:cNvSpPr txBox="1"/>
          <p:nvPr>
            <p:ph type="body" sz="quarter" idx="22" hasCustomPrompt="1"/>
          </p:nvPr>
        </p:nvSpPr>
        <p:spPr>
          <a:xfrm>
            <a:off x="1207690" y="1106137"/>
            <a:ext cx="21968621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Author and Date</a:t>
            </a:r>
          </a:p>
        </p:txBody>
      </p:sp>
      <p:sp>
        <p:nvSpPr>
          <p:cNvPr id="24" name="Уровень текста 1…"/>
          <p:cNvSpPr txBox="1"/>
          <p:nvPr>
            <p:ph type="body" sz="quarter" idx="1" hasCustomPrompt="1"/>
          </p:nvPr>
        </p:nvSpPr>
        <p:spPr>
          <a:xfrm>
            <a:off x="1206500" y="11609910"/>
            <a:ext cx="21971000" cy="1116952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5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 Alt"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A modern white building with glass panels against a clear, blue sky"/>
          <p:cNvSpPr/>
          <p:nvPr>
            <p:ph type="pic" idx="21"/>
          </p:nvPr>
        </p:nvSpPr>
        <p:spPr>
          <a:xfrm>
            <a:off x="9271000" y="1270000"/>
            <a:ext cx="16764000" cy="1117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3" name="Slide Title"/>
          <p:cNvSpPr txBox="1"/>
          <p:nvPr>
            <p:ph type="title" hasCustomPrompt="1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pPr/>
            <a:r>
              <a:t>Slide Title</a:t>
            </a:r>
          </a:p>
        </p:txBody>
      </p:sp>
      <p:sp>
        <p:nvSpPr>
          <p:cNvPr id="34" name="Уровень текста 1…"/>
          <p:cNvSpPr txBox="1"/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5" name="Номер слайда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43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44" name="Уровень текста 1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5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ullets"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Уровень текста 1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Photo"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61" name="Уровень текста 1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2" name="Small section of a modern shell bridge in Qingdao, Shandong, China with a partly cloudy sky above"/>
          <p:cNvSpPr/>
          <p:nvPr>
            <p:ph type="pic" idx="22"/>
          </p:nvPr>
        </p:nvSpPr>
        <p:spPr>
          <a:xfrm>
            <a:off x="9271000" y="1263848"/>
            <a:ext cx="16773843" cy="11188205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3" name="Slide Titl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64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Small"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72" name="Уровень текста 1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73" name="Slide Titl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74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Large"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82" name="Уровень текста 1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83" name="Slide Titl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84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"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ection Title"/>
          <p:cNvSpPr txBox="1"/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b="0"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Section Title</a:t>
            </a:r>
          </a:p>
        </p:txBody>
      </p:sp>
      <p:sp>
        <p:nvSpPr>
          <p:cNvPr id="92" name="Номер слайда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lide Title"/>
          <p:cNvSpPr txBox="1"/>
          <p:nvPr>
            <p:ph type="title" hasCustomPrompt="1"/>
          </p:nvPr>
        </p:nvSpPr>
        <p:spPr>
          <a:xfrm>
            <a:off x="1206500" y="1079500"/>
            <a:ext cx="21971000" cy="1434949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100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101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Agenda"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Agenda Title"/>
          <p:cNvSpPr txBox="1"/>
          <p:nvPr>
            <p:ph type="title" hasCustomPrompt="1"/>
          </p:nvPr>
        </p:nvSpPr>
        <p:spPr>
          <a:xfrm>
            <a:off x="1206500" y="1079500"/>
            <a:ext cx="21971000" cy="1435100"/>
          </a:xfrm>
          <a:prstGeom prst="rect">
            <a:avLst/>
          </a:prstGeom>
        </p:spPr>
        <p:txBody>
          <a:bodyPr/>
          <a:lstStyle/>
          <a:p>
            <a:pPr/>
            <a:r>
              <a:t>Agenda Title</a:t>
            </a:r>
          </a:p>
        </p:txBody>
      </p:sp>
      <p:sp>
        <p:nvSpPr>
          <p:cNvPr id="109" name="Agenda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Agenda Subtitle</a:t>
            </a:r>
          </a:p>
        </p:txBody>
      </p:sp>
      <p:sp>
        <p:nvSpPr>
          <p:cNvPr id="110" name="Уровень текста 1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1pPr>
            <a:lvl2pPr marL="0" indent="4572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2pPr>
            <a:lvl3pPr marL="0" indent="9144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3pPr>
            <a:lvl4pPr marL="0" indent="13716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4pPr>
            <a:lvl5pPr marL="0" indent="18288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5pPr>
          </a:lstStyle>
          <a:p>
            <a:pPr/>
            <a:r>
              <a:t>Agenda Topics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1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tatement"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Уровень текста 1…"/>
          <p:cNvSpPr txBox="1"/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Statement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9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ig Fact"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Уровень текста 1…"/>
          <p:cNvSpPr txBox="1"/>
          <p:nvPr>
            <p:ph type="body" idx="1" hasCustomPrompt="1"/>
          </p:nvPr>
        </p:nvSpPr>
        <p:spPr>
          <a:xfrm>
            <a:off x="1206500" y="1075927"/>
            <a:ext cx="21971000" cy="724158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5pPr>
          </a:lstStyle>
          <a:p>
            <a:pPr/>
            <a:r>
              <a:t>100%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7" name="Fact information"/>
          <p:cNvSpPr txBox="1"/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Fact information</a:t>
            </a:r>
          </a:p>
        </p:txBody>
      </p:sp>
      <p:sp>
        <p:nvSpPr>
          <p:cNvPr id="128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Quote"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Attribution"/>
          <p:cNvSpPr txBox="1"/>
          <p:nvPr>
            <p:ph type="body" sz="quarter" idx="21" hasCustomPrompt="1"/>
          </p:nvPr>
        </p:nvSpPr>
        <p:spPr>
          <a:xfrm>
            <a:off x="2430025" y="10675453"/>
            <a:ext cx="20200052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Attribution</a:t>
            </a:r>
          </a:p>
        </p:txBody>
      </p:sp>
      <p:sp>
        <p:nvSpPr>
          <p:cNvPr id="136" name="Уровень текста 1…"/>
          <p:cNvSpPr txBox="1"/>
          <p:nvPr>
            <p:ph type="body" sz="half" idx="1" hasCustomPrompt="1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</p:spPr>
        <p:txBody>
          <a:bodyPr/>
          <a:lstStyle>
            <a:lvl1pPr marL="638923" indent="-469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638923" indent="-12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638923" indent="4445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638923" indent="901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638923" indent="1358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“Notable Quote”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7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3 Up"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Low-angle exterior view of a modern building facade covered with aluminium discs under a clear, blue sky"/>
          <p:cNvSpPr/>
          <p:nvPr>
            <p:ph type="pic" sz="quarter" idx="21"/>
          </p:nvPr>
        </p:nvSpPr>
        <p:spPr>
          <a:xfrm>
            <a:off x="15417800" y="1270000"/>
            <a:ext cx="8144934" cy="54102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5" name="Low-angle view of a modern, curved building under a cloudy sky"/>
          <p:cNvSpPr/>
          <p:nvPr>
            <p:ph type="pic" sz="quarter" idx="22"/>
          </p:nvPr>
        </p:nvSpPr>
        <p:spPr>
          <a:xfrm>
            <a:off x="15443200" y="7086600"/>
            <a:ext cx="8138580" cy="54229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6" name="View from inside a modern white building with glass panels, looking up to a bright, partly cloudy sky"/>
          <p:cNvSpPr/>
          <p:nvPr>
            <p:ph type="pic" idx="23"/>
          </p:nvPr>
        </p:nvSpPr>
        <p:spPr>
          <a:xfrm>
            <a:off x="-124635" y="1270000"/>
            <a:ext cx="16840169" cy="1124371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7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Low-angle view of the Azadi Tower in Tehran, Iran against a clear, bright sky"/>
          <p:cNvSpPr/>
          <p:nvPr>
            <p:ph type="pic" idx="21"/>
          </p:nvPr>
        </p:nvSpPr>
        <p:spPr>
          <a:xfrm>
            <a:off x="0" y="-1282700"/>
            <a:ext cx="24384000" cy="162814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55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Relationship Id="rId9" Type="http://schemas.openxmlformats.org/officeDocument/2006/relationships/slideLayout" Target="../slideLayouts/slideLayout7.xml"/><Relationship Id="rId10" Type="http://schemas.openxmlformats.org/officeDocument/2006/relationships/slideLayout" Target="../slideLayouts/slideLayout8.xml"/><Relationship Id="rId11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5.xml"/><Relationship Id="rId18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7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Title</a:t>
            </a:r>
          </a:p>
        </p:txBody>
      </p:sp>
      <p:sp>
        <p:nvSpPr>
          <p:cNvPr id="3" name="Уровень текста 1…"/>
          <p:cNvSpPr txBox="1"/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Номер слайда"/>
          <p:cNvSpPr txBox="1"/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18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</p:sldLayoutIdLst>
  <p:transition xmlns:p14="http://schemas.microsoft.com/office/powerpoint/2010/main" spd="med" advClick="1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akit.ru/news/obyom-internet-torgovli-v-rossii-v-2024-godu-uvechilsya-na-41?utm_source=chatgpt.com" TargetMode="External"/><Relationship Id="rId3" Type="http://schemas.openxmlformats.org/officeDocument/2006/relationships/hyperlink" Target="https://datainsight.ru/eCommerce_2023?utm_source=chatgpt.com" TargetMode="External"/><Relationship Id="rId4" Type="http://schemas.openxmlformats.org/officeDocument/2006/relationships/hyperlink" Target="https://cbr.ru/analytics/nps/sbp/4_2024/?utm_source=chatgpt.com" TargetMode="External"/><Relationship Id="rId5" Type="http://schemas.openxmlformats.org/officeDocument/2006/relationships/hyperlink" Target="https://www.cbr.ru/eng/psystem/?utm_source=chatgpt.com" TargetMode="External"/><Relationship Id="rId6" Type="http://schemas.openxmlformats.org/officeDocument/2006/relationships/hyperlink" Target="https://www.mckinsey.com/industries/retail/our-insights/state-of-grocery-europe?utm_source=chatgpt.com" TargetMode="External"/><Relationship Id="rId7" Type="http://schemas.openxmlformats.org/officeDocument/2006/relationships/hyperlink" Target="https://www.mckinsey.com/industries/retail/our-insights/state-of-grocery-retail-global?utm_source=chatgpt.com" TargetMode="External"/></Relationships>
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Магнит"/>
          <p:cNvSpPr txBox="1"/>
          <p:nvPr>
            <p:ph type="title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>
            <a:lvl1pPr>
              <a:defRPr b="0">
                <a:latin typeface="PP Object Sans Heavy"/>
                <a:ea typeface="PP Object Sans Heavy"/>
                <a:cs typeface="PP Object Sans Heavy"/>
                <a:sym typeface="PP Object Sans Heavy"/>
              </a:defRPr>
            </a:lvl1pPr>
          </a:lstStyle>
          <a:p>
            <a:pPr/>
            <a:r>
              <a:t>Магнит</a:t>
            </a:r>
          </a:p>
        </p:txBody>
      </p:sp>
      <p:sp>
        <p:nvSpPr>
          <p:cNvPr id="172" name="Тестовое задание E-com Lead"/>
          <p:cNvSpPr txBox="1"/>
          <p:nvPr>
            <p:ph type="body" sz="quarter" idx="1"/>
          </p:nvPr>
        </p:nvSpPr>
        <p:spPr>
          <a:xfrm>
            <a:off x="1201342" y="7223190"/>
            <a:ext cx="21971001" cy="190500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SzTx/>
              <a:buNone/>
              <a:defRPr sz="300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lvl1pPr>
          </a:lstStyle>
          <a:p>
            <a:pPr/>
            <a:r>
              <a:t>Тестовое задание E-com Lead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Содержание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16421">
              <a:defRPr b="0" spc="-161" sz="8075">
                <a:latin typeface="PP Object Sans Heavy"/>
                <a:ea typeface="PP Object Sans Heavy"/>
                <a:cs typeface="PP Object Sans Heavy"/>
                <a:sym typeface="PP Object Sans Heavy"/>
              </a:defRPr>
            </a:lvl1pPr>
          </a:lstStyle>
          <a:p>
            <a:pPr/>
            <a:r>
              <a:t>Содержание</a:t>
            </a:r>
          </a:p>
        </p:txBody>
      </p:sp>
      <p:sp>
        <p:nvSpPr>
          <p:cNvPr id="175" name="- Суть задания - Диагностика - Целевой паттерн - Офлайн -&gt; Онлайн - Roadmap - Метрики - Экономика - Приоритеты - Эксперименты - Ресурсы - Риски - 30/60/90 - Вопросы для компании - Креативные идеи - Приложение"/>
          <p:cNvSpPr txBox="1"/>
          <p:nvPr>
            <p:ph type="body" idx="1"/>
          </p:nvPr>
        </p:nvSpPr>
        <p:spPr>
          <a:xfrm>
            <a:off x="1206500" y="3340472"/>
            <a:ext cx="21971000" cy="8256011"/>
          </a:xfrm>
          <a:prstGeom prst="rect">
            <a:avLst/>
          </a:prstGeom>
        </p:spPr>
        <p:txBody>
          <a:bodyPr/>
          <a:lstStyle/>
          <a:p>
            <a:pPr marL="0" indent="0">
              <a:lnSpc>
                <a:spcPct val="100000"/>
              </a:lnSpc>
              <a:buSzTx/>
              <a:buNone/>
              <a:defRPr sz="300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t>- Суть задания</a:t>
            </a:r>
            <a:br/>
            <a:r>
              <a:t>- Диагностика</a:t>
            </a:r>
            <a:br/>
            <a:r>
              <a:t>- Целевой паттерн</a:t>
            </a:r>
            <a:br/>
            <a:r>
              <a:t>- Офлайн -&gt; Онлайн</a:t>
            </a:r>
            <a:br/>
            <a:r>
              <a:t>- Roadmap</a:t>
            </a:r>
            <a:br/>
            <a:r>
              <a:t>- Метрики</a:t>
            </a:r>
            <a:br/>
            <a:r>
              <a:t>- Экономика</a:t>
            </a:r>
            <a:br/>
            <a:r>
              <a:t>- Приоритеты</a:t>
            </a:r>
            <a:br/>
            <a:r>
              <a:t>- Эксперименты</a:t>
            </a:r>
            <a:br/>
            <a:r>
              <a:t>- Ресурсы</a:t>
            </a:r>
            <a:br/>
            <a:r>
              <a:t>- Риски</a:t>
            </a:r>
            <a:br/>
            <a:r>
              <a:t>- 30/60/90</a:t>
            </a:r>
            <a:br/>
            <a:r>
              <a:t>- Вопросы для компании</a:t>
            </a:r>
            <a:br/>
            <a:r>
              <a:t>- Креативные идеи</a:t>
            </a:r>
            <a:br/>
            <a:r>
              <a:t>- Приложение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Слайд 0. TL;DR для СЕО/CPO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b="0" spc="0" sz="6500">
                <a:latin typeface="PP Object Sans Heavy"/>
                <a:ea typeface="PP Object Sans Heavy"/>
                <a:cs typeface="PP Object Sans Heavy"/>
                <a:sym typeface="PP Object Sans Heavy"/>
              </a:defRPr>
            </a:lvl1pPr>
          </a:lstStyle>
          <a:p>
            <a:pPr/>
            <a:r>
              <a:t>Слайд 0. TL;DR для СЕО/CPO</a:t>
            </a:r>
          </a:p>
        </p:txBody>
      </p:sp>
      <p:sp>
        <p:nvSpPr>
          <p:cNvPr id="178" name="Где мы: OMNI MAU ≈ 30M*, ин-апп МагнитМаркет; NSM (MBC) ≈ 1%. Куда идём: 3–5% (12 мес), 10% (36 мес), 20%+ (дальше) — без «заливки» скидками.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 defTabSz="457200">
              <a:lnSpc>
                <a:spcPct val="100000"/>
              </a:lnSpc>
              <a:spcBef>
                <a:spcPts val="1200"/>
              </a:spcBef>
              <a:buSzTx/>
              <a:buNone/>
              <a:defRPr sz="200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Где мы:</a:t>
            </a:r>
            <a:r>
              <a:t> OMNI MAU ≈ 30M*, ин-апп МагнитМаркет;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NSM (MBC) ≈ 1%</a:t>
            </a:r>
            <a:r>
              <a:t>.</a:t>
            </a:r>
            <a:br/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Куда идём:</a:t>
            </a:r>
            <a:r>
              <a:t> 3–5% (12 мес), 10% (36 мес), 20%+ (дальше) — без «заливки» скидками.</a:t>
            </a:r>
          </a:p>
          <a:p>
            <a:pPr marL="0" indent="0" defTabSz="457200">
              <a:lnSpc>
                <a:spcPct val="100000"/>
              </a:lnSpc>
              <a:spcBef>
                <a:spcPts val="1200"/>
              </a:spcBef>
              <a:buSzTx/>
              <a:buNone/>
              <a:defRPr sz="2000">
                <a:latin typeface="PP Object Sans Heavy"/>
                <a:ea typeface="PP Object Sans Heavy"/>
                <a:cs typeface="PP Object Sans Heavy"/>
                <a:sym typeface="PP Object Sans Heavy"/>
              </a:defRPr>
            </a:pPr>
            <a:r>
              <a:t>Как именно (5 тезисов):</a:t>
            </a:r>
            <a:endParaRPr>
              <a:latin typeface="PP Object Sans Regular"/>
              <a:ea typeface="PP Object Sans Regular"/>
              <a:cs typeface="PP Object Sans Regular"/>
              <a:sym typeface="PP Object Sans Regular"/>
            </a:endParaRPr>
          </a:p>
          <a:p>
            <a:pPr marL="457200" indent="-317500" defTabSz="457200">
              <a:lnSpc>
                <a:spcPct val="100000"/>
              </a:lnSpc>
              <a:spcBef>
                <a:spcPts val="1200"/>
              </a:spcBef>
              <a:buSzPct val="100000"/>
              <a:buFont typeface="Times Roman"/>
              <a:buAutoNum type="arabicPeriod" startAt="1"/>
              <a:defRPr sz="200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Уравнение роста:</a:t>
            </a:r>
            <a:r>
              <a:t> MBC = Exposure × CTR × Intent × ATC × Checkout;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MDC = MBC × Fulfillment</a:t>
            </a:r>
            <a:r>
              <a:t>. NSM — MBC.</a:t>
            </a:r>
          </a:p>
          <a:p>
            <a:pPr marL="457200" indent="-317500" defTabSz="457200">
              <a:lnSpc>
                <a:spcPct val="100000"/>
              </a:lnSpc>
              <a:spcBef>
                <a:spcPts val="1200"/>
              </a:spcBef>
              <a:buSzPct val="100000"/>
              <a:buFont typeface="Times Roman"/>
              <a:buAutoNum type="arabicPeriod" startAt="1"/>
              <a:defRPr sz="200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4 инициативы H1 (0–8 недель):</a:t>
            </a:r>
            <a:br/>
            <a:r>
              <a:t>— Единый вход «Покупки» + ясность источника (Views/CTR).</a:t>
            </a:r>
            <a:br/>
            <a:r>
              <a:t>— Quick-add на PLP + «Мои 20/Покупай снова» (ATC/AOV).</a:t>
            </a:r>
            <a:br/>
            <a:r>
              <a:t>— «Мост» для смешанных корзин (Checkout mixed).</a:t>
            </a:r>
            <a:br/>
            <a:r>
              <a:t>— ETA-виджет + 1-клик претензии (Fulfillment → Repeat).</a:t>
            </a:r>
          </a:p>
          <a:p>
            <a:pPr marL="457200" indent="-317500" defTabSz="457200">
              <a:lnSpc>
                <a:spcPct val="100000"/>
              </a:lnSpc>
              <a:spcBef>
                <a:spcPts val="1200"/>
              </a:spcBef>
              <a:buSzPct val="100000"/>
              <a:buFont typeface="Times Roman"/>
              <a:buAutoNum type="arabicPeriod" startAt="1"/>
              <a:defRPr sz="200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Измеримость:</a:t>
            </a:r>
            <a:r>
              <a:t> для каждой инициативы MDE и тест-дизайн (A/B или кластерный), SRM=0, guardrails сервиса/экономики.</a:t>
            </a:r>
          </a:p>
          <a:p>
            <a:pPr marL="457200" indent="-317500" defTabSz="457200">
              <a:lnSpc>
                <a:spcPct val="100000"/>
              </a:lnSpc>
              <a:spcBef>
                <a:spcPts val="1200"/>
              </a:spcBef>
              <a:buSzPct val="100000"/>
              <a:buFont typeface="Times Roman"/>
              <a:buAutoNum type="arabicPeriod" startAt="1"/>
              <a:defRPr sz="200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Экономика:</a:t>
            </a:r>
            <a:r>
              <a:t> управляем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CM2/order ≥ 0</a:t>
            </a:r>
            <a:r>
              <a:t> (Delivery &amp; C&amp;C), контролируем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Share of negative UCM</a:t>
            </a:r>
            <a:r>
              <a:t>, не «заливаем» скидками; платёжный микс → СБП/Мир Pay на повторах.</a:t>
            </a:r>
          </a:p>
          <a:p>
            <a:pPr marL="457200" indent="-317500" defTabSz="457200">
              <a:lnSpc>
                <a:spcPct val="100000"/>
              </a:lnSpc>
              <a:spcBef>
                <a:spcPts val="1200"/>
              </a:spcBef>
              <a:buSzPct val="100000"/>
              <a:buFont typeface="Times Roman"/>
              <a:buAutoNum type="arabicPeriod" startAt="1"/>
              <a:defRPr sz="200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Риски/Plan B:</a:t>
            </a:r>
            <a:r>
              <a:t> если CM2&lt;0 — авто-кап инсентивов/порог free/слоты; если On-time&lt;Y% — throttle слотов + честный ETA; если Drop@Mixed↑ — включаем «мост» принудительно.</a:t>
            </a:r>
          </a:p>
          <a:p>
            <a:pPr marL="0" indent="0" defTabSz="457200">
              <a:lnSpc>
                <a:spcPct val="100000"/>
              </a:lnSpc>
              <a:spcBef>
                <a:spcPts val="1200"/>
              </a:spcBef>
              <a:buSzTx/>
              <a:buNone/>
              <a:defRPr sz="200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Что нужно от компании (коротко):</a:t>
            </a:r>
            <a:r>
              <a:t> aMAU-слои, AOV_cat/share_cat (Delivery/C&amp;C), OMS/ETA статусы, платежные комиссии, логистические издержки, капы компенсаций.</a:t>
            </a:r>
          </a:p>
          <a:p>
            <a:pPr marL="0" indent="0" defTabSz="457200">
              <a:lnSpc>
                <a:spcPct val="100000"/>
              </a:lnSpc>
              <a:spcBef>
                <a:spcPts val="1200"/>
              </a:spcBef>
              <a:buSzTx/>
              <a:buNone/>
              <a:defRPr sz="200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Результат H1:</a:t>
            </a:r>
            <a:r>
              <a:t> мультипликативный рост NSM (через 4 узла утечек) при сохранении P&amp;L и NPS.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Контекст и вызов"/>
          <p:cNvSpPr txBox="1"/>
          <p:nvPr>
            <p:ph type="title"/>
          </p:nvPr>
        </p:nvSpPr>
        <p:spPr>
          <a:xfrm>
            <a:off x="1206500" y="825884"/>
            <a:ext cx="21971000" cy="1433164"/>
          </a:xfrm>
          <a:prstGeom prst="rect">
            <a:avLst/>
          </a:prstGeom>
        </p:spPr>
        <p:txBody>
          <a:bodyPr/>
          <a:lstStyle>
            <a:lvl1pPr defTabSz="2316421">
              <a:defRPr b="0" spc="-161" sz="8075">
                <a:latin typeface="PP Object Sans Heavy"/>
                <a:ea typeface="PP Object Sans Heavy"/>
                <a:cs typeface="PP Object Sans Heavy"/>
                <a:sym typeface="PP Object Sans Heavy"/>
              </a:defRPr>
            </a:lvl1pPr>
          </a:lstStyle>
          <a:p>
            <a:pPr/>
            <a:r>
              <a:t>Контекст и вызов</a:t>
            </a:r>
          </a:p>
        </p:txBody>
      </p:sp>
      <p:sp>
        <p:nvSpPr>
          <p:cNvPr id="181" name="Контекст: - Магнит ОМНИ — ядро экосистемы (карта лояльности, каталог, доставка, игры), ~30 млн MAU*. - МагнитМаркет — отдельный апп и ин-апп-модуль в ОМНИ, ~15 млн доступов*. - Текущая конверсия OMNI → покупатели МагнитМаркет (внутри ОМНИ) — около 1%*.  "/>
          <p:cNvSpPr txBox="1"/>
          <p:nvPr>
            <p:ph type="body" idx="1"/>
          </p:nvPr>
        </p:nvSpPr>
        <p:spPr>
          <a:xfrm>
            <a:off x="1206500" y="3086856"/>
            <a:ext cx="21971000" cy="9246318"/>
          </a:xfrm>
          <a:prstGeom prst="rect">
            <a:avLst/>
          </a:prstGeom>
        </p:spPr>
        <p:txBody>
          <a:bodyPr/>
          <a:lstStyle/>
          <a:p>
            <a:pPr marL="0" indent="0" defTabSz="457200">
              <a:lnSpc>
                <a:spcPct val="100000"/>
              </a:lnSpc>
              <a:spcBef>
                <a:spcPts val="1200"/>
              </a:spcBef>
              <a:buSzTx/>
              <a:buNone/>
              <a:defRPr sz="200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Контекст:</a:t>
            </a:r>
            <a:br/>
            <a:r>
              <a:t>-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Магнит ОМНИ</a:t>
            </a:r>
            <a:r>
              <a:t> — ядро экосистемы (карта лояльности, каталог, доставка, игры), ~30 млн MAU*.</a:t>
            </a:r>
            <a:br/>
            <a:r>
              <a:t>-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МагнитМаркет</a:t>
            </a:r>
            <a:r>
              <a:t> — отдельный апп и ин-апп-модуль в ОМНИ, ~15 млн доступов*.</a:t>
            </a:r>
            <a:br/>
            <a:r>
              <a:t>- </a:t>
            </a:r>
            <a:r>
              <a:t>Текущая </a:t>
            </a:r>
            <a:r>
              <a:t>конверсия OMNI → покупатели МагнитМаркет (внутри ОМНИ)</a:t>
            </a:r>
            <a:r>
              <a:t> — около </a:t>
            </a:r>
            <a:r>
              <a:t>1%</a:t>
            </a:r>
            <a:r>
              <a:t>*.</a:t>
            </a:r>
            <a:br/>
            <a:br/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Задача:</a:t>
            </a:r>
            <a:br/>
            <a:r>
              <a:t>- Дать стратегию роста конверсии покупателей МагнитМаркет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внутри ОМНИ</a:t>
            </a:r>
            <a:r>
              <a:t> с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1% → 20%+</a:t>
            </a:r>
            <a:r>
              <a:t> (через ступени 3%/5%/10%/20%+) за счёт продуктовых изменений в CJM и вовлечения онлайн и офлайн-аудитории.</a:t>
            </a:r>
            <a:br/>
            <a:br/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Фокусы:</a:t>
            </a:r>
            <a:br/>
            <a:r>
              <a:t>-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CJM &amp; продукт:</a:t>
            </a:r>
            <a:r>
              <a:t> убрать барьеры первого заказа, ускорить путь к ценности, встроить покупки в привычные сценарии ОМНИ.</a:t>
            </a:r>
            <a:br/>
            <a:r>
              <a:t>-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Вовлечение:</a:t>
            </a:r>
            <a:r>
              <a:t> конвертировать держателей карты и офлайн и онлайн-покупателей через привычные сценарии омни</a:t>
            </a:r>
          </a:p>
          <a:p>
            <a:pPr marL="0" indent="0" defTabSz="457200">
              <a:lnSpc>
                <a:spcPct val="100000"/>
              </a:lnSpc>
              <a:spcBef>
                <a:spcPts val="1200"/>
              </a:spcBef>
              <a:buSzTx/>
              <a:buNone/>
              <a:defRPr sz="200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Вызовы:</a:t>
            </a:r>
            <a:br/>
            <a:r>
              <a:t>-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Недомонетизированный трафик ОМНИ:</a:t>
            </a:r>
            <a:r>
              <a:t> основной сценарий — «показать карту», входы в Маркет низковидимы, покупка не интуитивна.</a:t>
            </a:r>
            <a:br/>
            <a:r>
              <a:t>-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Фрагментация CJM ОМНИ↔Маркет:</a:t>
            </a:r>
            <a:r>
              <a:t> нет «единого окна» (корзина/поиск/история), разрыв контекста и идентичности — сложнее, чем у прямых конкурентов.</a:t>
            </a:r>
            <a:br/>
            <a:r>
              <a:t>-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Неочевидная ценность онлайн и «промис» сервиса:</a:t>
            </a:r>
            <a:r>
              <a:t> выгода «зачем покупать в ОМНИ» и условия (сроки/стоимость/замены) коммуницируются поздно и неясно — пользователи откладывают первый заказ. </a:t>
            </a:r>
            <a:br/>
            <a:r>
              <a:t>- Ассоциация и привычка «Магнит» - это про покупки продуктов у дома офлайн.</a:t>
            </a:r>
          </a:p>
          <a:p>
            <a:pPr marL="0" indent="0" defTabSz="457200">
              <a:lnSpc>
                <a:spcPct val="100000"/>
              </a:lnSpc>
              <a:spcBef>
                <a:spcPts val="1200"/>
              </a:spcBef>
              <a:buSzTx/>
              <a:buNone/>
              <a:defRPr sz="2000">
                <a:latin typeface="PP Object Sans Heavy"/>
                <a:ea typeface="PP Object Sans Heavy"/>
                <a:cs typeface="PP Object Sans Heavy"/>
                <a:sym typeface="PP Object Sans Heavy"/>
              </a:defRPr>
            </a:pPr>
            <a:r>
              <a:t>Что есть:</a:t>
            </a:r>
            <a:br>
              <a:rPr>
                <a:latin typeface="PP Object Sans Regular"/>
                <a:ea typeface="PP Object Sans Regular"/>
                <a:cs typeface="PP Object Sans Regular"/>
                <a:sym typeface="PP Object Sans Regular"/>
              </a:rPr>
            </a:br>
            <a:r>
              <a:rPr>
                <a:latin typeface="PP Object Sans Regular"/>
                <a:ea typeface="PP Object Sans Regular"/>
                <a:cs typeface="PP Object Sans Regular"/>
                <a:sym typeface="PP Object Sans Regular"/>
              </a:rPr>
              <a:t>- Сильная офлайн-база и лояльность: 60+ млн покупателей офлайн в месяц**, ~30 млн MAU ОМНИ, ~15 млн доступов к ин-аппу МагнитМаркет.</a:t>
            </a:r>
            <a:br>
              <a:rPr>
                <a:latin typeface="PP Object Sans Regular"/>
                <a:ea typeface="PP Object Sans Regular"/>
                <a:cs typeface="PP Object Sans Regular"/>
                <a:sym typeface="PP Object Sans Regular"/>
              </a:rPr>
            </a:br>
            <a:r>
              <a:rPr>
                <a:latin typeface="PP Object Sans Regular"/>
                <a:ea typeface="PP Object Sans Regular"/>
                <a:cs typeface="PP Object Sans Regular"/>
                <a:sym typeface="PP Object Sans Regular"/>
              </a:rPr>
              <a:t>- Операционная готовность: оплата (вкл. СБП/Мир Pay), доставка/самовывоз.</a:t>
            </a:r>
            <a:br>
              <a:rPr>
                <a:latin typeface="PP Object Sans Regular"/>
                <a:ea typeface="PP Object Sans Regular"/>
                <a:cs typeface="PP Object Sans Regular"/>
                <a:sym typeface="PP Object Sans Regular"/>
              </a:rPr>
            </a:br>
            <a:r>
              <a:rPr>
                <a:latin typeface="PP Object Sans Regular"/>
                <a:ea typeface="PP Object Sans Regular"/>
                <a:cs typeface="PP Object Sans Regular"/>
                <a:sym typeface="PP Object Sans Regular"/>
              </a:rPr>
              <a:t>- Каналы для омни-петель: e-чек, карта лояльности, персональные списки/повторы.</a:t>
            </a:r>
          </a:p>
          <a:p>
            <a:pPr marL="0" indent="0" defTabSz="457200">
              <a:lnSpc>
                <a:spcPct val="100000"/>
              </a:lnSpc>
              <a:spcBef>
                <a:spcPts val="1200"/>
              </a:spcBef>
              <a:buSzTx/>
              <a:buNone/>
              <a:defRPr sz="200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Задача для Lead E-com</a:t>
            </a:r>
            <a:br/>
            <a:r>
              <a:t>- В горизонте 2 лет: Вырастить долю МагнитМаркет в ОМНИ до 20% </a:t>
            </a:r>
            <a:br/>
            <a:r>
              <a:t>- Стратегическая цель на 5 лет: Сделать покупку в МагнитМаркет во всех категориях, такой же привычной, как поход в офлайн магазин. </a:t>
            </a:r>
            <a:br/>
          </a:p>
        </p:txBody>
      </p:sp>
      <p:sp>
        <p:nvSpPr>
          <p:cNvPr id="182" name="* Dummy Data из условия ** Предположение на основе количества покупок в день в Магнит офлайн"/>
          <p:cNvSpPr txBox="1"/>
          <p:nvPr/>
        </p:nvSpPr>
        <p:spPr>
          <a:xfrm>
            <a:off x="18130358" y="12411695"/>
            <a:ext cx="5906012" cy="1092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defTabSz="457200">
              <a:lnSpc>
                <a:spcPct val="100000"/>
              </a:lnSpc>
              <a:spcBef>
                <a:spcPts val="1200"/>
              </a:spcBef>
              <a:defRPr sz="200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* </a:t>
            </a:r>
            <a:r>
              <a:t>Dummy Data из условия</a:t>
            </a:r>
            <a:br/>
            <a:r>
              <a:t>** Предположение на основе количества покупок в день в Магнит офлайн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NSM и бизнес‑эффект"/>
          <p:cNvSpPr txBox="1"/>
          <p:nvPr>
            <p:ph type="title"/>
          </p:nvPr>
        </p:nvSpPr>
        <p:spPr>
          <a:xfrm>
            <a:off x="1206500" y="847019"/>
            <a:ext cx="21971000" cy="1433164"/>
          </a:xfrm>
          <a:prstGeom prst="rect">
            <a:avLst/>
          </a:prstGeom>
        </p:spPr>
        <p:txBody>
          <a:bodyPr/>
          <a:lstStyle>
            <a:lvl1pPr defTabSz="2316421">
              <a:defRPr b="0" spc="-161" sz="8075">
                <a:latin typeface="PP Object Sans Heavy"/>
                <a:ea typeface="PP Object Sans Heavy"/>
                <a:cs typeface="PP Object Sans Heavy"/>
                <a:sym typeface="PP Object Sans Heavy"/>
              </a:defRPr>
            </a:lvl1pPr>
          </a:lstStyle>
          <a:p>
            <a:pPr/>
            <a:r>
              <a:t>NSM и бизнес‑эффект</a:t>
            </a:r>
          </a:p>
        </p:txBody>
      </p:sp>
      <p:sp>
        <p:nvSpPr>
          <p:cNvPr id="185" name="North Star Metric (NSM) MBC — Monthly Buyer Conversion = (уникальные покупатели МагнитМаркет через ОМНИ за месяц) ÷ (OMNI MAU за месяц). — Числитель: ≥1 подтверждённый заказ, оформленный из ОМНИ (ин-апп/диплинк), любой способ получения: доставка или само"/>
          <p:cNvSpPr txBox="1"/>
          <p:nvPr>
            <p:ph type="body" idx="1"/>
          </p:nvPr>
        </p:nvSpPr>
        <p:spPr>
          <a:xfrm>
            <a:off x="1206500" y="2557014"/>
            <a:ext cx="21971000" cy="10671696"/>
          </a:xfrm>
          <a:prstGeom prst="rect">
            <a:avLst/>
          </a:prstGeom>
        </p:spPr>
        <p:txBody>
          <a:bodyPr/>
          <a:lstStyle/>
          <a:p>
            <a:pPr marL="0" indent="0" defTabSz="361188">
              <a:lnSpc>
                <a:spcPct val="100000"/>
              </a:lnSpc>
              <a:spcBef>
                <a:spcPts val="900"/>
              </a:spcBef>
              <a:buSzTx/>
              <a:buNone/>
              <a:defRPr sz="158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North Star Metric (NSM)</a:t>
            </a:r>
            <a:br/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MBC — Monthly Buyer Conversion =</a:t>
            </a:r>
            <a:r>
              <a:t> (уникальные покупатели МагнитМаркет через ОМНИ за месяц) ÷ (OMNI MAU за месяц).</a:t>
            </a:r>
            <a:br/>
            <a:r>
              <a:t>—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Числитель:</a:t>
            </a:r>
            <a:r>
              <a:t> ≥1 подтверждённый заказ, оформленный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из ОМНИ</a:t>
            </a:r>
            <a:r>
              <a:t> (ин-апп/диплинк),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любой способ получения: доставка или самовывоз (C&amp;C)</a:t>
            </a:r>
            <a:r>
              <a:t>.</a:t>
            </a:r>
            <a:br/>
            <a:r>
              <a:t>—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Знаменатель:</a:t>
            </a:r>
            <a:r>
              <a:t> уникальные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OMNI MAU</a:t>
            </a:r>
            <a:r>
              <a:t> за тот же календарный месяц.</a:t>
            </a:r>
            <a:br/>
            <a:r>
              <a:t>—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Исключаем из числителя:</a:t>
            </a:r>
            <a:r>
              <a:t> заказы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вне ОМНИ</a:t>
            </a:r>
            <a:r>
              <a:t>, тестовые/нулевые, фрод-флаг, отменённые до исполнения.</a:t>
            </a:r>
            <a:br/>
            <a:r>
              <a:t>—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Идентичность/атрибуция:</a:t>
            </a:r>
            <a:r>
              <a:t> единый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user_id OMNI↔Market</a:t>
            </a:r>
            <a:r>
              <a:t>; событие учёта — «создан и оплачен/подтверждён к выдаче» в данном месяце.</a:t>
            </a:r>
          </a:p>
          <a:p>
            <a:pPr marL="0" indent="0" defTabSz="361188">
              <a:lnSpc>
                <a:spcPct val="100000"/>
              </a:lnSpc>
              <a:spcBef>
                <a:spcPts val="900"/>
              </a:spcBef>
              <a:buSzTx/>
              <a:buNone/>
              <a:defRPr sz="1580">
                <a:latin typeface="PP Object Sans Heavy"/>
                <a:ea typeface="PP Object Sans Heavy"/>
                <a:cs typeface="PP Object Sans Heavy"/>
                <a:sym typeface="PP Object Sans Heavy"/>
              </a:defRPr>
            </a:pPr>
            <a:r>
              <a:rPr>
                <a:latin typeface="PP Object Sans Regular"/>
                <a:ea typeface="PP Object Sans Regular"/>
                <a:cs typeface="PP Object Sans Regular"/>
                <a:sym typeface="PP Object Sans Regular"/>
              </a:rPr>
              <a:t>Для контроля сервиса: </a:t>
            </a:r>
            <a:r>
              <a:t>MDC (исполнено) = MBC × Fulfillment (Delivered/Collected)</a:t>
            </a:r>
            <a:r>
              <a:rPr>
                <a:latin typeface="PP Object Sans Regular"/>
                <a:ea typeface="PP Object Sans Regular"/>
                <a:cs typeface="PP Object Sans Regular"/>
                <a:sym typeface="PP Object Sans Regular"/>
              </a:rPr>
              <a:t>.</a:t>
            </a:r>
            <a:br>
              <a:rPr>
                <a:latin typeface="PP Object Sans Regular"/>
                <a:ea typeface="PP Object Sans Regular"/>
                <a:cs typeface="PP Object Sans Regular"/>
                <a:sym typeface="PP Object Sans Regular"/>
              </a:rPr>
            </a:br>
            <a:r>
              <a:rPr>
                <a:latin typeface="PP Object Sans Regular"/>
                <a:ea typeface="PP Object Sans Regular"/>
                <a:cs typeface="PP Object Sans Regular"/>
                <a:sym typeface="PP Object Sans Regular"/>
              </a:rPr>
              <a:t>Для перевода % в абсолюты используем </a:t>
            </a:r>
            <a:r>
              <a:t>addressable MAU</a:t>
            </a:r>
            <a:r>
              <a:rPr>
                <a:latin typeface="PP Object Sans Regular"/>
                <a:ea typeface="PP Object Sans Regular"/>
                <a:cs typeface="PP Object Sans Regular"/>
                <a:sym typeface="PP Object Sans Regular"/>
              </a:rPr>
              <a:t>: </a:t>
            </a:r>
            <a:r>
              <a:t>aMAU = OMNI_MAU × Availability × Eligibility × Exposure</a:t>
            </a:r>
            <a:r>
              <a:rPr>
                <a:latin typeface="PP Object Sans Regular"/>
                <a:ea typeface="PP Object Sans Regular"/>
                <a:cs typeface="PP Object Sans Regular"/>
                <a:sym typeface="PP Object Sans Regular"/>
              </a:rPr>
              <a:t>.</a:t>
            </a:r>
            <a:endParaRPr>
              <a:latin typeface="PP Object Sans Regular"/>
              <a:ea typeface="PP Object Sans Regular"/>
              <a:cs typeface="PP Object Sans Regular"/>
              <a:sym typeface="PP Object Sans Regular"/>
            </a:endParaRPr>
          </a:p>
          <a:p>
            <a:pPr marL="0" indent="0" defTabSz="361188">
              <a:lnSpc>
                <a:spcPct val="100000"/>
              </a:lnSpc>
              <a:spcBef>
                <a:spcPts val="900"/>
              </a:spcBef>
              <a:buSzTx/>
              <a:buNone/>
              <a:defRPr sz="1580">
                <a:latin typeface="PP Object Sans Heavy"/>
                <a:ea typeface="PP Object Sans Heavy"/>
                <a:cs typeface="PP Object Sans Heavy"/>
                <a:sym typeface="PP Object Sans Heavy"/>
              </a:defRPr>
            </a:pPr>
            <a:r>
              <a:t>«Дерево» метрик: Growth (рост) и Process (качество), плюс Lagging (закрепление ценности)</a:t>
            </a:r>
            <a:endParaRPr>
              <a:latin typeface="PP Object Sans Regular"/>
              <a:ea typeface="PP Object Sans Regular"/>
              <a:cs typeface="PP Object Sans Regular"/>
              <a:sym typeface="PP Object Sans Regular"/>
            </a:endParaRPr>
          </a:p>
          <a:p>
            <a:pPr marL="0" indent="0" defTabSz="361188">
              <a:lnSpc>
                <a:spcPct val="100000"/>
              </a:lnSpc>
              <a:spcBef>
                <a:spcPts val="900"/>
              </a:spcBef>
              <a:buSzTx/>
              <a:buNone/>
              <a:defRPr sz="1580">
                <a:latin typeface="PP Object Sans Heavy"/>
                <a:ea typeface="PP Object Sans Heavy"/>
                <a:cs typeface="PP Object Sans Heavy"/>
                <a:sym typeface="PP Object Sans Heavy"/>
              </a:defRPr>
            </a:pPr>
            <a:r>
              <a:t>GROWTH — управляемые шаги воронки (еженедельно):</a:t>
            </a:r>
            <a:endParaRPr>
              <a:latin typeface="PP Object Sans Regular"/>
              <a:ea typeface="PP Object Sans Regular"/>
              <a:cs typeface="PP Object Sans Regular"/>
              <a:sym typeface="PP Object Sans Regular"/>
            </a:endParaRPr>
          </a:p>
          <a:p>
            <a:pPr marL="361188" indent="-250825" defTabSz="361188">
              <a:lnSpc>
                <a:spcPct val="100000"/>
              </a:lnSpc>
              <a:spcBef>
                <a:spcPts val="900"/>
              </a:spcBef>
              <a:buSzPct val="100000"/>
              <a:buFont typeface="Times Roman"/>
              <a:buAutoNum type="arabicPeriod" startAt="1"/>
              <a:defRPr sz="158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Exposure (Views)</a:t>
            </a:r>
            <a:r>
              <a:t> — % OMNI MAU, видевших релевантный вход в МагнитМаркет.</a:t>
            </a:r>
          </a:p>
          <a:p>
            <a:pPr marL="361188" indent="-250825" defTabSz="361188">
              <a:lnSpc>
                <a:spcPct val="100000"/>
              </a:lnSpc>
              <a:spcBef>
                <a:spcPts val="900"/>
              </a:spcBef>
              <a:buSzPct val="100000"/>
              <a:buFont typeface="Times Roman"/>
              <a:buAutoNum type="arabicPeriod" startAt="1"/>
              <a:defRPr sz="158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CTR входов</a:t>
            </a:r>
            <a:r>
              <a:t> — % увидевших вход, кто кликнул и перешёл в шопинг.</a:t>
            </a:r>
          </a:p>
          <a:p>
            <a:pPr marL="361188" indent="-250825" defTabSz="361188">
              <a:lnSpc>
                <a:spcPct val="100000"/>
              </a:lnSpc>
              <a:spcBef>
                <a:spcPts val="900"/>
              </a:spcBef>
              <a:buSzPct val="100000"/>
              <a:buFont typeface="Times Roman"/>
              <a:buAutoNum type="arabicPeriod" startAt="1"/>
              <a:defRPr sz="158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Intent CVR</a:t>
            </a:r>
            <a:r>
              <a:t> — % начавших оформление, кто успешно выбрал способ получения (доставка/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C&amp;C</a:t>
            </a:r>
            <a:r>
              <a:t>) и магазин/слот.</a:t>
            </a:r>
          </a:p>
          <a:p>
            <a:pPr marL="361188" indent="-250825" defTabSz="361188">
              <a:lnSpc>
                <a:spcPct val="100000"/>
              </a:lnSpc>
              <a:spcBef>
                <a:spcPts val="900"/>
              </a:spcBef>
              <a:buSzPct val="100000"/>
              <a:buFont typeface="Times Roman"/>
              <a:buAutoNum type="arabicPeriod" startAt="1"/>
              <a:defRPr sz="158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ATC CVR</a:t>
            </a:r>
            <a:r>
              <a:t> — % просмотревших товары, кто добавил в корзину.</a:t>
            </a:r>
          </a:p>
          <a:p>
            <a:pPr marL="361188" indent="-250825" defTabSz="361188">
              <a:lnSpc>
                <a:spcPct val="100000"/>
              </a:lnSpc>
              <a:spcBef>
                <a:spcPts val="900"/>
              </a:spcBef>
              <a:buSzPct val="100000"/>
              <a:buFont typeface="Times Roman"/>
              <a:buAutoNum type="arabicPeriod" startAt="1"/>
              <a:defRPr sz="158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Checkout CVR</a:t>
            </a:r>
            <a:r>
              <a:t> — % корзин, завершённых созданием и оплатой заказа.</a:t>
            </a:r>
          </a:p>
          <a:p>
            <a:pPr marL="361188" indent="-250825" defTabSz="361188">
              <a:lnSpc>
                <a:spcPct val="100000"/>
              </a:lnSpc>
              <a:spcBef>
                <a:spcPts val="900"/>
              </a:spcBef>
              <a:buSzPct val="100000"/>
              <a:buFont typeface="Times Roman"/>
              <a:buAutoNum type="arabicPeriod" startAt="1"/>
              <a:defRPr sz="158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Fulfillment</a:t>
            </a:r>
            <a:r>
              <a:t> — заказ доставлен/выдан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в SLA</a:t>
            </a:r>
            <a:r>
              <a:t> (влияет на повтор и MDC).</a:t>
            </a:r>
          </a:p>
          <a:p>
            <a:pPr marL="0" indent="0" defTabSz="361188">
              <a:lnSpc>
                <a:spcPct val="100000"/>
              </a:lnSpc>
              <a:spcBef>
                <a:spcPts val="900"/>
              </a:spcBef>
              <a:buSzTx/>
              <a:buNone/>
              <a:defRPr sz="1580">
                <a:latin typeface="PP Object Sans Heavy"/>
                <a:ea typeface="PP Object Sans Heavy"/>
                <a:cs typeface="PP Object Sans Heavy"/>
                <a:sym typeface="PP Object Sans Heavy"/>
              </a:defRPr>
            </a:pPr>
            <a:r>
              <a:t>PROCESS — качество процесса (guardrails, тоже еженедельно):</a:t>
            </a:r>
            <a:br>
              <a:rPr>
                <a:latin typeface="PP Object Sans Regular"/>
                <a:ea typeface="PP Object Sans Regular"/>
                <a:cs typeface="PP Object Sans Regular"/>
                <a:sym typeface="PP Object Sans Regular"/>
              </a:rPr>
            </a:br>
            <a:r>
              <a:rPr>
                <a:latin typeface="PP Object Sans Regular"/>
                <a:ea typeface="PP Object Sans Regular"/>
                <a:cs typeface="PP Object Sans Regular"/>
                <a:sym typeface="PP Object Sans Regular"/>
              </a:rPr>
              <a:t>• </a:t>
            </a:r>
            <a:r>
              <a:t>Pay-success % / Fail-pay %</a:t>
            </a:r>
            <a:r>
              <a:rPr>
                <a:latin typeface="PP Object Sans Regular"/>
                <a:ea typeface="PP Object Sans Regular"/>
                <a:cs typeface="PP Object Sans Regular"/>
                <a:sym typeface="PP Object Sans Regular"/>
              </a:rPr>
              <a:t> — успех/ошибки оплат.</a:t>
            </a:r>
            <a:br>
              <a:rPr>
                <a:latin typeface="PP Object Sans Regular"/>
                <a:ea typeface="PP Object Sans Regular"/>
                <a:cs typeface="PP Object Sans Regular"/>
                <a:sym typeface="PP Object Sans Regular"/>
              </a:rPr>
            </a:br>
            <a:r>
              <a:rPr>
                <a:latin typeface="PP Object Sans Regular"/>
                <a:ea typeface="PP Object Sans Regular"/>
                <a:cs typeface="PP Object Sans Regular"/>
                <a:sym typeface="PP Object Sans Regular"/>
              </a:rPr>
              <a:t>• </a:t>
            </a:r>
            <a:r>
              <a:t>On-time %</a:t>
            </a:r>
            <a:r>
              <a:rPr>
                <a:latin typeface="PP Object Sans Regular"/>
                <a:ea typeface="PP Object Sans Regular"/>
                <a:cs typeface="PP Object Sans Regular"/>
                <a:sym typeface="PP Object Sans Regular"/>
              </a:rPr>
              <a:t> — своевременная доставка/выдача.</a:t>
            </a:r>
            <a:br>
              <a:rPr>
                <a:latin typeface="PP Object Sans Regular"/>
                <a:ea typeface="PP Object Sans Regular"/>
                <a:cs typeface="PP Object Sans Regular"/>
                <a:sym typeface="PP Object Sans Regular"/>
              </a:rPr>
            </a:br>
            <a:r>
              <a:rPr>
                <a:latin typeface="PP Object Sans Regular"/>
                <a:ea typeface="PP Object Sans Regular"/>
                <a:cs typeface="PP Object Sans Regular"/>
                <a:sym typeface="PP Object Sans Regular"/>
              </a:rPr>
              <a:t>• </a:t>
            </a:r>
            <a:r>
              <a:t>Прозрачность замен</a:t>
            </a:r>
            <a:r>
              <a:rPr>
                <a:latin typeface="PP Object Sans Regular"/>
                <a:ea typeface="PP Object Sans Regular"/>
                <a:cs typeface="PP Object Sans Regular"/>
                <a:sym typeface="PP Object Sans Regular"/>
              </a:rPr>
              <a:t> — доля заказов с понятными/подтверждёнными заменами.</a:t>
            </a:r>
            <a:endParaRPr>
              <a:latin typeface="PP Object Sans Regular"/>
              <a:ea typeface="PP Object Sans Regular"/>
              <a:cs typeface="PP Object Sans Regular"/>
              <a:sym typeface="PP Object Sans Regular"/>
            </a:endParaRPr>
          </a:p>
          <a:p>
            <a:pPr marL="0" indent="0" defTabSz="361188">
              <a:lnSpc>
                <a:spcPct val="100000"/>
              </a:lnSpc>
              <a:spcBef>
                <a:spcPts val="900"/>
              </a:spcBef>
              <a:buSzTx/>
              <a:buNone/>
              <a:defRPr sz="1580">
                <a:latin typeface="PP Object Sans Heavy"/>
                <a:ea typeface="PP Object Sans Heavy"/>
                <a:cs typeface="PP Object Sans Heavy"/>
                <a:sym typeface="PP Object Sans Heavy"/>
              </a:defRPr>
            </a:pPr>
            <a:r>
              <a:t>LAGGING — закрепление поведения и ценности (месяц/квартал):</a:t>
            </a:r>
            <a:br>
              <a:rPr>
                <a:latin typeface="PP Object Sans Regular"/>
                <a:ea typeface="PP Object Sans Regular"/>
                <a:cs typeface="PP Object Sans Regular"/>
                <a:sym typeface="PP Object Sans Regular"/>
              </a:rPr>
            </a:br>
            <a:r>
              <a:rPr>
                <a:latin typeface="PP Object Sans Regular"/>
                <a:ea typeface="PP Object Sans Regular"/>
                <a:cs typeface="PP Object Sans Regular"/>
                <a:sym typeface="PP Object Sans Regular"/>
              </a:rPr>
              <a:t>• </a:t>
            </a:r>
            <a:r>
              <a:t>FTO-rate</a:t>
            </a:r>
            <a:r>
              <a:rPr>
                <a:latin typeface="PP Object Sans Regular"/>
                <a:ea typeface="PP Object Sans Regular"/>
                <a:cs typeface="PP Object Sans Regular"/>
                <a:sym typeface="PP Object Sans Regular"/>
              </a:rPr>
              <a:t> (первый онлайн-заказ), </a:t>
            </a:r>
            <a:r>
              <a:t>Repeat 30/90d</a:t>
            </a:r>
            <a:r>
              <a:rPr>
                <a:latin typeface="PP Object Sans Regular"/>
                <a:ea typeface="PP Object Sans Regular"/>
                <a:cs typeface="PP Object Sans Regular"/>
                <a:sym typeface="PP Object Sans Regular"/>
              </a:rPr>
              <a:t>, </a:t>
            </a:r>
            <a:r>
              <a:t>AOV</a:t>
            </a:r>
            <a:r>
              <a:rPr>
                <a:latin typeface="PP Object Sans Regular"/>
                <a:ea typeface="PP Object Sans Regular"/>
                <a:cs typeface="PP Object Sans Regular"/>
                <a:sym typeface="PP Object Sans Regular"/>
              </a:rPr>
              <a:t>, </a:t>
            </a:r>
            <a:r>
              <a:t>LTV/CAC</a:t>
            </a:r>
            <a:r>
              <a:rPr>
                <a:latin typeface="PP Object Sans Regular"/>
                <a:ea typeface="PP Object Sans Regular"/>
                <a:cs typeface="PP Object Sans Regular"/>
                <a:sym typeface="PP Object Sans Regular"/>
              </a:rPr>
              <a:t>.</a:t>
            </a:r>
            <a:endParaRPr>
              <a:latin typeface="PP Object Sans Regular"/>
              <a:ea typeface="PP Object Sans Regular"/>
              <a:cs typeface="PP Object Sans Regular"/>
              <a:sym typeface="PP Object Sans Regular"/>
            </a:endParaRPr>
          </a:p>
          <a:p>
            <a:pPr marL="0" indent="0" defTabSz="361188">
              <a:lnSpc>
                <a:spcPct val="100000"/>
              </a:lnSpc>
              <a:spcBef>
                <a:spcPts val="900"/>
              </a:spcBef>
              <a:buSzTx/>
              <a:buNone/>
              <a:defRPr sz="1580">
                <a:latin typeface="PP Object Sans Heavy"/>
                <a:ea typeface="PP Object Sans Heavy"/>
                <a:cs typeface="PP Object Sans Heavy"/>
                <a:sym typeface="PP Object Sans Heavy"/>
              </a:defRPr>
            </a:pPr>
            <a:r>
              <a:rPr>
                <a:latin typeface="PP Object Sans Regular"/>
                <a:ea typeface="PP Object Sans Regular"/>
                <a:cs typeface="PP Object Sans Regular"/>
                <a:sym typeface="PP Object Sans Regular"/>
              </a:rPr>
              <a:t>AOV считаем как </a:t>
            </a:r>
            <a:r>
              <a:t>взвешенный мультикатегорийный</a:t>
            </a:r>
            <a:r>
              <a:rPr>
                <a:latin typeface="PP Object Sans Regular"/>
                <a:ea typeface="PP Object Sans Regular"/>
                <a:cs typeface="PP Object Sans Regular"/>
                <a:sym typeface="PP Object Sans Regular"/>
              </a:rPr>
              <a:t>: </a:t>
            </a:r>
            <a:r>
              <a:t>Weighted AOV = Σ (w_cat × AOV_cat)</a:t>
            </a:r>
            <a:r>
              <a:rPr>
                <a:latin typeface="PP Object Sans Regular"/>
                <a:ea typeface="PP Object Sans Regular"/>
                <a:cs typeface="PP Object Sans Regular"/>
                <a:sym typeface="PP Object Sans Regular"/>
              </a:rPr>
              <a:t> с разрезами </a:t>
            </a:r>
            <a:r>
              <a:t>Delivery vs C&amp;C</a:t>
            </a:r>
            <a:r>
              <a:rPr>
                <a:latin typeface="PP Object Sans Regular"/>
                <a:ea typeface="PP Object Sans Regular"/>
                <a:cs typeface="PP Object Sans Regular"/>
                <a:sym typeface="PP Object Sans Regular"/>
              </a:rPr>
              <a:t>.</a:t>
            </a:r>
            <a:endParaRPr>
              <a:latin typeface="PP Object Sans Regular"/>
              <a:ea typeface="PP Object Sans Regular"/>
              <a:cs typeface="PP Object Sans Regular"/>
              <a:sym typeface="PP Object Sans Regular"/>
            </a:endParaRPr>
          </a:p>
          <a:p>
            <a:pPr marL="0" indent="0" defTabSz="361188">
              <a:lnSpc>
                <a:spcPct val="100000"/>
              </a:lnSpc>
              <a:spcBef>
                <a:spcPts val="900"/>
              </a:spcBef>
              <a:buSzTx/>
              <a:buNone/>
              <a:defRPr sz="1580">
                <a:latin typeface="PP Object Sans Heavy"/>
                <a:ea typeface="PP Object Sans Heavy"/>
                <a:cs typeface="PP Object Sans Heavy"/>
                <a:sym typeface="PP Object Sans Heavy"/>
              </a:defRPr>
            </a:pPr>
            <a:r>
              <a:t>Правила качества измерений (для всех метрик):</a:t>
            </a:r>
            <a:br>
              <a:rPr>
                <a:latin typeface="PP Object Sans Regular"/>
                <a:ea typeface="PP Object Sans Regular"/>
                <a:cs typeface="PP Object Sans Regular"/>
                <a:sym typeface="PP Object Sans Regular"/>
              </a:rPr>
            </a:br>
            <a:r>
              <a:rPr>
                <a:latin typeface="PP Object Sans Regular"/>
                <a:ea typeface="PP Object Sans Regular"/>
                <a:cs typeface="PP Object Sans Regular"/>
                <a:sym typeface="PP Object Sans Regular"/>
              </a:rPr>
              <a:t>• </a:t>
            </a:r>
            <a:r>
              <a:t>Методология:</a:t>
            </a:r>
            <a:r>
              <a:rPr>
                <a:latin typeface="PP Object Sans Regular"/>
                <a:ea typeface="PP Object Sans Regular"/>
                <a:cs typeface="PP Object Sans Regular"/>
                <a:sym typeface="PP Object Sans Regular"/>
              </a:rPr>
              <a:t> единая схема событий, </a:t>
            </a:r>
            <a:r>
              <a:t>SRM = 0</a:t>
            </a:r>
            <a:r>
              <a:rPr>
                <a:latin typeface="PP Object Sans Regular"/>
                <a:ea typeface="PP Object Sans Regular"/>
                <a:cs typeface="PP Object Sans Regular"/>
                <a:sym typeface="PP Object Sans Regular"/>
              </a:rPr>
              <a:t>, где уместно — </a:t>
            </a:r>
            <a:r>
              <a:t>CUPED</a:t>
            </a:r>
            <a:r>
              <a:rPr>
                <a:latin typeface="PP Object Sans Regular"/>
                <a:ea typeface="PP Object Sans Regular"/>
                <a:cs typeface="PP Object Sans Regular"/>
                <a:sym typeface="PP Object Sans Regular"/>
              </a:rPr>
              <a:t>; перед крупными выкладками — </a:t>
            </a:r>
            <a:r>
              <a:t>A/A</a:t>
            </a:r>
            <a:r>
              <a:rPr>
                <a:latin typeface="PP Object Sans Regular"/>
                <a:ea typeface="PP Object Sans Regular"/>
                <a:cs typeface="PP Object Sans Regular"/>
                <a:sym typeface="PP Object Sans Regular"/>
              </a:rPr>
              <a:t>.</a:t>
            </a:r>
            <a:br>
              <a:rPr>
                <a:latin typeface="PP Object Sans Regular"/>
                <a:ea typeface="PP Object Sans Regular"/>
                <a:cs typeface="PP Object Sans Regular"/>
                <a:sym typeface="PP Object Sans Regular"/>
              </a:rPr>
            </a:br>
            <a:r>
              <a:rPr>
                <a:latin typeface="PP Object Sans Regular"/>
                <a:ea typeface="PP Object Sans Regular"/>
                <a:cs typeface="PP Object Sans Regular"/>
                <a:sym typeface="PP Object Sans Regular"/>
              </a:rPr>
              <a:t>• </a:t>
            </a:r>
            <a:r>
              <a:t>MDE-ориентиры для A/B:</a:t>
            </a:r>
            <a:r>
              <a:rPr>
                <a:latin typeface="PP Object Sans Regular"/>
                <a:ea typeface="PP Object Sans Regular"/>
                <a:cs typeface="PP Object Sans Regular"/>
                <a:sym typeface="PP Object Sans Regular"/>
              </a:rPr>
              <a:t> Exposure </a:t>
            </a:r>
            <a:r>
              <a:t>+2 п.п.</a:t>
            </a:r>
            <a:r>
              <a:rPr>
                <a:latin typeface="PP Object Sans Regular"/>
                <a:ea typeface="PP Object Sans Regular"/>
                <a:cs typeface="PP Object Sans Regular"/>
                <a:sym typeface="PP Object Sans Regular"/>
              </a:rPr>
              <a:t>, Intent </a:t>
            </a:r>
            <a:r>
              <a:t>+3–5 п.п.</a:t>
            </a:r>
            <a:r>
              <a:rPr>
                <a:latin typeface="PP Object Sans Regular"/>
                <a:ea typeface="PP Object Sans Regular"/>
                <a:cs typeface="PP Object Sans Regular"/>
                <a:sym typeface="PP Object Sans Regular"/>
              </a:rPr>
              <a:t>, ATC </a:t>
            </a:r>
            <a:r>
              <a:t>+1–2 п.п.</a:t>
            </a:r>
            <a:r>
              <a:rPr>
                <a:latin typeface="PP Object Sans Regular"/>
                <a:ea typeface="PP Object Sans Regular"/>
                <a:cs typeface="PP Object Sans Regular"/>
                <a:sym typeface="PP Object Sans Regular"/>
              </a:rPr>
              <a:t>, Checkout </a:t>
            </a:r>
            <a:r>
              <a:t>+3–5 п.п.</a:t>
            </a:r>
            <a:r>
              <a:rPr>
                <a:latin typeface="PP Object Sans Regular"/>
                <a:ea typeface="PP Object Sans Regular"/>
                <a:cs typeface="PP Object Sans Regular"/>
                <a:sym typeface="PP Object Sans Regular"/>
              </a:rPr>
              <a:t>, Pay-success </a:t>
            </a:r>
            <a:r>
              <a:t>+2–3 п.п.</a:t>
            </a:r>
            <a:br>
              <a:rPr>
                <a:latin typeface="PP Object Sans Regular"/>
                <a:ea typeface="PP Object Sans Regular"/>
                <a:cs typeface="PP Object Sans Regular"/>
                <a:sym typeface="PP Object Sans Regular"/>
              </a:rPr>
            </a:br>
            <a:r>
              <a:rPr>
                <a:latin typeface="PP Object Sans Regular"/>
                <a:ea typeface="PP Object Sans Regular"/>
                <a:cs typeface="PP Object Sans Regular"/>
                <a:sym typeface="PP Object Sans Regular"/>
              </a:rPr>
              <a:t>• </a:t>
            </a:r>
            <a:r>
              <a:t>Разрезы:</a:t>
            </a:r>
            <a:r>
              <a:rPr>
                <a:latin typeface="PP Object Sans Regular"/>
                <a:ea typeface="PP Object Sans Regular"/>
                <a:cs typeface="PP Object Sans Regular"/>
                <a:sym typeface="PP Object Sans Regular"/>
              </a:rPr>
              <a:t> новичок/повтор; регион/кластер; </a:t>
            </a:r>
            <a:r>
              <a:t>доставка vs C&amp;C</a:t>
            </a:r>
            <a:r>
              <a:rPr>
                <a:latin typeface="PP Object Sans Regular"/>
                <a:ea typeface="PP Object Sans Regular"/>
                <a:cs typeface="PP Object Sans Regular"/>
                <a:sym typeface="PP Object Sans Regular"/>
              </a:rPr>
              <a:t>; способ оплаты.</a:t>
            </a:r>
            <a:endParaRPr>
              <a:latin typeface="PP Object Sans Regular"/>
              <a:ea typeface="PP Object Sans Regular"/>
              <a:cs typeface="PP Object Sans Regular"/>
              <a:sym typeface="PP Object Sans Regular"/>
            </a:endParaRPr>
          </a:p>
          <a:p>
            <a:pPr marL="0" indent="0" defTabSz="361188">
              <a:lnSpc>
                <a:spcPct val="100000"/>
              </a:lnSpc>
              <a:spcBef>
                <a:spcPts val="900"/>
              </a:spcBef>
              <a:buSzTx/>
              <a:buNone/>
              <a:defRPr sz="1580">
                <a:latin typeface="PP Object Sans Heavy"/>
                <a:ea typeface="PP Object Sans Heavy"/>
                <a:cs typeface="PP Object Sans Heavy"/>
                <a:sym typeface="PP Object Sans Heavy"/>
              </a:defRPr>
            </a:pPr>
            <a:r>
              <a:t>Guardrails (обязательны на каждом этапе роста):</a:t>
            </a:r>
            <a:br>
              <a:rPr>
                <a:latin typeface="PP Object Sans Regular"/>
                <a:ea typeface="PP Object Sans Regular"/>
                <a:cs typeface="PP Object Sans Regular"/>
                <a:sym typeface="PP Object Sans Regular"/>
              </a:rPr>
            </a:br>
            <a:r>
              <a:rPr>
                <a:latin typeface="PP Object Sans Regular"/>
                <a:ea typeface="PP Object Sans Regular"/>
                <a:cs typeface="PP Object Sans Regular"/>
                <a:sym typeface="PP Object Sans Regular"/>
              </a:rPr>
              <a:t>• </a:t>
            </a:r>
            <a:r>
              <a:t>Сервис:</a:t>
            </a:r>
            <a:r>
              <a:rPr>
                <a:latin typeface="PP Object Sans Regular"/>
                <a:ea typeface="PP Object Sans Regular"/>
                <a:cs typeface="PP Object Sans Regular"/>
                <a:sym typeface="PP Object Sans Regular"/>
              </a:rPr>
              <a:t> On-time ≥ </a:t>
            </a:r>
            <a:r>
              <a:t>Y%</a:t>
            </a:r>
            <a:r>
              <a:rPr>
                <a:latin typeface="PP Object Sans Regular"/>
                <a:ea typeface="PP Object Sans Regular"/>
                <a:cs typeface="PP Object Sans Regular"/>
                <a:sym typeface="PP Object Sans Regular"/>
              </a:rPr>
              <a:t>, Cancel ≤ </a:t>
            </a:r>
            <a:r>
              <a:t>C%</a:t>
            </a:r>
            <a:r>
              <a:rPr>
                <a:latin typeface="PP Object Sans Regular"/>
                <a:ea typeface="PP Object Sans Regular"/>
                <a:cs typeface="PP Object Sans Regular"/>
                <a:sym typeface="PP Object Sans Regular"/>
              </a:rPr>
              <a:t>, Returns ≤ </a:t>
            </a:r>
            <a:r>
              <a:t>R%</a:t>
            </a:r>
            <a:r>
              <a:rPr>
                <a:latin typeface="PP Object Sans Regular"/>
                <a:ea typeface="PP Object Sans Regular"/>
                <a:cs typeface="PP Object Sans Regular"/>
                <a:sym typeface="PP Object Sans Regular"/>
              </a:rPr>
              <a:t>, NPS/CSAT ≥ </a:t>
            </a:r>
            <a:r>
              <a:t>Z</a:t>
            </a:r>
            <a:r>
              <a:rPr>
                <a:latin typeface="PP Object Sans Regular"/>
                <a:ea typeface="PP Object Sans Regular"/>
                <a:cs typeface="PP Object Sans Regular"/>
                <a:sym typeface="PP Object Sans Regular"/>
              </a:rPr>
              <a:t>.</a:t>
            </a:r>
            <a:br>
              <a:rPr>
                <a:latin typeface="PP Object Sans Regular"/>
                <a:ea typeface="PP Object Sans Regular"/>
                <a:cs typeface="PP Object Sans Regular"/>
                <a:sym typeface="PP Object Sans Regular"/>
              </a:rPr>
            </a:br>
            <a:r>
              <a:rPr>
                <a:latin typeface="PP Object Sans Regular"/>
                <a:ea typeface="PP Object Sans Regular"/>
                <a:cs typeface="PP Object Sans Regular"/>
                <a:sym typeface="PP Object Sans Regular"/>
              </a:rPr>
              <a:t>• </a:t>
            </a:r>
            <a:r>
              <a:t>Экономика:</a:t>
            </a:r>
            <a:r>
              <a:rPr>
                <a:latin typeface="PP Object Sans Regular"/>
                <a:ea typeface="PP Object Sans Regular"/>
                <a:cs typeface="PP Object Sans Regular"/>
                <a:sym typeface="PP Object Sans Regular"/>
              </a:rPr>
              <a:t> валовая маржа ≥ </a:t>
            </a:r>
            <a:r>
              <a:t>X%</a:t>
            </a:r>
            <a:r>
              <a:rPr>
                <a:latin typeface="PP Object Sans Regular"/>
                <a:ea typeface="PP Object Sans Regular"/>
                <a:cs typeface="PP Object Sans Regular"/>
                <a:sym typeface="PP Object Sans Regular"/>
              </a:rPr>
              <a:t>, доля скидки ≤ </a:t>
            </a:r>
            <a:r>
              <a:t>S%</a:t>
            </a:r>
            <a:r>
              <a:rPr>
                <a:latin typeface="PP Object Sans Regular"/>
                <a:ea typeface="PP Object Sans Regular"/>
                <a:cs typeface="PP Object Sans Regular"/>
                <a:sym typeface="PP Object Sans Regular"/>
              </a:rPr>
              <a:t>, </a:t>
            </a:r>
            <a:r>
              <a:t>LTV/CAC ≥ 3</a:t>
            </a:r>
            <a:r>
              <a:rPr>
                <a:latin typeface="PP Object Sans Regular"/>
                <a:ea typeface="PP Object Sans Regular"/>
                <a:cs typeface="PP Object Sans Regular"/>
                <a:sym typeface="PP Object Sans Regular"/>
              </a:rPr>
              <a:t>, </a:t>
            </a:r>
            <a:r>
              <a:t>CM2/order (Delivery/C&amp;C)</a:t>
            </a:r>
            <a:r>
              <a:rPr>
                <a:latin typeface="PP Object Sans Regular"/>
                <a:ea typeface="PP Object Sans Regular"/>
                <a:cs typeface="PP Object Sans Regular"/>
                <a:sym typeface="PP Object Sans Regular"/>
              </a:rPr>
              <a:t> ≥ 0, </a:t>
            </a:r>
            <a:r>
              <a:t>доля отрицательных UCM (по SKU)</a:t>
            </a:r>
            <a:r>
              <a:rPr>
                <a:latin typeface="PP Object Sans Regular"/>
                <a:ea typeface="PP Object Sans Regular"/>
                <a:cs typeface="PP Object Sans Regular"/>
                <a:sym typeface="PP Object Sans Regular"/>
              </a:rPr>
              <a:t> ≤ </a:t>
            </a:r>
            <a:r>
              <a:t>Sₙ%</a:t>
            </a:r>
            <a:r>
              <a:rPr>
                <a:latin typeface="PP Object Sans Regular"/>
                <a:ea typeface="PP Object Sans Regular"/>
                <a:cs typeface="PP Object Sans Regular"/>
                <a:sym typeface="PP Object Sans Regular"/>
              </a:rPr>
              <a:t>.</a:t>
            </a:r>
            <a:br>
              <a:rPr>
                <a:latin typeface="PP Object Sans Regular"/>
                <a:ea typeface="PP Object Sans Regular"/>
                <a:cs typeface="PP Object Sans Regular"/>
                <a:sym typeface="PP Object Sans Regular"/>
              </a:rPr>
            </a:br>
            <a:r>
              <a:rPr>
                <a:latin typeface="PP Object Sans Regular"/>
                <a:ea typeface="PP Object Sans Regular"/>
                <a:cs typeface="PP Object Sans Regular"/>
                <a:sym typeface="PP Object Sans Regular"/>
              </a:rPr>
              <a:t>• </a:t>
            </a:r>
            <a:r>
              <a:t>Каннибализация офлайна:</a:t>
            </a:r>
            <a:r>
              <a:rPr>
                <a:latin typeface="PP Object Sans Regular"/>
                <a:ea typeface="PP Object Sans Regular"/>
                <a:cs typeface="PP Object Sans Regular"/>
                <a:sym typeface="PP Object Sans Regular"/>
              </a:rPr>
              <a:t> по geo-holdouts ≤ </a:t>
            </a:r>
            <a:r>
              <a:t>K%</a:t>
            </a:r>
            <a:r>
              <a:rPr>
                <a:latin typeface="PP Object Sans Regular"/>
                <a:ea typeface="PP Object Sans Regular"/>
                <a:cs typeface="PP Object Sans Regular"/>
                <a:sym typeface="PP Object Sans Regular"/>
              </a:rPr>
              <a:t>.</a:t>
            </a:r>
            <a:endParaRPr>
              <a:latin typeface="PP Object Sans Regular"/>
              <a:ea typeface="PP Object Sans Regular"/>
              <a:cs typeface="PP Object Sans Regular"/>
              <a:sym typeface="PP Object Sans Regular"/>
            </a:endParaRPr>
          </a:p>
          <a:p>
            <a:pPr marL="0" indent="0" defTabSz="361188">
              <a:lnSpc>
                <a:spcPct val="100000"/>
              </a:lnSpc>
              <a:spcBef>
                <a:spcPts val="900"/>
              </a:spcBef>
              <a:buSzTx/>
              <a:buNone/>
              <a:defRPr sz="158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Как достигаем 3% → 5% → 10% → 20%+</a:t>
            </a:r>
            <a:br/>
            <a:r>
              <a:t>Повышаем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Exposure</a:t>
            </a:r>
            <a:r>
              <a:t> в ОМНИ → снимаем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Intent-барьеры</a:t>
            </a:r>
            <a:r>
              <a:t> (C&amp;C по умолчанию, адрес-less старт, SLA-виджет) → усиливаем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ATC/Checkout</a:t>
            </a:r>
            <a:r>
              <a:t> (автодобор до порога free, прозрачные замены,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СБП/Мир Pay</a:t>
            </a:r>
            <a:r>
              <a:t> и ретраи) → обеспечиваем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Fulfillment</a:t>
            </a:r>
            <a:r>
              <a:t> в SLA и замыкаем омни-петли из офлайна (e-чек ≤60 мин, кассир-промпт, «покупай снова»). Каждый шаг — через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A/B</a:t>
            </a:r>
            <a:r>
              <a:t> с заданным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MDE</a:t>
            </a:r>
            <a:r>
              <a:t> и ежедневным мониторингом guardrails.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rowth Equation и диагностика потерь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16421">
              <a:defRPr b="0" spc="-161" sz="8075">
                <a:latin typeface="PP Object Sans Heavy"/>
                <a:ea typeface="PP Object Sans Heavy"/>
                <a:cs typeface="PP Object Sans Heavy"/>
                <a:sym typeface="PP Object Sans Heavy"/>
              </a:defRPr>
            </a:lvl1pPr>
          </a:lstStyle>
          <a:p>
            <a:pPr/>
            <a:r>
              <a:t>Growth Equation и диагностика потерь</a:t>
            </a:r>
          </a:p>
        </p:txBody>
      </p:sp>
      <p:sp>
        <p:nvSpPr>
          <p:cNvPr id="188" name="Уравнение роста (6 шагов) MBC (оформлено) = Exposure × CTR × Intent × ATC × Checkout MDC (исполнено) = MBC × Fulfillment (Delivered/Collected в SLA)…"/>
          <p:cNvSpPr txBox="1"/>
          <p:nvPr>
            <p:ph type="body" idx="1"/>
          </p:nvPr>
        </p:nvSpPr>
        <p:spPr>
          <a:xfrm>
            <a:off x="1206500" y="2561789"/>
            <a:ext cx="21971000" cy="10943147"/>
          </a:xfrm>
          <a:prstGeom prst="rect">
            <a:avLst/>
          </a:prstGeom>
        </p:spPr>
        <p:txBody>
          <a:bodyPr/>
          <a:lstStyle/>
          <a:p>
            <a:pPr marL="0" indent="0" defTabSz="379475">
              <a:lnSpc>
                <a:spcPct val="100000"/>
              </a:lnSpc>
              <a:spcBef>
                <a:spcPts val="900"/>
              </a:spcBef>
              <a:buSzTx/>
              <a:buNone/>
              <a:defRPr sz="166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Уравнение роста (6 шагов)</a:t>
            </a:r>
            <a:br/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MBC (оформлено) =</a:t>
            </a:r>
            <a:r>
              <a:t> Exposure × CTR × Intent × ATC × Checkout</a:t>
            </a:r>
            <a:br/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MDC (исполнено) =</a:t>
            </a:r>
            <a:r>
              <a:t> MBC ×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Fulfillment</a:t>
            </a:r>
            <a:r>
              <a:t> (Delivered/Collected в SLA)</a:t>
            </a:r>
          </a:p>
          <a:p>
            <a:pPr marL="0" indent="0" defTabSz="379475">
              <a:lnSpc>
                <a:spcPct val="100000"/>
              </a:lnSpc>
              <a:spcBef>
                <a:spcPts val="900"/>
              </a:spcBef>
              <a:buSzTx/>
              <a:buNone/>
              <a:defRPr sz="166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NSM = MBC.</a:t>
            </a:r>
            <a:r>
              <a:t>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MDC</a:t>
            </a:r>
            <a:r>
              <a:t> — контроль сервиса и повторов.</a:t>
            </a:r>
          </a:p>
          <a:p>
            <a:pPr marL="0" indent="0" defTabSz="379475">
              <a:lnSpc>
                <a:spcPct val="100000"/>
              </a:lnSpc>
              <a:spcBef>
                <a:spcPts val="900"/>
              </a:spcBef>
              <a:buSzTx/>
              <a:buNone/>
              <a:defRPr sz="1660">
                <a:latin typeface="PP Object Sans Heavy"/>
                <a:ea typeface="PP Object Sans Heavy"/>
                <a:cs typeface="PP Object Sans Heavy"/>
                <a:sym typeface="PP Object Sans Heavy"/>
              </a:defRPr>
            </a:pPr>
            <a:r>
              <a:t>Где и почему теряем (приоритизация по силе влияния и объёму сигналов)</a:t>
            </a:r>
            <a:endParaRPr>
              <a:latin typeface="PP Object Sans Regular"/>
              <a:ea typeface="PP Object Sans Regular"/>
              <a:cs typeface="PP Object Sans Regular"/>
              <a:sym typeface="PP Object Sans Regular"/>
            </a:endParaRPr>
          </a:p>
          <a:p>
            <a:pPr marL="379475" indent="-263525" defTabSz="379475">
              <a:lnSpc>
                <a:spcPct val="100000"/>
              </a:lnSpc>
              <a:spcBef>
                <a:spcPts val="900"/>
              </a:spcBef>
              <a:buSzPct val="100000"/>
              <a:buFont typeface="Times Roman"/>
              <a:buAutoNum type="arabicPeriod" startAt="1"/>
              <a:defRPr sz="166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Навигация/две корзины → Exposure/CTR/Checkout.</a:t>
            </a:r>
            <a:br/>
            <a:r>
              <a:t>В одном приложении сосуществуют «Доставка из магазина» и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Магнит Маркет</a:t>
            </a:r>
            <a:r>
              <a:t>. Для пользователя это два очень похожих сценария с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разными корзинами</a:t>
            </a:r>
            <a:r>
              <a:t>. Путь в Market «ниже сгиба», копира о различиях нет → когнитивная нагрузка, ложные заходы, дропы на финале при «смешанных» корзинах.</a:t>
            </a:r>
            <a:br/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Метрики-маркер:</a:t>
            </a:r>
            <a:r>
              <a:t> Share_exposed, CTR входов, Mixed-Cart rate, Drop@Mixed-Cart.</a:t>
            </a:r>
            <a:br/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Целевая эвристика:</a:t>
            </a:r>
            <a:r>
              <a:t> </a:t>
            </a:r>
            <a:r>
              <a:rPr i="1"/>
              <a:t>Time-to-value &lt; 5 с, ≤ 1 осознанного выбора пути.</a:t>
            </a:r>
          </a:p>
          <a:p>
            <a:pPr marL="379475" indent="-263525" defTabSz="379475">
              <a:lnSpc>
                <a:spcPct val="100000"/>
              </a:lnSpc>
              <a:spcBef>
                <a:spcPts val="900"/>
              </a:spcBef>
              <a:buSzPct val="100000"/>
              <a:buFont typeface="Times Roman"/>
              <a:buAutoNum type="arabicPeriod" startAt="1"/>
              <a:defRPr sz="166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Лишний клик до добавления → ATC.</a:t>
            </a:r>
            <a:br/>
            <a:r>
              <a:t>На PLP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нет быстрого “+”</a:t>
            </a:r>
            <a:r>
              <a:t> (даже для безатрибутных SKU): обязательно заходить в PDP → медленнее цикл «нашёл → положил», меньше импульса и повторов.</a:t>
            </a:r>
            <a:br/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Метрики-маркер:</a:t>
            </a:r>
            <a:r>
              <a:t> ATC CVR, ATC latency (медиана «сессия→первый ATC»), ATC/Session.</a:t>
            </a:r>
            <a:br/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Целевая эвристика:</a:t>
            </a:r>
            <a:r>
              <a:t> </a:t>
            </a:r>
            <a:r>
              <a:rPr i="1"/>
              <a:t>≤ 2 действия до первого ATC; ≥ 30% ATC с PLP.</a:t>
            </a:r>
          </a:p>
          <a:p>
            <a:pPr marL="379475" indent="-263525" defTabSz="379475">
              <a:lnSpc>
                <a:spcPct val="100000"/>
              </a:lnSpc>
              <a:spcBef>
                <a:spcPts val="900"/>
              </a:spcBef>
              <a:buSzPct val="100000"/>
              <a:buFont typeface="Times Roman"/>
              <a:buAutoNum type="arabicPeriod" startAt="1"/>
              <a:defRPr sz="166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Финальное трение при «смешанных» корзинах → Checkout.</a:t>
            </a:r>
            <a:br/>
            <a:r>
              <a:t>Проблема не в платежах, а в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структуре</a:t>
            </a:r>
            <a:r>
              <a:t>: разные источники товара → разные правила оформления. Без «моста» пользователь теряет ход.</a:t>
            </a:r>
            <a:br/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Метрики-маркер:</a:t>
            </a:r>
            <a:r>
              <a:t> Checkout CVR (mixed vs non-mixed), Pay-success (не деградировать), Cancel%.</a:t>
            </a:r>
          </a:p>
          <a:p>
            <a:pPr marL="379475" indent="-263525" defTabSz="379475">
              <a:lnSpc>
                <a:spcPct val="100000"/>
              </a:lnSpc>
              <a:spcBef>
                <a:spcPts val="900"/>
              </a:spcBef>
              <a:buSzPct val="100000"/>
              <a:buFont typeface="Times Roman"/>
              <a:buAutoNum type="arabicPeriod" startAt="1"/>
              <a:defRPr sz="166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Надёжность исполнения в Маркете → Fulfillment/Repeat.</a:t>
            </a:r>
            <a:br/>
            <a:r>
              <a:t>Отзывы: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задержки, недовложения, возвраты</a:t>
            </a:r>
            <a:r>
              <a:t> → разрыв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MBC→MDC</a:t>
            </a:r>
            <a:r>
              <a:t>, падение NPS/Repeat.</a:t>
            </a:r>
            <a:br/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Метрики-маркер:</a:t>
            </a:r>
            <a:r>
              <a:t> Delivered-success %, On-time %, Post-purchase contact rate, Repeat 30/90d.</a:t>
            </a:r>
          </a:p>
          <a:p>
            <a:pPr marL="0" indent="0" defTabSz="379475">
              <a:lnSpc>
                <a:spcPct val="100000"/>
              </a:lnSpc>
              <a:spcBef>
                <a:spcPts val="900"/>
              </a:spcBef>
              <a:buSzTx/>
              <a:buNone/>
              <a:defRPr sz="1660">
                <a:latin typeface="PP Object Sans Heavy"/>
                <a:ea typeface="PP Object Sans Heavy"/>
                <a:cs typeface="PP Object Sans Heavy"/>
                <a:sym typeface="PP Object Sans Heavy"/>
              </a:defRPr>
            </a:pPr>
            <a:r>
              <a:t>Что не является фокусом сейчас (де-приоритизация):</a:t>
            </a:r>
            <a:br>
              <a:rPr>
                <a:latin typeface="PP Object Sans Regular"/>
                <a:ea typeface="PP Object Sans Regular"/>
                <a:cs typeface="PP Object Sans Regular"/>
                <a:sym typeface="PP Object Sans Regular"/>
              </a:rPr>
            </a:br>
            <a:r>
              <a:rPr>
                <a:latin typeface="PP Object Sans Regular"/>
                <a:ea typeface="PP Object Sans Regular"/>
                <a:cs typeface="PP Object Sans Regular"/>
                <a:sym typeface="PP Object Sans Regular"/>
              </a:rPr>
              <a:t>— </a:t>
            </a:r>
            <a:r>
              <a:t>Intent-барьер отсутствует:</a:t>
            </a:r>
            <a:r>
              <a:rPr>
                <a:latin typeface="PP Object Sans Regular"/>
                <a:ea typeface="PP Object Sans Regular"/>
                <a:cs typeface="PP Object Sans Regular"/>
                <a:sym typeface="PP Object Sans Regular"/>
              </a:rPr>
              <a:t> товары можно класть без выбора адреса/слотов.</a:t>
            </a:r>
            <a:br>
              <a:rPr>
                <a:latin typeface="PP Object Sans Regular"/>
                <a:ea typeface="PP Object Sans Regular"/>
                <a:cs typeface="PP Object Sans Regular"/>
                <a:sym typeface="PP Object Sans Regular"/>
              </a:rPr>
            </a:br>
            <a:r>
              <a:rPr>
                <a:latin typeface="PP Object Sans Regular"/>
                <a:ea typeface="PP Object Sans Regular"/>
                <a:cs typeface="PP Object Sans Regular"/>
                <a:sym typeface="PP Object Sans Regular"/>
              </a:rPr>
              <a:t>— </a:t>
            </a:r>
            <a:r>
              <a:t>Платёжные «1-тап/3-DS» и «замены»</a:t>
            </a:r>
            <a:r>
              <a:rPr>
                <a:latin typeface="PP Object Sans Regular"/>
                <a:ea typeface="PP Object Sans Regular"/>
                <a:cs typeface="PP Object Sans Regular"/>
                <a:sym typeface="PP Object Sans Regular"/>
              </a:rPr>
              <a:t> не surfaced как массовая боль в текущем срезе.</a:t>
            </a:r>
            <a:endParaRPr>
              <a:latin typeface="PP Object Sans Regular"/>
              <a:ea typeface="PP Object Sans Regular"/>
              <a:cs typeface="PP Object Sans Regular"/>
              <a:sym typeface="PP Object Sans Regular"/>
            </a:endParaRPr>
          </a:p>
          <a:p>
            <a:pPr marL="0" indent="0" defTabSz="379475">
              <a:lnSpc>
                <a:spcPct val="100000"/>
              </a:lnSpc>
              <a:spcBef>
                <a:spcPts val="900"/>
              </a:spcBef>
              <a:buSzTx/>
              <a:buNone/>
              <a:defRPr sz="1660">
                <a:latin typeface="PP Object Sans Heavy"/>
                <a:ea typeface="PP Object Sans Heavy"/>
                <a:cs typeface="PP Object Sans Heavy"/>
                <a:sym typeface="PP Object Sans Heavy"/>
              </a:defRPr>
            </a:pPr>
            <a:r>
              <a:t>Как превращаем % в абсолюты (без ошибки «MAU = покупатели»)</a:t>
            </a:r>
            <a:br>
              <a:rPr>
                <a:latin typeface="PP Object Sans Regular"/>
                <a:ea typeface="PP Object Sans Regular"/>
                <a:cs typeface="PP Object Sans Regular"/>
                <a:sym typeface="PP Object Sans Regular"/>
              </a:rPr>
            </a:br>
            <a:r>
              <a:t>aMAU = OMNI_MAU × Availability × Eligibility × Exposure_seen</a:t>
            </a:r>
            <a:br>
              <a:rPr>
                <a:latin typeface="PP Object Sans Regular"/>
                <a:ea typeface="PP Object Sans Regular"/>
                <a:cs typeface="PP Object Sans Regular"/>
                <a:sym typeface="PP Object Sans Regular"/>
              </a:rPr>
            </a:br>
            <a:r>
              <a:t>ΔBuyers (оформлено) = aMAU × (целевой MBC − базовый MBC)</a:t>
            </a:r>
            <a:br>
              <a:rPr>
                <a:latin typeface="PP Object Sans Regular"/>
                <a:ea typeface="PP Object Sans Regular"/>
                <a:cs typeface="PP Object Sans Regular"/>
                <a:sym typeface="PP Object Sans Regular"/>
              </a:rPr>
            </a:br>
            <a:r>
              <a:t>ΔBuyers (исполнено) = ΔBuyers × Fulfillment_success</a:t>
            </a:r>
            <a:endParaRPr>
              <a:latin typeface="PP Object Sans Regular"/>
              <a:ea typeface="PP Object Sans Regular"/>
              <a:cs typeface="PP Object Sans Regular"/>
              <a:sym typeface="PP Object Sans Regular"/>
            </a:endParaRPr>
          </a:p>
          <a:p>
            <a:pPr marL="0" indent="0" defTabSz="379475">
              <a:lnSpc>
                <a:spcPct val="100000"/>
              </a:lnSpc>
              <a:spcBef>
                <a:spcPts val="900"/>
              </a:spcBef>
              <a:buSzTx/>
              <a:buNone/>
              <a:defRPr sz="1660">
                <a:latin typeface="PP Object Sans Heavy"/>
                <a:ea typeface="PP Object Sans Heavy"/>
                <a:cs typeface="PP Object Sans Heavy"/>
                <a:sym typeface="PP Object Sans Heavy"/>
              </a:defRPr>
            </a:pPr>
            <a:r>
              <a:rPr>
                <a:latin typeface="PP Object Sans Regular"/>
                <a:ea typeface="PP Object Sans Regular"/>
                <a:cs typeface="PP Object Sans Regular"/>
                <a:sym typeface="PP Object Sans Regular"/>
              </a:rPr>
              <a:t>Экономика считаем мультикатегорийно: </a:t>
            </a:r>
            <a:r>
              <a:t>GMV = Σ (share_cat × ΔMBC × aMAU × AOV_cat)</a:t>
            </a:r>
            <a:r>
              <a:rPr>
                <a:latin typeface="PP Object Sans Regular"/>
                <a:ea typeface="PP Object Sans Regular"/>
                <a:cs typeface="PP Object Sans Regular"/>
                <a:sym typeface="PP Object Sans Regular"/>
              </a:rPr>
              <a:t>; Delivery vs C&amp;C — раздельно.</a:t>
            </a:r>
            <a:endParaRPr>
              <a:latin typeface="PP Object Sans Regular"/>
              <a:ea typeface="PP Object Sans Regular"/>
              <a:cs typeface="PP Object Sans Regular"/>
              <a:sym typeface="PP Object Sans Regular"/>
            </a:endParaRPr>
          </a:p>
          <a:p>
            <a:pPr marL="0" indent="0" defTabSz="379475">
              <a:lnSpc>
                <a:spcPct val="100000"/>
              </a:lnSpc>
              <a:spcBef>
                <a:spcPts val="900"/>
              </a:spcBef>
              <a:buSzTx/>
              <a:buNone/>
              <a:defRPr sz="1660">
                <a:latin typeface="PP Object Sans Heavy"/>
                <a:ea typeface="PP Object Sans Heavy"/>
                <a:cs typeface="PP Object Sans Heavy"/>
                <a:sym typeface="PP Object Sans Heavy"/>
              </a:defRPr>
            </a:pPr>
            <a:r>
              <a:t>Диагностический плейбук (быстро локализуем корень):</a:t>
            </a:r>
            <a:endParaRPr>
              <a:latin typeface="PP Object Sans Regular"/>
              <a:ea typeface="PP Object Sans Regular"/>
              <a:cs typeface="PP Object Sans Regular"/>
              <a:sym typeface="PP Object Sans Regular"/>
            </a:endParaRPr>
          </a:p>
          <a:p>
            <a:pPr marL="379475" indent="-263525" defTabSz="379475">
              <a:lnSpc>
                <a:spcPct val="100000"/>
              </a:lnSpc>
              <a:spcBef>
                <a:spcPts val="900"/>
              </a:spcBef>
              <a:buFont typeface="Times Roman"/>
              <a:defRPr sz="166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MBC↓ &amp; Views/CTR↓</a:t>
            </a:r>
            <a:r>
              <a:t> → проверяем долю показов входа, позицию Market на главной, Mixed-Cart rate (навигация/две корзины).</a:t>
            </a:r>
          </a:p>
          <a:p>
            <a:pPr marL="379475" indent="-263525" defTabSz="379475">
              <a:lnSpc>
                <a:spcPct val="100000"/>
              </a:lnSpc>
              <a:spcBef>
                <a:spcPts val="900"/>
              </a:spcBef>
              <a:buFont typeface="Times Roman"/>
              <a:defRPr sz="1660">
                <a:latin typeface="PP Object Sans Heavy"/>
                <a:ea typeface="PP Object Sans Heavy"/>
                <a:cs typeface="PP Object Sans Heavy"/>
                <a:sym typeface="PP Object Sans Heavy"/>
              </a:defRPr>
            </a:pPr>
            <a:r>
              <a:t>MBC↓ при норм. Views/CTR</a:t>
            </a:r>
            <a:r>
              <a:rPr>
                <a:latin typeface="PP Object Sans Regular"/>
                <a:ea typeface="PP Object Sans Regular"/>
                <a:cs typeface="PP Object Sans Regular"/>
                <a:sym typeface="PP Object Sans Regular"/>
              </a:rPr>
              <a:t> → смотрим </a:t>
            </a:r>
            <a:r>
              <a:t>ATC latency/ATC CVR</a:t>
            </a:r>
            <a:r>
              <a:rPr>
                <a:latin typeface="PP Object Sans Regular"/>
                <a:ea typeface="PP Object Sans Regular"/>
                <a:cs typeface="PP Object Sans Regular"/>
                <a:sym typeface="PP Object Sans Regular"/>
              </a:rPr>
              <a:t> (нужен “+” на PLP).</a:t>
            </a:r>
            <a:endParaRPr>
              <a:latin typeface="PP Object Sans Regular"/>
              <a:ea typeface="PP Object Sans Regular"/>
              <a:cs typeface="PP Object Sans Regular"/>
              <a:sym typeface="PP Object Sans Regular"/>
            </a:endParaRPr>
          </a:p>
          <a:p>
            <a:pPr marL="379475" indent="-263525" defTabSz="379475">
              <a:lnSpc>
                <a:spcPct val="100000"/>
              </a:lnSpc>
              <a:spcBef>
                <a:spcPts val="900"/>
              </a:spcBef>
              <a:buFont typeface="Times Roman"/>
              <a:defRPr sz="166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Checkout CVR↓ при росте ATC</a:t>
            </a:r>
            <a:r>
              <a:t> → доля смешанных корзин и Drop@Mixed-Cart (нужен «мост»).</a:t>
            </a:r>
          </a:p>
          <a:p>
            <a:pPr marL="379475" indent="-263525" defTabSz="379475">
              <a:lnSpc>
                <a:spcPct val="100000"/>
              </a:lnSpc>
              <a:spcBef>
                <a:spcPts val="900"/>
              </a:spcBef>
              <a:buFont typeface="Times Roman"/>
              <a:defRPr sz="166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Repeat↓ при стабильном MBC</a:t>
            </a:r>
            <a:r>
              <a:t> →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Delivered-success/On-time</a:t>
            </a:r>
            <a:r>
              <a:t> и контакт-рейт (нужен прозрачный post-purchase).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Метод сбора и топ проблемы"/>
          <p:cNvSpPr txBox="1"/>
          <p:nvPr>
            <p:ph type="title"/>
          </p:nvPr>
        </p:nvSpPr>
        <p:spPr>
          <a:xfrm>
            <a:off x="1206500" y="847019"/>
            <a:ext cx="21971000" cy="1433164"/>
          </a:xfrm>
          <a:prstGeom prst="rect">
            <a:avLst/>
          </a:prstGeom>
        </p:spPr>
        <p:txBody>
          <a:bodyPr/>
          <a:lstStyle>
            <a:lvl1pPr defTabSz="2316421">
              <a:defRPr b="0" spc="-161" sz="8075">
                <a:latin typeface="PP Object Sans Heavy"/>
                <a:ea typeface="PP Object Sans Heavy"/>
                <a:cs typeface="PP Object Sans Heavy"/>
                <a:sym typeface="PP Object Sans Heavy"/>
              </a:defRPr>
            </a:lvl1pPr>
          </a:lstStyle>
          <a:p>
            <a:pPr/>
            <a:r>
              <a:t>Метод сбора и топ проблемы</a:t>
            </a:r>
          </a:p>
        </p:txBody>
      </p:sp>
      <p:sp>
        <p:nvSpPr>
          <p:cNvPr id="191" name="1) Отзывы с различных площадок (сайты отзывов, магазины приложений и т.д) - Объём: 665 отзывов = Магнит 372 + Магнит Маркет 293. - Как использовали: агрегировали частоты по категориям и приложениям; для карты проблем сопоставили категории с шагами воронк"/>
          <p:cNvSpPr txBox="1"/>
          <p:nvPr>
            <p:ph type="body" idx="1"/>
          </p:nvPr>
        </p:nvSpPr>
        <p:spPr>
          <a:xfrm>
            <a:off x="1117608" y="2494295"/>
            <a:ext cx="24025001" cy="11000186"/>
          </a:xfrm>
          <a:prstGeom prst="rect">
            <a:avLst/>
          </a:prstGeom>
        </p:spPr>
        <p:txBody>
          <a:bodyPr/>
          <a:lstStyle/>
          <a:p>
            <a:pPr marL="0" indent="0" defTabSz="269747">
              <a:lnSpc>
                <a:spcPct val="100000"/>
              </a:lnSpc>
              <a:spcBef>
                <a:spcPts val="700"/>
              </a:spcBef>
              <a:buSzTx/>
              <a:buNone/>
              <a:defRPr sz="1179">
                <a:latin typeface="PP Object Sans Heavy"/>
                <a:ea typeface="PP Object Sans Heavy"/>
                <a:cs typeface="PP Object Sans Heavy"/>
                <a:sym typeface="PP Object Sans Heavy"/>
              </a:defRPr>
            </a:pPr>
            <a:r>
              <a:t>1) Отзывы с различных площадок (сайты отзывов, магазины приложений и т.д)</a:t>
            </a:r>
            <a:br/>
            <a:r>
              <a:rPr>
                <a:latin typeface="PP Object Sans Regular"/>
                <a:ea typeface="PP Object Sans Regular"/>
                <a:cs typeface="PP Object Sans Regular"/>
                <a:sym typeface="PP Object Sans Regular"/>
              </a:rPr>
              <a:t>- Объём: 665 отзывов = Магнит 372 + Магнит Маркет 293.</a:t>
            </a:r>
            <a:br>
              <a:rPr>
                <a:latin typeface="PP Object Sans Regular"/>
                <a:ea typeface="PP Object Sans Regular"/>
                <a:cs typeface="PP Object Sans Regular"/>
                <a:sym typeface="PP Object Sans Regular"/>
              </a:rPr>
            </a:br>
            <a:r>
              <a:rPr>
                <a:latin typeface="PP Object Sans Regular"/>
                <a:ea typeface="PP Object Sans Regular"/>
                <a:cs typeface="PP Object Sans Regular"/>
                <a:sym typeface="PP Object Sans Regular"/>
              </a:rPr>
              <a:t>- Как использовали: агрегировали частоты по категориям и приложениям; для карты проблем сопоставили категории с шагами воронки (Views/CTR, ATC, Checkout, Fulfillment, Post-purchase).</a:t>
            </a:r>
          </a:p>
          <a:p>
            <a:pPr marL="0" indent="0" defTabSz="269747">
              <a:lnSpc>
                <a:spcPct val="100000"/>
              </a:lnSpc>
              <a:spcBef>
                <a:spcPts val="700"/>
              </a:spcBef>
              <a:buSzTx/>
              <a:buNone/>
              <a:defRPr sz="1179">
                <a:latin typeface="PP Object Sans Heavy"/>
                <a:ea typeface="PP Object Sans Heavy"/>
                <a:cs typeface="PP Object Sans Heavy"/>
                <a:sym typeface="PP Object Sans Heavy"/>
              </a:defRPr>
            </a:pPr>
            <a:r>
              <a:t>2) Базовый UX-аудит</a:t>
            </a:r>
            <a:br>
              <a:rPr>
                <a:latin typeface="PP Object Sans Regular"/>
                <a:ea typeface="PP Object Sans Regular"/>
                <a:cs typeface="PP Object Sans Regular"/>
                <a:sym typeface="PP Object Sans Regular"/>
              </a:rPr>
            </a:br>
            <a:r>
              <a:rPr>
                <a:latin typeface="PP Object Sans Regular"/>
                <a:ea typeface="PP Object Sans Regular"/>
                <a:cs typeface="PP Object Sans Regular"/>
                <a:sym typeface="PP Object Sans Regular"/>
              </a:rPr>
              <a:t>- Просмотренные участки: главная/входы, поиск, PLP, PDP, корзины (Магнит / Магнит Маркет), checkout’ы, пост-чекаут (уведомления/статусы).</a:t>
            </a:r>
            <a:br>
              <a:rPr>
                <a:latin typeface="PP Object Sans Regular"/>
                <a:ea typeface="PP Object Sans Regular"/>
                <a:cs typeface="PP Object Sans Regular"/>
                <a:sym typeface="PP Object Sans Regular"/>
              </a:rPr>
            </a:br>
            <a:r>
              <a:rPr>
                <a:latin typeface="PP Object Sans Regular"/>
                <a:ea typeface="PP Object Sans Regular"/>
                <a:cs typeface="PP Object Sans Regular"/>
                <a:sym typeface="PP Object Sans Regular"/>
              </a:rPr>
              <a:t>- Цель: найти барьеры, которые режут воронку.</a:t>
            </a:r>
          </a:p>
          <a:p>
            <a:pPr marL="0" indent="0" defTabSz="269747">
              <a:lnSpc>
                <a:spcPct val="100000"/>
              </a:lnSpc>
              <a:spcBef>
                <a:spcPts val="700"/>
              </a:spcBef>
              <a:buSzTx/>
              <a:buNone/>
              <a:defRPr sz="1179">
                <a:latin typeface="PP Object Sans Heavy"/>
                <a:ea typeface="PP Object Sans Heavy"/>
                <a:cs typeface="PP Object Sans Heavy"/>
                <a:sym typeface="PP Object Sans Heavy"/>
              </a:defRPr>
            </a:pPr>
            <a:r>
              <a:t>3) Открытые источники</a:t>
            </a:r>
          </a:p>
          <a:p>
            <a:pPr marL="0" indent="0" defTabSz="269747">
              <a:lnSpc>
                <a:spcPct val="100000"/>
              </a:lnSpc>
              <a:spcBef>
                <a:spcPts val="700"/>
              </a:spcBef>
              <a:buSzTx/>
              <a:buNone/>
              <a:defRPr sz="1179">
                <a:latin typeface="PP Object Sans Heavy"/>
                <a:ea typeface="PP Object Sans Heavy"/>
                <a:cs typeface="PP Object Sans Heavy"/>
                <a:sym typeface="PP Object Sans Heavy"/>
              </a:defRPr>
            </a:pPr>
            <a:r>
              <a:t>-</a:t>
            </a:r>
            <a:r>
              <a:rPr>
                <a:latin typeface="PP Object Sans Regular"/>
                <a:ea typeface="PP Object Sans Regular"/>
                <a:cs typeface="PP Object Sans Regular"/>
                <a:sym typeface="PP Object Sans Regular"/>
              </a:rPr>
              <a:t> Официальная информация в СМИ по «Магнит» и «Магнит Маркет»</a:t>
            </a:r>
          </a:p>
          <a:p>
            <a:pPr marL="0" indent="0" defTabSz="269747">
              <a:lnSpc>
                <a:spcPct val="100000"/>
              </a:lnSpc>
              <a:spcBef>
                <a:spcPts val="700"/>
              </a:spcBef>
              <a:buSzTx/>
              <a:buNone/>
              <a:defRPr sz="1179">
                <a:latin typeface="PP Object Sans Heavy"/>
                <a:ea typeface="PP Object Sans Heavy"/>
                <a:cs typeface="PP Object Sans Heavy"/>
                <a:sym typeface="PP Object Sans Heavy"/>
              </a:defRPr>
            </a:pPr>
            <a:r>
              <a:t>4) Ограничения и рамки анализа</a:t>
            </a:r>
          </a:p>
          <a:p>
            <a:pPr marL="0" indent="0" defTabSz="269747">
              <a:lnSpc>
                <a:spcPct val="100000"/>
              </a:lnSpc>
              <a:spcBef>
                <a:spcPts val="700"/>
              </a:spcBef>
              <a:buSzTx/>
              <a:buNone/>
              <a:defRPr sz="1179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t>- Исследование проводилось в авторизованной зоне, с указанием локации в Москве</a:t>
            </a:r>
            <a:br/>
            <a:r>
              <a:t>- Флоу исследовался до покупки, оценить процесс после оплаты не было возможности. </a:t>
            </a:r>
            <a:br/>
            <a:r>
              <a:t>- Отзывы собирались и класстиризоваливсь с помощью Perplexity</a:t>
            </a:r>
            <a:br/>
            <a:r>
              <a:t>- Основной интерфейс для исследования был APP (на основе собеседований, это основной интерфейс контакта с аудиторией), IOS платформа  - в силу доступности.</a:t>
            </a:r>
          </a:p>
          <a:p>
            <a:pPr marL="0" indent="0" defTabSz="269747">
              <a:lnSpc>
                <a:spcPct val="100000"/>
              </a:lnSpc>
              <a:spcBef>
                <a:spcPts val="700"/>
              </a:spcBef>
              <a:buSzTx/>
              <a:buNone/>
              <a:defRPr sz="1179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</a:p>
          <a:p>
            <a:pPr marL="0" indent="0" defTabSz="269747">
              <a:lnSpc>
                <a:spcPct val="100000"/>
              </a:lnSpc>
              <a:spcBef>
                <a:spcPts val="700"/>
              </a:spcBef>
              <a:buSzTx/>
              <a:buNone/>
              <a:defRPr sz="1179">
                <a:latin typeface="PP Object Sans Heavy"/>
                <a:ea typeface="PP Object Sans Heavy"/>
                <a:cs typeface="PP Object Sans Heavy"/>
                <a:sym typeface="PP Object Sans Heavy"/>
              </a:defRPr>
            </a:pPr>
            <a:r>
              <a:t>Как мы связали данные с Growth Equation (детерминированная карта → шаги воронки)</a:t>
            </a:r>
            <a:endParaRPr>
              <a:latin typeface="PP Object Sans Regular"/>
              <a:ea typeface="PP Object Sans Regular"/>
              <a:cs typeface="PP Object Sans Regular"/>
              <a:sym typeface="PP Object Sans Regular"/>
            </a:endParaRPr>
          </a:p>
          <a:p>
            <a:pPr marL="269747" indent="-187324" defTabSz="269747">
              <a:lnSpc>
                <a:spcPct val="100000"/>
              </a:lnSpc>
              <a:spcBef>
                <a:spcPts val="700"/>
              </a:spcBef>
              <a:buFont typeface="Times Roman"/>
              <a:defRPr sz="1179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Exposure / Trust / Reliability</a:t>
            </a:r>
            <a:r>
              <a:t> ↔ видимость входов/доверие к опыту →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Views, CTR</a:t>
            </a:r>
            <a:r>
              <a:t>.</a:t>
            </a:r>
          </a:p>
          <a:p>
            <a:pPr marL="269747" indent="-187324" defTabSz="269747">
              <a:lnSpc>
                <a:spcPct val="100000"/>
              </a:lnSpc>
              <a:spcBef>
                <a:spcPts val="700"/>
              </a:spcBef>
              <a:buFont typeface="Times Roman"/>
              <a:defRPr sz="1179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Browse / ATC</a:t>
            </a:r>
            <a:r>
              <a:t> ↔ скорость добавления в корзину →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ATC CVR, ATC latency</a:t>
            </a:r>
            <a:r>
              <a:t>.</a:t>
            </a:r>
          </a:p>
          <a:p>
            <a:pPr marL="269747" indent="-187324" defTabSz="269747">
              <a:lnSpc>
                <a:spcPct val="100000"/>
              </a:lnSpc>
              <a:spcBef>
                <a:spcPts val="700"/>
              </a:spcBef>
              <a:buFont typeface="Times Roman"/>
              <a:defRPr sz="1179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Checkout / Payments / Auth</a:t>
            </a:r>
            <a:r>
              <a:t> ↔ финальные шаги оформления →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Checkout CVR, Pay-success</a:t>
            </a:r>
            <a:r>
              <a:t>.</a:t>
            </a:r>
          </a:p>
          <a:p>
            <a:pPr marL="269747" indent="-187324" defTabSz="269747">
              <a:lnSpc>
                <a:spcPct val="100000"/>
              </a:lnSpc>
              <a:spcBef>
                <a:spcPts val="700"/>
              </a:spcBef>
              <a:buFont typeface="Times Roman"/>
              <a:defRPr sz="1179">
                <a:latin typeface="PP Object Sans Heavy"/>
                <a:ea typeface="PP Object Sans Heavy"/>
                <a:cs typeface="PP Object Sans Heavy"/>
                <a:sym typeface="PP Object Sans Heavy"/>
              </a:defRPr>
            </a:pPr>
            <a:r>
              <a:t>Fulfillment / Post-purchase</a:t>
            </a:r>
            <a:r>
              <a:rPr>
                <a:latin typeface="PP Object Sans Regular"/>
                <a:ea typeface="PP Object Sans Regular"/>
                <a:cs typeface="PP Object Sans Regular"/>
                <a:sym typeface="PP Object Sans Regular"/>
              </a:rPr>
              <a:t> ↔ исполнение заказа и сервис → </a:t>
            </a:r>
            <a:r>
              <a:t>Delivered-success, On-time, Repeat/NPS</a:t>
            </a:r>
            <a:r>
              <a:rPr>
                <a:latin typeface="PP Object Sans Regular"/>
                <a:ea typeface="PP Object Sans Regular"/>
                <a:cs typeface="PP Object Sans Regular"/>
                <a:sym typeface="PP Object Sans Regular"/>
              </a:rPr>
              <a:t>.</a:t>
            </a:r>
            <a:endParaRPr>
              <a:latin typeface="PP Object Sans Regular"/>
              <a:ea typeface="PP Object Sans Regular"/>
              <a:cs typeface="PP Object Sans Regular"/>
              <a:sym typeface="PP Object Sans Regular"/>
            </a:endParaRPr>
          </a:p>
          <a:p>
            <a:pPr marL="0" indent="0" defTabSz="269747">
              <a:lnSpc>
                <a:spcPct val="100000"/>
              </a:lnSpc>
              <a:spcBef>
                <a:spcPts val="700"/>
              </a:spcBef>
              <a:buSzTx/>
              <a:buNone/>
              <a:defRPr sz="1179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t>Маппинг делался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правилом по ключевым словам</a:t>
            </a:r>
            <a:r>
              <a:t> из названия категории (например, «недовложения», «задержки» → Fulfillment; «оплата», «SMS-код» → Checkout/Auth). Категории в файле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не редактировались</a:t>
            </a:r>
            <a:r>
              <a:t>.</a:t>
            </a:r>
          </a:p>
          <a:p>
            <a:pPr marL="0" indent="0" defTabSz="269747">
              <a:lnSpc>
                <a:spcPct val="100000"/>
              </a:lnSpc>
              <a:spcBef>
                <a:spcPts val="700"/>
              </a:spcBef>
              <a:buSzTx/>
              <a:buNone/>
              <a:defRPr sz="1179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</a:p>
          <a:p>
            <a:pPr marL="0" indent="0" defTabSz="269747">
              <a:lnSpc>
                <a:spcPct val="100000"/>
              </a:lnSpc>
              <a:spcBef>
                <a:spcPts val="700"/>
              </a:spcBef>
              <a:buSzTx/>
              <a:buNone/>
              <a:defRPr sz="1179">
                <a:latin typeface="PP Object Sans Heavy"/>
                <a:ea typeface="PP Object Sans Heavy"/>
                <a:cs typeface="PP Object Sans Heavy"/>
                <a:sym typeface="PP Object Sans Heavy"/>
              </a:defRPr>
            </a:pPr>
            <a:r>
              <a:t>Что показала квантитативная сводка (из файла)</a:t>
            </a:r>
            <a:endParaRPr>
              <a:latin typeface="PP Object Sans Regular"/>
              <a:ea typeface="PP Object Sans Regular"/>
              <a:cs typeface="PP Object Sans Regular"/>
              <a:sym typeface="PP Object Sans Regular"/>
            </a:endParaRPr>
          </a:p>
          <a:p>
            <a:pPr marL="269747" indent="-187324" defTabSz="269747">
              <a:lnSpc>
                <a:spcPct val="100000"/>
              </a:lnSpc>
              <a:spcBef>
                <a:spcPts val="700"/>
              </a:spcBef>
              <a:buFont typeface="Times Roman"/>
              <a:defRPr sz="1179">
                <a:latin typeface="PP Object Sans Heavy"/>
                <a:ea typeface="PP Object Sans Heavy"/>
                <a:cs typeface="PP Object Sans Heavy"/>
                <a:sym typeface="PP Object Sans Heavy"/>
              </a:defRPr>
            </a:pPr>
            <a:r>
              <a:t>Магнит:</a:t>
            </a:r>
            <a:r>
              <a:rPr>
                <a:latin typeface="PP Object Sans Regular"/>
                <a:ea typeface="PP Object Sans Regular"/>
                <a:cs typeface="PP Object Sans Regular"/>
                <a:sym typeface="PP Object Sans Regular"/>
              </a:rPr>
              <a:t> доминирует блок </a:t>
            </a:r>
            <a:r>
              <a:t>Exposure/Надёжность — 273 упоминания</a:t>
            </a:r>
            <a:r>
              <a:rPr>
                <a:latin typeface="PP Object Sans Regular"/>
                <a:ea typeface="PP Object Sans Regular"/>
                <a:cs typeface="PP Object Sans Regular"/>
                <a:sym typeface="PP Object Sans Regular"/>
              </a:rPr>
              <a:t> (техсбои </a:t>
            </a:r>
            <a:r>
              <a:t>65</a:t>
            </a:r>
            <a:r>
              <a:rPr>
                <a:latin typeface="PP Object Sans Regular"/>
                <a:ea typeface="PP Object Sans Regular"/>
                <a:cs typeface="PP Object Sans Regular"/>
                <a:sym typeface="PP Object Sans Regular"/>
              </a:rPr>
              <a:t>, бонусы </a:t>
            </a:r>
            <a:r>
              <a:t>52</a:t>
            </a:r>
            <a:r>
              <a:rPr>
                <a:latin typeface="PP Object Sans Regular"/>
                <a:ea typeface="PP Object Sans Regular"/>
                <a:cs typeface="PP Object Sans Regular"/>
                <a:sym typeface="PP Object Sans Regular"/>
              </a:rPr>
              <a:t>, QR-код </a:t>
            </a:r>
            <a:r>
              <a:t>48</a:t>
            </a:r>
            <a:r>
              <a:rPr>
                <a:latin typeface="PP Object Sans Regular"/>
                <a:ea typeface="PP Object Sans Regular"/>
                <a:cs typeface="PP Object Sans Regular"/>
                <a:sym typeface="PP Object Sans Regular"/>
              </a:rPr>
              <a:t>); далее </a:t>
            </a:r>
            <a:r>
              <a:t>Checkout/Auth — 35</a:t>
            </a:r>
            <a:r>
              <a:rPr>
                <a:latin typeface="PP Object Sans Regular"/>
                <a:ea typeface="PP Object Sans Regular"/>
                <a:cs typeface="PP Object Sans Regular"/>
                <a:sym typeface="PP Object Sans Regular"/>
              </a:rPr>
              <a:t>, </a:t>
            </a:r>
            <a:r>
              <a:t>Fulfillment — 42</a:t>
            </a:r>
            <a:r>
              <a:rPr>
                <a:latin typeface="PP Object Sans Regular"/>
                <a:ea typeface="PP Object Sans Regular"/>
                <a:cs typeface="PP Object Sans Regular"/>
                <a:sym typeface="PP Object Sans Regular"/>
              </a:rPr>
              <a:t>, </a:t>
            </a:r>
            <a:r>
              <a:t>Other — 22</a:t>
            </a:r>
            <a:r>
              <a:rPr>
                <a:latin typeface="PP Object Sans Regular"/>
                <a:ea typeface="PP Object Sans Regular"/>
                <a:cs typeface="PP Object Sans Regular"/>
                <a:sym typeface="PP Object Sans Regular"/>
              </a:rPr>
              <a:t>.</a:t>
            </a:r>
            <a:endParaRPr>
              <a:latin typeface="PP Object Sans Regular"/>
              <a:ea typeface="PP Object Sans Regular"/>
              <a:cs typeface="PP Object Sans Regular"/>
              <a:sym typeface="PP Object Sans Regular"/>
            </a:endParaRPr>
          </a:p>
          <a:p>
            <a:pPr marL="269747" indent="-187324" defTabSz="269747">
              <a:lnSpc>
                <a:spcPct val="100000"/>
              </a:lnSpc>
              <a:spcBef>
                <a:spcPts val="700"/>
              </a:spcBef>
              <a:buFont typeface="Times Roman"/>
              <a:defRPr sz="1179">
                <a:latin typeface="PP Object Sans Heavy"/>
                <a:ea typeface="PP Object Sans Heavy"/>
                <a:cs typeface="PP Object Sans Heavy"/>
                <a:sym typeface="PP Object Sans Heavy"/>
              </a:defRPr>
            </a:pPr>
            <a:r>
              <a:t>Магнит Маркет:</a:t>
            </a:r>
            <a:r>
              <a:rPr>
                <a:latin typeface="PP Object Sans Regular"/>
                <a:ea typeface="PP Object Sans Regular"/>
                <a:cs typeface="PP Object Sans Regular"/>
                <a:sym typeface="PP Object Sans Regular"/>
              </a:rPr>
              <a:t> доминирует </a:t>
            </a:r>
            <a:r>
              <a:t>Fulfillment/Post-purchase — 156</a:t>
            </a:r>
            <a:r>
              <a:rPr>
                <a:latin typeface="PP Object Sans Regular"/>
                <a:ea typeface="PP Object Sans Regular"/>
                <a:cs typeface="PP Object Sans Regular"/>
                <a:sym typeface="PP Object Sans Regular"/>
              </a:rPr>
              <a:t> (возвраты/деньги </a:t>
            </a:r>
            <a:r>
              <a:t>45</a:t>
            </a:r>
            <a:r>
              <a:rPr>
                <a:latin typeface="PP Object Sans Regular"/>
                <a:ea typeface="PP Object Sans Regular"/>
                <a:cs typeface="PP Object Sans Regular"/>
                <a:sym typeface="PP Object Sans Regular"/>
              </a:rPr>
              <a:t>, недовложения </a:t>
            </a:r>
            <a:r>
              <a:t>38</a:t>
            </a:r>
            <a:r>
              <a:rPr>
                <a:latin typeface="PP Object Sans Regular"/>
                <a:ea typeface="PP Object Sans Regular"/>
                <a:cs typeface="PP Object Sans Regular"/>
                <a:sym typeface="PP Object Sans Regular"/>
              </a:rPr>
              <a:t>, задержки </a:t>
            </a:r>
            <a:r>
              <a:t>35</a:t>
            </a:r>
            <a:r>
              <a:rPr>
                <a:latin typeface="PP Object Sans Regular"/>
                <a:ea typeface="PP Object Sans Regular"/>
                <a:cs typeface="PP Object Sans Regular"/>
                <a:sym typeface="PP Object Sans Regular"/>
              </a:rPr>
              <a:t>); далее </a:t>
            </a:r>
            <a:r>
              <a:t>Exposure/Trust — 90</a:t>
            </a:r>
            <a:r>
              <a:rPr>
                <a:latin typeface="PP Object Sans Regular"/>
                <a:ea typeface="PP Object Sans Regular"/>
                <a:cs typeface="PP Object Sans Regular"/>
                <a:sym typeface="PP Object Sans Regular"/>
              </a:rPr>
              <a:t>, </a:t>
            </a:r>
            <a:r>
              <a:t>Checkout/Payments — 22</a:t>
            </a:r>
            <a:r>
              <a:rPr>
                <a:latin typeface="PP Object Sans Regular"/>
                <a:ea typeface="PP Object Sans Regular"/>
                <a:cs typeface="PP Object Sans Regular"/>
                <a:sym typeface="PP Object Sans Regular"/>
              </a:rPr>
              <a:t>, </a:t>
            </a:r>
            <a:r>
              <a:t>Other — 25</a:t>
            </a:r>
            <a:r>
              <a:rPr>
                <a:latin typeface="PP Object Sans Regular"/>
                <a:ea typeface="PP Object Sans Regular"/>
                <a:cs typeface="PP Object Sans Regular"/>
                <a:sym typeface="PP Object Sans Regular"/>
              </a:rPr>
              <a:t>.</a:t>
            </a:r>
            <a:endParaRPr>
              <a:latin typeface="PP Object Sans Regular"/>
              <a:ea typeface="PP Object Sans Regular"/>
              <a:cs typeface="PP Object Sans Regular"/>
              <a:sym typeface="PP Object Sans Regular"/>
            </a:endParaRPr>
          </a:p>
          <a:p>
            <a:pPr marL="269747" indent="-187324" defTabSz="269747">
              <a:lnSpc>
                <a:spcPct val="100000"/>
              </a:lnSpc>
              <a:spcBef>
                <a:spcPts val="700"/>
              </a:spcBef>
              <a:buFont typeface="Times Roman"/>
              <a:defRPr sz="1179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t>Совпадение с UX-аудитом:</a:t>
            </a:r>
            <a:br/>
            <a:r>
              <a:t>— «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Два сценария/две корзины</a:t>
            </a:r>
            <a:r>
              <a:t>» и слабая видимость Market на главной → объясняет падение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Views/CTR</a:t>
            </a:r>
            <a:r>
              <a:t>.</a:t>
            </a:r>
            <a:br/>
            <a:r>
              <a:t>— Отсутствие «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быстрого +</a:t>
            </a:r>
            <a:r>
              <a:t>» на PLP → объясняет низкий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ATC</a:t>
            </a:r>
            <a:r>
              <a:t>.</a:t>
            </a:r>
            <a:br/>
            <a:r>
              <a:t>— Боли Маркета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после оплаты</a:t>
            </a:r>
            <a:r>
              <a:t> → разрыв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MBC→MDC</a:t>
            </a:r>
            <a:r>
              <a:t> и падение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Repeat/NP</a:t>
            </a:r>
            <a:endParaRPr>
              <a:latin typeface="PP Object Sans Heavy"/>
              <a:ea typeface="PP Object Sans Heavy"/>
              <a:cs typeface="PP Object Sans Heavy"/>
              <a:sym typeface="PP Object Sans Heavy"/>
            </a:endParaRPr>
          </a:p>
          <a:p>
            <a:pPr marL="269747" indent="-187324" defTabSz="269747">
              <a:lnSpc>
                <a:spcPct val="100000"/>
              </a:lnSpc>
              <a:spcBef>
                <a:spcPts val="700"/>
              </a:spcBef>
              <a:buFont typeface="Times Roman"/>
              <a:defRPr sz="1179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endParaRPr>
              <a:latin typeface="PP Object Sans Heavy"/>
              <a:ea typeface="PP Object Sans Heavy"/>
              <a:cs typeface="PP Object Sans Heavy"/>
              <a:sym typeface="PP Object Sans Heavy"/>
            </a:endParaRPr>
          </a:p>
          <a:p>
            <a:pPr marL="0" indent="0" defTabSz="269747">
              <a:lnSpc>
                <a:spcPct val="100000"/>
              </a:lnSpc>
              <a:spcBef>
                <a:spcPts val="700"/>
              </a:spcBef>
              <a:buSzTx/>
              <a:buNone/>
              <a:defRPr sz="1179">
                <a:latin typeface="PP Object Sans Heavy"/>
                <a:ea typeface="PP Object Sans Heavy"/>
                <a:cs typeface="PP Object Sans Heavy"/>
                <a:sym typeface="PP Object Sans Heavy"/>
              </a:defRPr>
            </a:pPr>
            <a:r>
              <a:t>Качество и ограничения данных (честно)</a:t>
            </a:r>
            <a:endParaRPr>
              <a:latin typeface="PP Object Sans Regular"/>
              <a:ea typeface="PP Object Sans Regular"/>
              <a:cs typeface="PP Object Sans Regular"/>
              <a:sym typeface="PP Object Sans Regular"/>
            </a:endParaRPr>
          </a:p>
          <a:p>
            <a:pPr marL="269747" indent="-187324" defTabSz="269747">
              <a:lnSpc>
                <a:spcPct val="100000"/>
              </a:lnSpc>
              <a:spcBef>
                <a:spcPts val="700"/>
              </a:spcBef>
              <a:buFont typeface="Times Roman"/>
              <a:defRPr sz="1179">
                <a:latin typeface="PP Object Sans Heavy"/>
                <a:ea typeface="PP Object Sans Heavy"/>
                <a:cs typeface="PP Object Sans Heavy"/>
                <a:sym typeface="PP Object Sans Heavy"/>
              </a:defRPr>
            </a:pPr>
            <a:r>
              <a:t>Смещение отзывов (negativity bias):</a:t>
            </a:r>
            <a:r>
              <a:rPr>
                <a:latin typeface="PP Object Sans Regular"/>
                <a:ea typeface="PP Object Sans Regular"/>
                <a:cs typeface="PP Object Sans Regular"/>
                <a:sym typeface="PP Object Sans Regular"/>
              </a:rPr>
              <a:t> это не репрезентативная выборка, а </a:t>
            </a:r>
            <a:r>
              <a:t>радар болей</a:t>
            </a:r>
            <a:r>
              <a:rPr>
                <a:latin typeface="PP Object Sans Regular"/>
                <a:ea typeface="PP Object Sans Regular"/>
                <a:cs typeface="PP Object Sans Regular"/>
                <a:sym typeface="PP Object Sans Regular"/>
              </a:rPr>
              <a:t>. Мы используем частоты как </a:t>
            </a:r>
            <a:r>
              <a:t>веса проблем</a:t>
            </a:r>
            <a:r>
              <a:rPr>
                <a:latin typeface="PP Object Sans Regular"/>
                <a:ea typeface="PP Object Sans Regular"/>
                <a:cs typeface="PP Object Sans Regular"/>
                <a:sym typeface="PP Object Sans Regular"/>
              </a:rPr>
              <a:t>, а не как доли всей аудитории.</a:t>
            </a:r>
            <a:endParaRPr>
              <a:latin typeface="PP Object Sans Regular"/>
              <a:ea typeface="PP Object Sans Regular"/>
              <a:cs typeface="PP Object Sans Regular"/>
              <a:sym typeface="PP Object Sans Regular"/>
            </a:endParaRPr>
          </a:p>
          <a:p>
            <a:pPr marL="269747" indent="-187324" defTabSz="269747">
              <a:lnSpc>
                <a:spcPct val="100000"/>
              </a:lnSpc>
              <a:spcBef>
                <a:spcPts val="700"/>
              </a:spcBef>
              <a:buFont typeface="Times Roman"/>
              <a:defRPr sz="1179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Статика скринов:</a:t>
            </a:r>
            <a:r>
              <a:t> видимость/скролл нужно подтвердить продуктовой метрикой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Views/CTR</a:t>
            </a:r>
            <a:r>
              <a:t> и A/B.</a:t>
            </a:r>
          </a:p>
          <a:p>
            <a:pPr marL="269747" indent="-187324" defTabSz="269747">
              <a:lnSpc>
                <a:spcPct val="100000"/>
              </a:lnSpc>
              <a:spcBef>
                <a:spcPts val="700"/>
              </a:spcBef>
              <a:buFont typeface="Times Roman"/>
              <a:defRPr sz="1179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Без «додумываний»:</a:t>
            </a:r>
            <a:r>
              <a:t> абсолюты покупателей считаем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только через aMAU</a:t>
            </a:r>
            <a:r>
              <a:t>, а не от «сырых MAU»; исполнение — через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Fulfillment_success</a:t>
            </a:r>
            <a:r>
              <a:t>.</a:t>
            </a:r>
          </a:p>
          <a:p>
            <a:pPr marL="0" indent="0" defTabSz="269747">
              <a:lnSpc>
                <a:spcPct val="100000"/>
              </a:lnSpc>
              <a:spcBef>
                <a:spcPts val="0"/>
              </a:spcBef>
              <a:buSzTx/>
              <a:buNone/>
              <a:defRPr sz="1179">
                <a:solidFill>
                  <a:srgbClr val="808080"/>
                </a:solidFill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</a:p>
          <a:p>
            <a:pPr marL="0" indent="0" defTabSz="269747">
              <a:lnSpc>
                <a:spcPct val="100000"/>
              </a:lnSpc>
              <a:spcBef>
                <a:spcPts val="700"/>
              </a:spcBef>
              <a:buSzTx/>
              <a:buNone/>
              <a:defRPr sz="1179">
                <a:latin typeface="PP Object Sans Heavy"/>
                <a:ea typeface="PP Object Sans Heavy"/>
                <a:cs typeface="PP Object Sans Heavy"/>
                <a:sym typeface="PP Object Sans Heavy"/>
              </a:defRPr>
            </a:pPr>
            <a:r>
              <a:t>Вывод на принятие решений (decision-grade)</a:t>
            </a:r>
            <a:endParaRPr>
              <a:latin typeface="PP Object Sans Regular"/>
              <a:ea typeface="PP Object Sans Regular"/>
              <a:cs typeface="PP Object Sans Regular"/>
              <a:sym typeface="PP Object Sans Regular"/>
            </a:endParaRPr>
          </a:p>
          <a:p>
            <a:pPr marL="269747" indent="-187324" defTabSz="269747">
              <a:lnSpc>
                <a:spcPct val="100000"/>
              </a:lnSpc>
              <a:spcBef>
                <a:spcPts val="700"/>
              </a:spcBef>
              <a:buSzPct val="100000"/>
              <a:buFont typeface="Times Roman"/>
              <a:defRPr sz="1179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Гипотеза «Intent-барьер» отвергнута</a:t>
            </a:r>
            <a:r>
              <a:t> (товар можно класть без адреса/слота).</a:t>
            </a:r>
          </a:p>
          <a:p>
            <a:pPr marL="269747" indent="-187324" defTabSz="269747">
              <a:lnSpc>
                <a:spcPct val="100000"/>
              </a:lnSpc>
              <a:spcBef>
                <a:spcPts val="700"/>
              </a:spcBef>
              <a:buSzPct val="100000"/>
              <a:buFont typeface="Times Roman"/>
              <a:defRPr sz="1179">
                <a:latin typeface="PP Object Sans Heavy"/>
                <a:ea typeface="PP Object Sans Heavy"/>
                <a:cs typeface="PP Object Sans Heavy"/>
                <a:sym typeface="PP Object Sans Heavy"/>
              </a:defRPr>
            </a:pPr>
            <a:r>
              <a:t>Три подтверждённых корня потерь:</a:t>
            </a:r>
            <a:endParaRPr>
              <a:latin typeface="PP Object Sans Regular"/>
              <a:ea typeface="PP Object Sans Regular"/>
              <a:cs typeface="PP Object Sans Regular"/>
              <a:sym typeface="PP Object Sans Regular"/>
            </a:endParaRPr>
          </a:p>
          <a:p>
            <a:pPr lvl="1" marL="539495" indent="-187324" defTabSz="269747">
              <a:lnSpc>
                <a:spcPct val="100000"/>
              </a:lnSpc>
              <a:spcBef>
                <a:spcPts val="700"/>
              </a:spcBef>
              <a:buSzPct val="100000"/>
              <a:buFont typeface="Times Roman"/>
              <a:buAutoNum type="arabicPeriod" startAt="1"/>
              <a:defRPr sz="1179">
                <a:latin typeface="PP Object Sans Heavy"/>
                <a:ea typeface="PP Object Sans Heavy"/>
                <a:cs typeface="PP Object Sans Heavy"/>
                <a:sym typeface="PP Object Sans Heavy"/>
              </a:defRPr>
            </a:pPr>
            <a:r>
              <a:t>Навигация/две корзины</a:t>
            </a:r>
            <a:r>
              <a:rPr>
                <a:latin typeface="PP Object Sans Regular"/>
                <a:ea typeface="PP Object Sans Regular"/>
                <a:cs typeface="PP Object Sans Regular"/>
                <a:sym typeface="PP Object Sans Regular"/>
              </a:rPr>
              <a:t> → Views/CTR/Checkout.</a:t>
            </a:r>
            <a:endParaRPr>
              <a:latin typeface="PP Object Sans Regular"/>
              <a:ea typeface="PP Object Sans Regular"/>
              <a:cs typeface="PP Object Sans Regular"/>
              <a:sym typeface="PP Object Sans Regular"/>
            </a:endParaRPr>
          </a:p>
          <a:p>
            <a:pPr lvl="1" marL="539495" indent="-187324" defTabSz="269747">
              <a:lnSpc>
                <a:spcPct val="100000"/>
              </a:lnSpc>
              <a:spcBef>
                <a:spcPts val="700"/>
              </a:spcBef>
              <a:buSzPct val="100000"/>
              <a:buFont typeface="Times Roman"/>
              <a:buAutoNum type="arabicPeriod" startAt="1"/>
              <a:defRPr sz="1179">
                <a:latin typeface="PP Object Sans Heavy"/>
                <a:ea typeface="PP Object Sans Heavy"/>
                <a:cs typeface="PP Object Sans Heavy"/>
                <a:sym typeface="PP Object Sans Heavy"/>
              </a:defRPr>
            </a:pPr>
            <a:r>
              <a:t>Нет быстрого ATC с PLP</a:t>
            </a:r>
            <a:r>
              <a:rPr>
                <a:latin typeface="PP Object Sans Regular"/>
                <a:ea typeface="PP Object Sans Regular"/>
                <a:cs typeface="PP Object Sans Regular"/>
                <a:sym typeface="PP Object Sans Regular"/>
              </a:rPr>
              <a:t> → ATC CVR.</a:t>
            </a:r>
            <a:endParaRPr>
              <a:latin typeface="PP Object Sans Regular"/>
              <a:ea typeface="PP Object Sans Regular"/>
              <a:cs typeface="PP Object Sans Regular"/>
              <a:sym typeface="PP Object Sans Regular"/>
            </a:endParaRPr>
          </a:p>
          <a:p>
            <a:pPr lvl="1" marL="539495" indent="-187324" defTabSz="269747">
              <a:lnSpc>
                <a:spcPct val="100000"/>
              </a:lnSpc>
              <a:spcBef>
                <a:spcPts val="700"/>
              </a:spcBef>
              <a:buSzPct val="100000"/>
              <a:buFont typeface="Times Roman"/>
              <a:buAutoNum type="arabicPeriod" startAt="1"/>
              <a:defRPr sz="1179">
                <a:latin typeface="PP Object Sans Heavy"/>
                <a:ea typeface="PP Object Sans Heavy"/>
                <a:cs typeface="PP Object Sans Heavy"/>
                <a:sym typeface="PP Object Sans Heavy"/>
              </a:defRPr>
            </a:pPr>
            <a:r>
              <a:t>Post-purchase боли Маркета</a:t>
            </a:r>
            <a:r>
              <a:rPr>
                <a:latin typeface="PP Object Sans Regular"/>
                <a:ea typeface="PP Object Sans Regular"/>
                <a:cs typeface="PP Object Sans Regular"/>
                <a:sym typeface="PP Object Sans Regular"/>
              </a:rPr>
              <a:t> → MDC/Repeat.</a:t>
            </a:r>
            <a:endParaRPr>
              <a:latin typeface="PP Object Sans Regular"/>
              <a:ea typeface="PP Object Sans Regular"/>
              <a:cs typeface="PP Object Sans Regular"/>
              <a:sym typeface="PP Object Sans Regular"/>
            </a:endParaRPr>
          </a:p>
          <a:p>
            <a:pPr marL="269747" indent="-187324" defTabSz="269747">
              <a:lnSpc>
                <a:spcPct val="100000"/>
              </a:lnSpc>
              <a:spcBef>
                <a:spcPts val="700"/>
              </a:spcBef>
              <a:buSzPct val="100000"/>
              <a:buFont typeface="Times Roman"/>
              <a:defRPr sz="1179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t>Этого достаточно, чтобы сформировать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4 инициативы H1</a:t>
            </a:r>
            <a:r>
              <a:t> и задать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MDE</a:t>
            </a:r>
            <a:r>
              <a:t> на каждый шаг воронки (см. следующий слайд).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Карта проблем по воронке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16421">
              <a:defRPr b="0" spc="-161" sz="8075">
                <a:latin typeface="PP Object Sans Heavy"/>
                <a:ea typeface="PP Object Sans Heavy"/>
                <a:cs typeface="PP Object Sans Heavy"/>
                <a:sym typeface="PP Object Sans Heavy"/>
              </a:defRPr>
            </a:lvl1pPr>
          </a:lstStyle>
          <a:p>
            <a:pPr/>
            <a:r>
              <a:t>Карта проблем по воронке</a:t>
            </a:r>
          </a:p>
        </p:txBody>
      </p:sp>
      <p:sp>
        <p:nvSpPr>
          <p:cNvPr id="194" name="Цель: показать, где именно рвётся путь к покупке в OMNI→Маркет и какой шаг воронки страдает. Источники — ваша база отзывов (665 сигналов) + UX-аудит скринов (главная/PLP/PDP/две корзины/чекауты/пост-чекаут).…"/>
          <p:cNvSpPr txBox="1"/>
          <p:nvPr>
            <p:ph type="body" idx="1"/>
          </p:nvPr>
        </p:nvSpPr>
        <p:spPr>
          <a:xfrm>
            <a:off x="1206500" y="2561789"/>
            <a:ext cx="21971000" cy="10943147"/>
          </a:xfrm>
          <a:prstGeom prst="rect">
            <a:avLst/>
          </a:prstGeom>
        </p:spPr>
        <p:txBody>
          <a:bodyPr/>
          <a:lstStyle/>
          <a:p>
            <a:pPr marL="0" indent="0" defTabSz="310895">
              <a:lnSpc>
                <a:spcPct val="100000"/>
              </a:lnSpc>
              <a:spcBef>
                <a:spcPts val="800"/>
              </a:spcBef>
              <a:buSzTx/>
              <a:buNone/>
              <a:defRPr sz="136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Цель:</a:t>
            </a:r>
            <a:r>
              <a:t> показать, где именно рвётся путь к покупке в OMNI→Маркет и какой шаг воронки страдает. Источники — ваша база отзывов (665 сигналов) + UX-аудит скринов (главная/PLP/PDP/две корзины/чекауты/пост-чекаут).</a:t>
            </a:r>
          </a:p>
          <a:p>
            <a:pPr marL="0" indent="0" defTabSz="310895">
              <a:lnSpc>
                <a:spcPct val="100000"/>
              </a:lnSpc>
              <a:spcBef>
                <a:spcPts val="0"/>
              </a:spcBef>
              <a:buSzTx/>
              <a:buNone/>
              <a:defRPr sz="1360">
                <a:solidFill>
                  <a:srgbClr val="808080"/>
                </a:solidFill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</a:p>
          <a:p>
            <a:pPr marL="0" indent="0" defTabSz="310895">
              <a:lnSpc>
                <a:spcPct val="100000"/>
              </a:lnSpc>
              <a:spcBef>
                <a:spcPts val="900"/>
              </a:spcBef>
              <a:buSzTx/>
              <a:buNone/>
              <a:defRPr sz="1360">
                <a:latin typeface="PP Object Sans Heavy"/>
                <a:ea typeface="PP Object Sans Heavy"/>
                <a:cs typeface="PP Object Sans Heavy"/>
                <a:sym typeface="PP Object Sans Heavy"/>
              </a:defRPr>
            </a:pPr>
            <a:r>
              <a:t>1) Exposure → CTR (входы и понятность пути)</a:t>
            </a:r>
          </a:p>
          <a:p>
            <a:pPr marL="0" indent="0" defTabSz="310895">
              <a:lnSpc>
                <a:spcPct val="100000"/>
              </a:lnSpc>
              <a:spcBef>
                <a:spcPts val="800"/>
              </a:spcBef>
              <a:buSzTx/>
              <a:buNone/>
              <a:defRPr sz="136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Что не так:</a:t>
            </a:r>
            <a:r>
              <a:t> в одном приложении сосуществуют «Доставка из магазина» и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Магнит Маркет</a:t>
            </a:r>
            <a:r>
              <a:t> →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две корзины/два флоу</a:t>
            </a:r>
            <a:r>
              <a:t>; Market «ниже сгиба», нет короткого объяснения различий; поиск и витрины ведут в разные миры.</a:t>
            </a:r>
            <a:br/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Маркеры интерфейса:</a:t>
            </a:r>
            <a:r>
              <a:t> сложная навигация; дубляж точек входа; нет бейджа источника на карточке.</a:t>
            </a:r>
            <a:br/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Сигналы отзывов:</a:t>
            </a:r>
          </a:p>
          <a:p>
            <a:pPr marL="310895" indent="-215900" defTabSz="310895">
              <a:lnSpc>
                <a:spcPct val="100000"/>
              </a:lnSpc>
              <a:spcBef>
                <a:spcPts val="800"/>
              </a:spcBef>
              <a:buFont typeface="Times Roman"/>
              <a:defRPr sz="136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Магнит:</a:t>
            </a:r>
            <a:r>
              <a:t>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273</a:t>
            </a:r>
            <a:r>
              <a:t> упоминания блока </a:t>
            </a:r>
            <a:r>
              <a:rPr i="1"/>
              <a:t>Exposure/Надёжность/Доверие</a:t>
            </a:r>
            <a:r>
              <a:t> (техсбои 65; бонусы 52; QR-код 48) → падает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Views/CTR</a:t>
            </a:r>
            <a:r>
              <a:t>.</a:t>
            </a:r>
          </a:p>
          <a:p>
            <a:pPr marL="310895" indent="-215900" defTabSz="310895">
              <a:lnSpc>
                <a:spcPct val="100000"/>
              </a:lnSpc>
              <a:spcBef>
                <a:spcPts val="800"/>
              </a:spcBef>
              <a:buFont typeface="Times Roman"/>
              <a:defRPr sz="136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Магнит Маркет:</a:t>
            </a:r>
            <a:r>
              <a:t>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90</a:t>
            </a:r>
            <a:r>
              <a:t> упоминаний </a:t>
            </a:r>
            <a:r>
              <a:rPr i="1"/>
              <a:t>Exposure/Trust</a:t>
            </a:r>
            <a:r>
              <a:t> (модерация отзывов 32; саппорт 30; системные сбои 28) → ниже переходы к шопингу.</a:t>
            </a:r>
            <a:br/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Метрики-мишени:</a:t>
            </a:r>
            <a:r>
              <a:t> Share_exposed, CTR входов, Time-to-first-shop.</a:t>
            </a:r>
          </a:p>
          <a:p>
            <a:pPr marL="0" indent="0" defTabSz="310895">
              <a:lnSpc>
                <a:spcPct val="100000"/>
              </a:lnSpc>
              <a:spcBef>
                <a:spcPts val="0"/>
              </a:spcBef>
              <a:buSzTx/>
              <a:buNone/>
              <a:defRPr sz="1360">
                <a:solidFill>
                  <a:srgbClr val="808080"/>
                </a:solidFill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</a:p>
          <a:p>
            <a:pPr marL="0" indent="0" defTabSz="310895">
              <a:lnSpc>
                <a:spcPct val="100000"/>
              </a:lnSpc>
              <a:spcBef>
                <a:spcPts val="900"/>
              </a:spcBef>
              <a:buSzTx/>
              <a:buNone/>
              <a:defRPr sz="1360">
                <a:latin typeface="PP Object Sans Heavy"/>
                <a:ea typeface="PP Object Sans Heavy"/>
                <a:cs typeface="PP Object Sans Heavy"/>
                <a:sym typeface="PP Object Sans Heavy"/>
              </a:defRPr>
            </a:pPr>
            <a:r>
              <a:t>2) ATC (добавление в корзину)</a:t>
            </a:r>
          </a:p>
          <a:p>
            <a:pPr marL="0" indent="0" defTabSz="310895">
              <a:lnSpc>
                <a:spcPct val="100000"/>
              </a:lnSpc>
              <a:spcBef>
                <a:spcPts val="800"/>
              </a:spcBef>
              <a:buSzTx/>
              <a:buNone/>
              <a:defRPr sz="136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Что не так:</a:t>
            </a:r>
            <a:r>
              <a:t>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нет быстрого “+” на PLP</a:t>
            </a:r>
            <a:r>
              <a:t> для безатрибутных SKU; для любого добавления надо идти в PDP → лишний клик, длинный «путь до первой единицы».</a:t>
            </a:r>
            <a:br/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Маркеры интерфейса:</a:t>
            </a:r>
            <a:r>
              <a:t> PLP без кнопки добавления; нет мультивыбора; «Мои 20/Покупай снова» ниже сгиба.</a:t>
            </a:r>
            <a:br/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Сигналы отзывов:</a:t>
            </a:r>
            <a:r>
              <a:t> косвенные (не как отдельная категория, но подтверждено UX-аудитом).</a:t>
            </a:r>
            <a:br/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Метрики-мишени:</a:t>
            </a:r>
            <a:r>
              <a:t> ATC CVR, ATC latency (медиана «сессия→первый ATC»), ATC/Session, AOV.</a:t>
            </a:r>
          </a:p>
          <a:p>
            <a:pPr marL="0" indent="0" defTabSz="310895">
              <a:lnSpc>
                <a:spcPct val="100000"/>
              </a:lnSpc>
              <a:spcBef>
                <a:spcPts val="0"/>
              </a:spcBef>
              <a:buSzTx/>
              <a:buNone/>
              <a:defRPr sz="1360">
                <a:solidFill>
                  <a:srgbClr val="808080"/>
                </a:solidFill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</a:p>
          <a:p>
            <a:pPr marL="0" indent="0" defTabSz="310895">
              <a:lnSpc>
                <a:spcPct val="100000"/>
              </a:lnSpc>
              <a:spcBef>
                <a:spcPts val="900"/>
              </a:spcBef>
              <a:buSzTx/>
              <a:buNone/>
              <a:defRPr sz="1360">
                <a:latin typeface="PP Object Sans Heavy"/>
                <a:ea typeface="PP Object Sans Heavy"/>
                <a:cs typeface="PP Object Sans Heavy"/>
                <a:sym typeface="PP Object Sans Heavy"/>
              </a:defRPr>
            </a:pPr>
            <a:r>
              <a:t>3) Checkout (структурное трение при «смешанных корзинах»)</a:t>
            </a:r>
          </a:p>
          <a:p>
            <a:pPr marL="0" indent="0" defTabSz="310895">
              <a:lnSpc>
                <a:spcPct val="100000"/>
              </a:lnSpc>
              <a:spcBef>
                <a:spcPts val="800"/>
              </a:spcBef>
              <a:buSzTx/>
              <a:buNone/>
              <a:defRPr sz="136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Что не так:</a:t>
            </a:r>
            <a:r>
              <a:t> проблема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не</a:t>
            </a:r>
            <a:r>
              <a:t> в платежах — она архитектурная: товары из разных источников → разные правила оформления; без «моста» пользователь теряет контекст.</a:t>
            </a:r>
            <a:br/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Сигналы отзывов:</a:t>
            </a:r>
          </a:p>
          <a:p>
            <a:pPr marL="310895" indent="-215900" defTabSz="310895">
              <a:lnSpc>
                <a:spcPct val="100000"/>
              </a:lnSpc>
              <a:spcBef>
                <a:spcPts val="800"/>
              </a:spcBef>
              <a:buFont typeface="Times Roman"/>
              <a:defRPr sz="136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Магнит:</a:t>
            </a:r>
            <a:r>
              <a:t>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35</a:t>
            </a:r>
            <a:r>
              <a:t> упоминаний </a:t>
            </a:r>
            <a:r>
              <a:rPr i="1"/>
              <a:t>Auth/SMS</a:t>
            </a:r>
            <a:r>
              <a:t> (локальные дропы).</a:t>
            </a:r>
          </a:p>
          <a:p>
            <a:pPr marL="310895" indent="-215900" defTabSz="310895">
              <a:lnSpc>
                <a:spcPct val="100000"/>
              </a:lnSpc>
              <a:spcBef>
                <a:spcPts val="800"/>
              </a:spcBef>
              <a:buFont typeface="Times Roman"/>
              <a:defRPr sz="136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Магнит Маркет:</a:t>
            </a:r>
            <a:r>
              <a:t>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22</a:t>
            </a:r>
            <a:r>
              <a:t> упоминания </a:t>
            </a:r>
            <a:r>
              <a:rPr i="1"/>
              <a:t>Payments</a:t>
            </a:r>
            <a:r>
              <a:t> (редкие инциденты).</a:t>
            </a:r>
            <a:br/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Метрики-мишени:</a:t>
            </a:r>
            <a:r>
              <a:t> Checkout CVR (mixed vs non-mixed), Drop@Mixed-Cart, Pay-success (guardrail).</a:t>
            </a:r>
          </a:p>
          <a:p>
            <a:pPr marL="0" indent="0" defTabSz="310895">
              <a:lnSpc>
                <a:spcPct val="100000"/>
              </a:lnSpc>
              <a:spcBef>
                <a:spcPts val="0"/>
              </a:spcBef>
              <a:buSzTx/>
              <a:buNone/>
              <a:defRPr sz="1360">
                <a:solidFill>
                  <a:srgbClr val="808080"/>
                </a:solidFill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</a:p>
          <a:p>
            <a:pPr marL="0" indent="0" defTabSz="310895">
              <a:lnSpc>
                <a:spcPct val="100000"/>
              </a:lnSpc>
              <a:spcBef>
                <a:spcPts val="900"/>
              </a:spcBef>
              <a:buSzTx/>
              <a:buNone/>
              <a:defRPr sz="1360">
                <a:latin typeface="PP Object Sans Heavy"/>
                <a:ea typeface="PP Object Sans Heavy"/>
                <a:cs typeface="PP Object Sans Heavy"/>
                <a:sym typeface="PP Object Sans Heavy"/>
              </a:defRPr>
            </a:pPr>
            <a:r>
              <a:t>4) Fulfillment → Repeat/NPS (после оплаты)</a:t>
            </a:r>
          </a:p>
          <a:p>
            <a:pPr marL="0" indent="0" defTabSz="310895">
              <a:lnSpc>
                <a:spcPct val="100000"/>
              </a:lnSpc>
              <a:spcBef>
                <a:spcPts val="800"/>
              </a:spcBef>
              <a:buSzTx/>
              <a:buNone/>
              <a:defRPr sz="136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Что не так (Маркет):</a:t>
            </a:r>
            <a:r>
              <a:t> задержки (часто &gt;1 дня),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недовложения</a:t>
            </a:r>
            <a:r>
              <a:t>, «деньги/возвраты», слабая поддержка — бьёт по доверию и повтору; возникает разрыв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MBC→MDC</a:t>
            </a:r>
            <a:r>
              <a:t>.</a:t>
            </a:r>
            <a:br/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Сигналы отзывов:</a:t>
            </a:r>
          </a:p>
          <a:p>
            <a:pPr marL="310895" indent="-215900" defTabSz="310895">
              <a:lnSpc>
                <a:spcPct val="100000"/>
              </a:lnSpc>
              <a:spcBef>
                <a:spcPts val="800"/>
              </a:spcBef>
              <a:buFont typeface="Times Roman"/>
              <a:defRPr sz="136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Магнит Маркет:</a:t>
            </a:r>
            <a:r>
              <a:t>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156</a:t>
            </a:r>
            <a:r>
              <a:t> упоминаний </a:t>
            </a:r>
            <a:r>
              <a:rPr i="1"/>
              <a:t>Fulfillment/Post-purchase</a:t>
            </a:r>
            <a:r>
              <a:t> (возвраты/деньги 45; недовложения 38; задержки 35).</a:t>
            </a:r>
          </a:p>
          <a:p>
            <a:pPr marL="310895" indent="-215900" defTabSz="310895">
              <a:lnSpc>
                <a:spcPct val="100000"/>
              </a:lnSpc>
              <a:spcBef>
                <a:spcPts val="800"/>
              </a:spcBef>
              <a:buFont typeface="Times Roman"/>
              <a:defRPr sz="136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Магнит:</a:t>
            </a:r>
            <a:r>
              <a:t>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42</a:t>
            </a:r>
            <a:r>
              <a:t> упоминания </a:t>
            </a:r>
            <a:r>
              <a:rPr i="1"/>
              <a:t>доставки/отмен</a:t>
            </a:r>
            <a:r>
              <a:t> (влияние на экосистемное доверие).</a:t>
            </a:r>
            <a:br/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Метрики-мишени:</a:t>
            </a:r>
            <a:r>
              <a:t> Delivered-success %, On-time %, Post-purchase contact rate, Repeat 30/90d, NPS/CSAT.</a:t>
            </a:r>
          </a:p>
          <a:p>
            <a:pPr marL="0" indent="0" defTabSz="310895">
              <a:lnSpc>
                <a:spcPct val="100000"/>
              </a:lnSpc>
              <a:spcBef>
                <a:spcPts val="0"/>
              </a:spcBef>
              <a:buSzTx/>
              <a:buNone/>
              <a:defRPr sz="1360">
                <a:solidFill>
                  <a:srgbClr val="808080"/>
                </a:solidFill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</a:p>
          <a:p>
            <a:pPr marL="0" indent="0" defTabSz="310895">
              <a:lnSpc>
                <a:spcPct val="100000"/>
              </a:lnSpc>
              <a:spcBef>
                <a:spcPts val="900"/>
              </a:spcBef>
              <a:buSzTx/>
              <a:buNone/>
              <a:defRPr sz="1360">
                <a:latin typeface="PP Object Sans Heavy"/>
                <a:ea typeface="PP Object Sans Heavy"/>
                <a:cs typeface="PP Object Sans Heavy"/>
                <a:sym typeface="PP Object Sans Heavy"/>
              </a:defRPr>
            </a:pPr>
            <a:r>
              <a:t>5) Что не является фокусом (по текущим данным)</a:t>
            </a:r>
          </a:p>
          <a:p>
            <a:pPr marL="310895" indent="-215900" defTabSz="310895">
              <a:lnSpc>
                <a:spcPct val="100000"/>
              </a:lnSpc>
              <a:spcBef>
                <a:spcPts val="800"/>
              </a:spcBef>
              <a:buFont typeface="Times Roman"/>
              <a:defRPr sz="136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Intent-барьер отсутствует:</a:t>
            </a:r>
            <a:r>
              <a:t> в корзину можно класть без адреса/слота.</a:t>
            </a:r>
          </a:p>
          <a:p>
            <a:pPr marL="310895" indent="-215900" defTabSz="310895">
              <a:lnSpc>
                <a:spcPct val="100000"/>
              </a:lnSpc>
              <a:spcBef>
                <a:spcPts val="800"/>
              </a:spcBef>
              <a:buFont typeface="Times Roman"/>
              <a:defRPr sz="136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t>«1-тап/3-DS» и «замены» не surfaced как массовые проблемы — держим как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guardrails</a:t>
            </a:r>
            <a:r>
              <a:t>, но не кладём в топ-приоритет.</a:t>
            </a:r>
          </a:p>
          <a:p>
            <a:pPr marL="0" indent="0" defTabSz="310895">
              <a:lnSpc>
                <a:spcPct val="100000"/>
              </a:lnSpc>
              <a:spcBef>
                <a:spcPts val="0"/>
              </a:spcBef>
              <a:buSzTx/>
              <a:buNone/>
              <a:defRPr sz="1360">
                <a:solidFill>
                  <a:srgbClr val="808080"/>
                </a:solidFill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</a:p>
          <a:p>
            <a:pPr marL="0" indent="0" defTabSz="310895">
              <a:lnSpc>
                <a:spcPct val="100000"/>
              </a:lnSpc>
              <a:spcBef>
                <a:spcPts val="900"/>
              </a:spcBef>
              <a:buSzTx/>
              <a:buNone/>
              <a:defRPr sz="1360">
                <a:latin typeface="PP Object Sans Heavy"/>
                <a:ea typeface="PP Object Sans Heavy"/>
                <a:cs typeface="PP Object Sans Heavy"/>
                <a:sym typeface="PP Object Sans Heavy"/>
              </a:defRPr>
            </a:pPr>
            <a:r>
              <a:t>Как читать этот слайд (для C-level решения)</a:t>
            </a:r>
          </a:p>
          <a:p>
            <a:pPr marL="310895" indent="-215900" defTabSz="310895">
              <a:lnSpc>
                <a:spcPct val="100000"/>
              </a:lnSpc>
              <a:spcBef>
                <a:spcPts val="800"/>
              </a:spcBef>
              <a:buFont typeface="Times Roman"/>
              <a:defRPr sz="136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Где менять UI прямо сейчас:</a:t>
            </a:r>
            <a:r>
              <a:t> навигация/единый вход/бейдж источника (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Exposure/CTR</a:t>
            </a:r>
            <a:r>
              <a:t>), быстрый ATC с PLP (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ATC</a:t>
            </a:r>
            <a:r>
              <a:t>), «мост» для смешанных корзин (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Checkout</a:t>
            </a:r>
            <a:r>
              <a:t>).</a:t>
            </a:r>
          </a:p>
          <a:p>
            <a:pPr marL="310895" indent="-215900" defTabSz="310895">
              <a:lnSpc>
                <a:spcPct val="100000"/>
              </a:lnSpc>
              <a:spcBef>
                <a:spcPts val="800"/>
              </a:spcBef>
              <a:buFont typeface="Times Roman"/>
              <a:defRPr sz="136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Где менять процессы:</a:t>
            </a:r>
            <a:r>
              <a:t> статусы/ETA и претензии в 1 клик для Маркета (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Fulfillment → Repeat</a:t>
            </a:r>
            <a:r>
              <a:t>).</a:t>
            </a:r>
          </a:p>
          <a:p>
            <a:pPr marL="310895" indent="-215900" defTabSz="310895">
              <a:lnSpc>
                <a:spcPct val="100000"/>
              </a:lnSpc>
              <a:spcBef>
                <a:spcPts val="800"/>
              </a:spcBef>
              <a:buFont typeface="Times Roman"/>
              <a:defRPr sz="136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Что померить первым:</a:t>
            </a:r>
            <a:r>
              <a:t> Share_exposed, CTR входов; ATC latency; Checkout CVR (mixed vs non-mixed); Delivered-success/On-time; Contact rate.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Топ-проблемы пользователей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b="0" spc="0" sz="6500">
                <a:latin typeface="PP Object Sans Heavy"/>
                <a:ea typeface="PP Object Sans Heavy"/>
                <a:cs typeface="PP Object Sans Heavy"/>
                <a:sym typeface="PP Object Sans Heavy"/>
              </a:defRPr>
            </a:lvl1pPr>
          </a:lstStyle>
          <a:p>
            <a:pPr/>
            <a:r>
              <a:t>Топ-проблемы пользователей</a:t>
            </a:r>
          </a:p>
        </p:txBody>
      </p:sp>
      <p:sp>
        <p:nvSpPr>
          <p:cNvPr id="197" name="Магнит (top-5)…"/>
          <p:cNvSpPr txBox="1"/>
          <p:nvPr>
            <p:ph type="body" idx="1"/>
          </p:nvPr>
        </p:nvSpPr>
        <p:spPr>
          <a:xfrm>
            <a:off x="1206500" y="3060890"/>
            <a:ext cx="21971000" cy="7116861"/>
          </a:xfrm>
          <a:prstGeom prst="rect">
            <a:avLst/>
          </a:prstGeom>
        </p:spPr>
        <p:txBody>
          <a:bodyPr/>
          <a:lstStyle/>
          <a:p>
            <a:pPr marL="0" indent="0" defTabSz="457200">
              <a:lnSpc>
                <a:spcPct val="100000"/>
              </a:lnSpc>
              <a:spcBef>
                <a:spcPts val="1400"/>
              </a:spcBef>
              <a:buSzTx/>
              <a:buNone/>
              <a:defRPr sz="2000">
                <a:latin typeface="PP Object Sans Heavy"/>
                <a:ea typeface="PP Object Sans Heavy"/>
                <a:cs typeface="PP Object Sans Heavy"/>
                <a:sym typeface="PP Object Sans Heavy"/>
              </a:defRPr>
            </a:pPr>
            <a:r>
              <a:t>Магнит (top-5)</a:t>
            </a:r>
          </a:p>
          <a:p>
            <a:pPr marL="457200" indent="-317500" defTabSz="457200">
              <a:lnSpc>
                <a:spcPct val="100000"/>
              </a:lnSpc>
              <a:spcBef>
                <a:spcPts val="1200"/>
              </a:spcBef>
              <a:buSzPct val="100000"/>
              <a:buFont typeface="Times Roman"/>
              <a:buAutoNum type="arabicPeriod" startAt="1"/>
              <a:defRPr sz="200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t>Технические сбои/зависания —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65</a:t>
            </a:r>
          </a:p>
          <a:p>
            <a:pPr marL="457200" indent="-317500" defTabSz="457200">
              <a:lnSpc>
                <a:spcPct val="100000"/>
              </a:lnSpc>
              <a:spcBef>
                <a:spcPts val="1200"/>
              </a:spcBef>
              <a:buSzPct val="100000"/>
              <a:buFont typeface="Times Roman"/>
              <a:buAutoNum type="arabicPeriod" startAt="1"/>
              <a:defRPr sz="200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t>Проблемы со списанием бонусов —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52</a:t>
            </a:r>
          </a:p>
          <a:p>
            <a:pPr marL="457200" indent="-317500" defTabSz="457200">
              <a:lnSpc>
                <a:spcPct val="100000"/>
              </a:lnSpc>
              <a:spcBef>
                <a:spcPts val="1200"/>
              </a:spcBef>
              <a:buSzPct val="100000"/>
              <a:buFont typeface="Times Roman"/>
              <a:buAutoNum type="arabicPeriod" startAt="1"/>
              <a:defRPr sz="200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t>QR-код карты не отображается/не работает —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48</a:t>
            </a:r>
          </a:p>
          <a:p>
            <a:pPr marL="457200" indent="-317500" defTabSz="457200">
              <a:lnSpc>
                <a:spcPct val="100000"/>
              </a:lnSpc>
              <a:spcBef>
                <a:spcPts val="1200"/>
              </a:spcBef>
              <a:buSzPct val="100000"/>
              <a:buFont typeface="Times Roman"/>
              <a:buAutoNum type="arabicPeriod" startAt="1"/>
              <a:defRPr sz="200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t>Доставка: долгие сроки/отмены —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42</a:t>
            </a:r>
          </a:p>
          <a:p>
            <a:pPr marL="457200" indent="-317500" defTabSz="457200">
              <a:lnSpc>
                <a:spcPct val="100000"/>
              </a:lnSpc>
              <a:spcBef>
                <a:spcPts val="1200"/>
              </a:spcBef>
              <a:buSzPct val="100000"/>
              <a:buFont typeface="Times Roman"/>
              <a:buAutoNum type="arabicPeriod" startAt="1"/>
              <a:defRPr sz="200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t>Ошибки в истории покупок —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22</a:t>
            </a:r>
          </a:p>
          <a:p>
            <a:pPr marL="0" indent="0" defTabSz="457200">
              <a:lnSpc>
                <a:spcPct val="100000"/>
              </a:lnSpc>
              <a:spcBef>
                <a:spcPts val="1400"/>
              </a:spcBef>
              <a:buSzTx/>
              <a:buNone/>
              <a:defRPr sz="2000">
                <a:latin typeface="PP Object Sans Heavy"/>
                <a:ea typeface="PP Object Sans Heavy"/>
                <a:cs typeface="PP Object Sans Heavy"/>
                <a:sym typeface="PP Object Sans Heavy"/>
              </a:defRPr>
            </a:pPr>
            <a:r>
              <a:t>Магнит Маркет (top-5)</a:t>
            </a:r>
          </a:p>
          <a:p>
            <a:pPr marL="457200" indent="-317500" defTabSz="457200">
              <a:lnSpc>
                <a:spcPct val="100000"/>
              </a:lnSpc>
              <a:spcBef>
                <a:spcPts val="1200"/>
              </a:spcBef>
              <a:buSzPct val="100000"/>
              <a:buFont typeface="Times Roman"/>
              <a:buAutoNum type="arabicPeriod" startAt="1"/>
              <a:defRPr sz="200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t>Возвраты/деньги —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45</a:t>
            </a:r>
          </a:p>
          <a:p>
            <a:pPr marL="457200" indent="-317500" defTabSz="457200">
              <a:lnSpc>
                <a:spcPct val="100000"/>
              </a:lnSpc>
              <a:spcBef>
                <a:spcPts val="1200"/>
              </a:spcBef>
              <a:buSzPct val="100000"/>
              <a:buFont typeface="Times Roman"/>
              <a:buAutoNum type="arabicPeriod" startAt="1"/>
              <a:defRPr sz="200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t>Неправильная сборка/недовложения —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38</a:t>
            </a:r>
          </a:p>
          <a:p>
            <a:pPr marL="457200" indent="-317500" defTabSz="457200">
              <a:lnSpc>
                <a:spcPct val="100000"/>
              </a:lnSpc>
              <a:spcBef>
                <a:spcPts val="1200"/>
              </a:spcBef>
              <a:buSzPct val="100000"/>
              <a:buFont typeface="Times Roman"/>
              <a:buAutoNum type="arabicPeriod" startAt="1"/>
              <a:defRPr sz="200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t>Задержки доставки (&gt;1 дня) —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35</a:t>
            </a:r>
          </a:p>
          <a:p>
            <a:pPr marL="457200" indent="-317500" defTabSz="457200">
              <a:lnSpc>
                <a:spcPct val="100000"/>
              </a:lnSpc>
              <a:spcBef>
                <a:spcPts val="1200"/>
              </a:spcBef>
              <a:buSzPct val="100000"/>
              <a:buFont typeface="Times Roman"/>
              <a:buAutoNum type="arabicPeriod" startAt="1"/>
              <a:defRPr sz="200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t>Блокировка негативных отзывов —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32</a:t>
            </a:r>
          </a:p>
          <a:p>
            <a:pPr marL="457200" indent="-317500" defTabSz="457200">
              <a:lnSpc>
                <a:spcPct val="100000"/>
              </a:lnSpc>
              <a:spcBef>
                <a:spcPts val="1200"/>
              </a:spcBef>
              <a:buSzPct val="100000"/>
              <a:buFont typeface="Times Roman"/>
              <a:buAutoNum type="arabicPeriod" startAt="1"/>
              <a:defRPr sz="200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t>Неработающая служба поддержки —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30</a:t>
            </a:r>
          </a:p>
          <a:p>
            <a:pPr marL="0" indent="0" defTabSz="457200">
              <a:lnSpc>
                <a:spcPct val="100000"/>
              </a:lnSpc>
              <a:spcBef>
                <a:spcPts val="1200"/>
              </a:spcBef>
              <a:buSzTx/>
              <a:buNone/>
              <a:defRPr sz="200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t>Как это читаем: у «Магнита» доминируют темы, влияющие на доверие/надежность (косвенно бьют по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Views/CTR</a:t>
            </a:r>
            <a:r>
              <a:t>); у «Магнит Маркета» — «после-покупочные» боли (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Fulfillment → Repeat/NPS</a:t>
            </a:r>
            <a:r>
              <a:t>, разрыв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MBC→MDC</a:t>
            </a:r>
            <a:r>
              <a:t>). Глубже — на следующем слайде с диагнозом и приоритизацией.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Диагноз и приоритизация утечек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b="0" spc="0" sz="6500">
                <a:latin typeface="PP Object Sans Heavy"/>
                <a:ea typeface="PP Object Sans Heavy"/>
                <a:cs typeface="PP Object Sans Heavy"/>
                <a:sym typeface="PP Object Sans Heavy"/>
              </a:defRPr>
            </a:lvl1pPr>
          </a:lstStyle>
          <a:p>
            <a:pPr/>
            <a:r>
              <a:t>Диагноз и приоритизация утечек</a:t>
            </a:r>
          </a:p>
        </p:txBody>
      </p:sp>
      <p:sp>
        <p:nvSpPr>
          <p:cNvPr id="200" name="Цель: сфокусировать усилия на 3–4 узлах, которые дают максимальный мультипликатор к NSM = MBC, и зафиксировать, что НЕ является приоритетом сейчас.…"/>
          <p:cNvSpPr txBox="1"/>
          <p:nvPr>
            <p:ph type="body" idx="1"/>
          </p:nvPr>
        </p:nvSpPr>
        <p:spPr>
          <a:xfrm>
            <a:off x="1206500" y="2504096"/>
            <a:ext cx="21971000" cy="11409428"/>
          </a:xfrm>
          <a:prstGeom prst="rect">
            <a:avLst/>
          </a:prstGeom>
        </p:spPr>
        <p:txBody>
          <a:bodyPr/>
          <a:lstStyle/>
          <a:p>
            <a:pPr marL="0" indent="0" defTabSz="315468">
              <a:lnSpc>
                <a:spcPct val="100000"/>
              </a:lnSpc>
              <a:spcBef>
                <a:spcPts val="800"/>
              </a:spcBef>
              <a:buSzTx/>
              <a:buNone/>
              <a:defRPr sz="138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Цель:</a:t>
            </a:r>
            <a:r>
              <a:t> сфокусировать усилия на 3–4 узлах, которые дают максимальный мультипликатор к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NSM = MBC</a:t>
            </a:r>
            <a:r>
              <a:t>, и зафиксировать, что НЕ является приоритетом сейчас.</a:t>
            </a:r>
          </a:p>
          <a:p>
            <a:pPr marL="0" indent="0" defTabSz="315468">
              <a:lnSpc>
                <a:spcPct val="100000"/>
              </a:lnSpc>
              <a:spcBef>
                <a:spcPts val="0"/>
              </a:spcBef>
              <a:buSzTx/>
              <a:buNone/>
              <a:defRPr sz="1380">
                <a:solidFill>
                  <a:srgbClr val="808080"/>
                </a:solidFill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</a:p>
          <a:p>
            <a:pPr marL="0" indent="0" defTabSz="315468">
              <a:lnSpc>
                <a:spcPct val="100000"/>
              </a:lnSpc>
              <a:spcBef>
                <a:spcPts val="1000"/>
              </a:spcBef>
              <a:buSzTx/>
              <a:buNone/>
              <a:defRPr sz="1380">
                <a:latin typeface="PP Object Sans Heavy"/>
                <a:ea typeface="PP Object Sans Heavy"/>
                <a:cs typeface="PP Object Sans Heavy"/>
                <a:sym typeface="PP Object Sans Heavy"/>
              </a:defRPr>
            </a:pPr>
            <a:r>
              <a:t>Ранг 1 — Навигация и «две корзины» (влияет на Exposure → CTR → Checkout)</a:t>
            </a:r>
          </a:p>
          <a:p>
            <a:pPr marL="0" indent="0" defTabSz="315468">
              <a:lnSpc>
                <a:spcPct val="100000"/>
              </a:lnSpc>
              <a:spcBef>
                <a:spcPts val="800"/>
              </a:spcBef>
              <a:buSzTx/>
              <a:buNone/>
              <a:defRPr sz="138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Почему это ключевое:</a:t>
            </a:r>
            <a:r>
              <a:t> в одном приложении сосуществуют «Доставка из магазина» и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Магнит Маркет</a:t>
            </a:r>
            <a:r>
              <a:t> с разными корзинами. Путь в Маркет «ниже сгиба», отличия сценариев не объясняются. Пользователь делает лишний когнитивный выбор и часто попадает в «смешанную» корзину на финале.</a:t>
            </a:r>
            <a:br/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Сигналы:</a:t>
            </a:r>
            <a:r>
              <a:t> блок </a:t>
            </a:r>
            <a:r>
              <a:rPr i="1"/>
              <a:t>Exposure/Надёжность/Доверие</a:t>
            </a:r>
            <a:r>
              <a:t> —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273 упоминания</a:t>
            </a:r>
            <a:r>
              <a:t> в «Магните»; </a:t>
            </a:r>
            <a:r>
              <a:rPr i="1"/>
              <a:t>Exposure/Trust</a:t>
            </a:r>
            <a:r>
              <a:t> —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90</a:t>
            </a:r>
            <a:r>
              <a:t> в Маркете.</a:t>
            </a:r>
            <a:br/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Метки, которые должны поехать</a:t>
            </a:r>
            <a:r>
              <a:t> (leading):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Share_exposed</a:t>
            </a:r>
            <a:r>
              <a:t>,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CTR входов</a:t>
            </a:r>
            <a:r>
              <a:t>,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Mixed-cart rate</a:t>
            </a:r>
            <a:r>
              <a:t>,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Drop@Mixed-cart</a:t>
            </a:r>
            <a:r>
              <a:t>.</a:t>
            </a:r>
            <a:br/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Как это бьёт по MBC:</a:t>
            </a:r>
            <a:r>
              <a:t> множит всё «дальше по цепочке»; фиксация пути + ясность источника напрямую повышают произведение шагов.</a:t>
            </a:r>
          </a:p>
          <a:p>
            <a:pPr marL="0" indent="0" defTabSz="315468">
              <a:lnSpc>
                <a:spcPct val="100000"/>
              </a:lnSpc>
              <a:spcBef>
                <a:spcPts val="0"/>
              </a:spcBef>
              <a:buSzTx/>
              <a:buNone/>
              <a:defRPr sz="1380">
                <a:solidFill>
                  <a:srgbClr val="808080"/>
                </a:solidFill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</a:p>
          <a:p>
            <a:pPr marL="0" indent="0" defTabSz="315468">
              <a:lnSpc>
                <a:spcPct val="100000"/>
              </a:lnSpc>
              <a:spcBef>
                <a:spcPts val="1000"/>
              </a:spcBef>
              <a:buSzTx/>
              <a:buNone/>
              <a:defRPr sz="1380">
                <a:latin typeface="PP Object Sans Heavy"/>
                <a:ea typeface="PP Object Sans Heavy"/>
                <a:cs typeface="PP Object Sans Heavy"/>
                <a:sym typeface="PP Object Sans Heavy"/>
              </a:defRPr>
            </a:pPr>
            <a:r>
              <a:t>Ранг 2 — Лишний клик до добавления (влияет на ATC)</a:t>
            </a:r>
          </a:p>
          <a:p>
            <a:pPr marL="0" indent="0" defTabSz="315468">
              <a:lnSpc>
                <a:spcPct val="100000"/>
              </a:lnSpc>
              <a:spcBef>
                <a:spcPts val="800"/>
              </a:spcBef>
              <a:buSzTx/>
              <a:buNone/>
              <a:defRPr sz="138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Почему это ключевое:</a:t>
            </a:r>
            <a:r>
              <a:t> на PLP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нет быстрого “+”</a:t>
            </a:r>
            <a:r>
              <a:t> (даже для безатрибутных SKU) — обязательно открывать PDP. Это удлиняет </a:t>
            </a:r>
            <a:r>
              <a:rPr i="1"/>
              <a:t>time-to-first-ATC</a:t>
            </a:r>
            <a:r>
              <a:t> и убирает импульс докладывать ещё.</a:t>
            </a:r>
            <a:br/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Сигналы:</a:t>
            </a:r>
            <a:r>
              <a:t> подтверждено UX-аудитом скринов; коррелирует с жалобами на «медленность/сложность» пути к покупке.</a:t>
            </a:r>
            <a:br/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Метки (leading):</a:t>
            </a:r>
            <a:r>
              <a:t>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ATC CVR</a:t>
            </a:r>
            <a:r>
              <a:t>,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ATC latency</a:t>
            </a:r>
            <a:r>
              <a:t> (медиана «сессия→первый ATC»),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ATC/Session</a:t>
            </a:r>
            <a:r>
              <a:t>;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AOV</a:t>
            </a:r>
            <a:r>
              <a:t> как косвенный эффект.</a:t>
            </a:r>
            <a:br/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Вклад в MBC:</a:t>
            </a:r>
            <a:r>
              <a:t> прямой множитель; плюс косвенно «подталкивает» к более глубокому чекауту.</a:t>
            </a:r>
          </a:p>
          <a:p>
            <a:pPr marL="0" indent="0" defTabSz="315468">
              <a:lnSpc>
                <a:spcPct val="100000"/>
              </a:lnSpc>
              <a:spcBef>
                <a:spcPts val="0"/>
              </a:spcBef>
              <a:buSzTx/>
              <a:buNone/>
              <a:defRPr sz="1380">
                <a:solidFill>
                  <a:srgbClr val="808080"/>
                </a:solidFill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</a:p>
          <a:p>
            <a:pPr marL="0" indent="0" defTabSz="315468">
              <a:lnSpc>
                <a:spcPct val="100000"/>
              </a:lnSpc>
              <a:spcBef>
                <a:spcPts val="1000"/>
              </a:spcBef>
              <a:buSzTx/>
              <a:buNone/>
              <a:defRPr sz="1380">
                <a:latin typeface="PP Object Sans Heavy"/>
                <a:ea typeface="PP Object Sans Heavy"/>
                <a:cs typeface="PP Object Sans Heavy"/>
                <a:sym typeface="PP Object Sans Heavy"/>
              </a:defRPr>
            </a:pPr>
            <a:r>
              <a:t>Ранг 3 — «Смешанные корзины» на финале (влияет на Checkout CVR)</a:t>
            </a:r>
          </a:p>
          <a:p>
            <a:pPr marL="0" indent="0" defTabSz="315468">
              <a:lnSpc>
                <a:spcPct val="100000"/>
              </a:lnSpc>
              <a:spcBef>
                <a:spcPts val="800"/>
              </a:spcBef>
              <a:buSzTx/>
              <a:buNone/>
              <a:defRPr sz="138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Почему это ключевое:</a:t>
            </a:r>
            <a:r>
              <a:t> проблема не в платежах, а в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структуре</a:t>
            </a:r>
            <a:r>
              <a:t>: разные источники → разные правила оформления. Без «моста» человек теряет контекст, видит неочевидные ограничения и бросает корзину.</a:t>
            </a:r>
            <a:br/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Сигналы:</a:t>
            </a:r>
            <a:r>
              <a:t> локальные жалобы на авторизацию/оплату (не массовые), но логический пик фрустрации — именно при совмещении источников.</a:t>
            </a:r>
            <a:br/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Метки (leading):</a:t>
            </a:r>
            <a:r>
              <a:t>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Checkout CVR (mixed vs non-mixed)</a:t>
            </a:r>
            <a:r>
              <a:t>,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Pay-success %</a:t>
            </a:r>
            <a:r>
              <a:t> (guardrail),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Cancel %</a:t>
            </a:r>
            <a:r>
              <a:t>.</a:t>
            </a:r>
            <a:br/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Вклад в MBC:</a:t>
            </a:r>
            <a:r>
              <a:t> чинит «бутылочное горлышко» на последнем шаге без трогания ценообразования.</a:t>
            </a:r>
          </a:p>
          <a:p>
            <a:pPr marL="0" indent="0" defTabSz="315468">
              <a:lnSpc>
                <a:spcPct val="100000"/>
              </a:lnSpc>
              <a:spcBef>
                <a:spcPts val="0"/>
              </a:spcBef>
              <a:buSzTx/>
              <a:buNone/>
              <a:defRPr sz="1380">
                <a:solidFill>
                  <a:srgbClr val="808080"/>
                </a:solidFill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</a:p>
          <a:p>
            <a:pPr marL="0" indent="0" defTabSz="315468">
              <a:lnSpc>
                <a:spcPct val="100000"/>
              </a:lnSpc>
              <a:spcBef>
                <a:spcPts val="1000"/>
              </a:spcBef>
              <a:buSzTx/>
              <a:buNone/>
              <a:defRPr sz="1380">
                <a:latin typeface="PP Object Sans Heavy"/>
                <a:ea typeface="PP Object Sans Heavy"/>
                <a:cs typeface="PP Object Sans Heavy"/>
                <a:sym typeface="PP Object Sans Heavy"/>
              </a:defRPr>
            </a:pPr>
            <a:r>
              <a:t>Ранг 4 — Post-purchase боли в Маркете (влияет на Fulfillment → Repeat/NPS)</a:t>
            </a:r>
          </a:p>
          <a:p>
            <a:pPr marL="0" indent="0" defTabSz="315468">
              <a:lnSpc>
                <a:spcPct val="100000"/>
              </a:lnSpc>
              <a:spcBef>
                <a:spcPts val="800"/>
              </a:spcBef>
              <a:buSzTx/>
              <a:buNone/>
              <a:defRPr sz="138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Почему это ключевое:</a:t>
            </a:r>
            <a:r>
              <a:t> отзывы про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задержки, недовложения, возвраты/деньги</a:t>
            </a:r>
            <a:r>
              <a:t> создают разрыв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MBC→MDC</a:t>
            </a:r>
            <a:r>
              <a:t> и гасят повтор.</a:t>
            </a:r>
            <a:br/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Сигналы:</a:t>
            </a:r>
            <a:r>
              <a:t> </a:t>
            </a:r>
            <a:r>
              <a:rPr i="1"/>
              <a:t>Fulfillment/Post-purchase</a:t>
            </a:r>
            <a:r>
              <a:t> —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156</a:t>
            </a:r>
            <a:r>
              <a:t> упоминаний в Маркете; в «Магните» —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42</a:t>
            </a:r>
            <a:r>
              <a:t> (доставка/отмены).</a:t>
            </a:r>
            <a:br/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Метки (leading/guardrails):</a:t>
            </a:r>
            <a:r>
              <a:t>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Delivered-success %</a:t>
            </a:r>
            <a:r>
              <a:t>,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On-time %</a:t>
            </a:r>
            <a:r>
              <a:t>,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Post-purchase contact rate</a:t>
            </a:r>
            <a:r>
              <a:t>; лагирующие —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Repeat 30/90d</a:t>
            </a:r>
            <a:r>
              <a:t>,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NPS/CSAT</a:t>
            </a:r>
            <a:r>
              <a:t>.</a:t>
            </a:r>
            <a:br/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Вклад в MBC:</a:t>
            </a:r>
            <a:r>
              <a:t> удерживает эффект прироста — без этого рост «одноразовый».</a:t>
            </a:r>
          </a:p>
          <a:p>
            <a:pPr marL="0" indent="0" defTabSz="315468">
              <a:lnSpc>
                <a:spcPct val="100000"/>
              </a:lnSpc>
              <a:spcBef>
                <a:spcPts val="0"/>
              </a:spcBef>
              <a:buSzTx/>
              <a:buNone/>
              <a:defRPr sz="1380">
                <a:solidFill>
                  <a:srgbClr val="808080"/>
                </a:solidFill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</a:p>
          <a:p>
            <a:pPr marL="0" indent="0" defTabSz="315468">
              <a:lnSpc>
                <a:spcPct val="100000"/>
              </a:lnSpc>
              <a:spcBef>
                <a:spcPts val="900"/>
              </a:spcBef>
              <a:buSzTx/>
              <a:buNone/>
              <a:defRPr sz="1380">
                <a:latin typeface="PP Object Sans Heavy"/>
                <a:ea typeface="PP Object Sans Heavy"/>
                <a:cs typeface="PP Object Sans Heavy"/>
                <a:sym typeface="PP Object Sans Heavy"/>
              </a:defRPr>
            </a:pPr>
            <a:r>
              <a:t>Что не в фокусе (держим как guardrails, не штурмуем первыми)</a:t>
            </a:r>
          </a:p>
          <a:p>
            <a:pPr marL="315468" indent="-219075" defTabSz="315468">
              <a:lnSpc>
                <a:spcPct val="100000"/>
              </a:lnSpc>
              <a:spcBef>
                <a:spcPts val="800"/>
              </a:spcBef>
              <a:buFont typeface="Times Roman"/>
              <a:defRPr sz="138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Intent-барьер</a:t>
            </a:r>
            <a:r>
              <a:t> (ранний адрес/слоты) —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отсутствует</a:t>
            </a:r>
            <a:r>
              <a:t>: можно класть без адреса.</a:t>
            </a:r>
          </a:p>
          <a:p>
            <a:pPr marL="315468" indent="-219075" defTabSz="315468">
              <a:lnSpc>
                <a:spcPct val="100000"/>
              </a:lnSpc>
              <a:spcBef>
                <a:spcPts val="800"/>
              </a:spcBef>
              <a:buFont typeface="Times Roman"/>
              <a:defRPr sz="138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t>Массовые платёжные фрикиции (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1-тап/3-DS</a:t>
            </a:r>
            <a:r>
              <a:t>) —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не подтверждены</a:t>
            </a:r>
            <a:r>
              <a:t> текущими данными.</a:t>
            </a:r>
          </a:p>
          <a:p>
            <a:pPr marL="315468" indent="-219075" defTabSz="315468">
              <a:lnSpc>
                <a:spcPct val="100000"/>
              </a:lnSpc>
              <a:spcBef>
                <a:spcPts val="800"/>
              </a:spcBef>
              <a:buFont typeface="Times Roman"/>
              <a:defRPr sz="138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Замены</a:t>
            </a:r>
            <a:r>
              <a:t> — не surfaced как топ-боль в текущем массиве (оставляем наблюдать).</a:t>
            </a:r>
          </a:p>
          <a:p>
            <a:pPr marL="0" indent="0" defTabSz="315468">
              <a:lnSpc>
                <a:spcPct val="100000"/>
              </a:lnSpc>
              <a:spcBef>
                <a:spcPts val="0"/>
              </a:spcBef>
              <a:buSzTx/>
              <a:buNone/>
              <a:defRPr sz="1380">
                <a:solidFill>
                  <a:srgbClr val="808080"/>
                </a:solidFill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</a:p>
          <a:p>
            <a:pPr marL="0" indent="0" defTabSz="315468">
              <a:lnSpc>
                <a:spcPct val="100000"/>
              </a:lnSpc>
              <a:spcBef>
                <a:spcPts val="900"/>
              </a:spcBef>
              <a:buSzTx/>
              <a:buNone/>
              <a:defRPr sz="1380">
                <a:latin typeface="PP Object Sans Heavy"/>
                <a:ea typeface="PP Object Sans Heavy"/>
                <a:cs typeface="PP Object Sans Heavy"/>
                <a:sym typeface="PP Object Sans Heavy"/>
              </a:defRPr>
            </a:pPr>
            <a:r>
              <a:t>Диагностический чек-лист (чтобы быстро локализовать корень просадки)</a:t>
            </a:r>
          </a:p>
          <a:p>
            <a:pPr marL="315468" indent="-219075" defTabSz="315468">
              <a:lnSpc>
                <a:spcPct val="100000"/>
              </a:lnSpc>
              <a:spcBef>
                <a:spcPts val="800"/>
              </a:spcBef>
              <a:buFont typeface="Times Roman"/>
              <a:defRPr sz="138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MBC↓ + Views/CTR↓</a:t>
            </a:r>
            <a:r>
              <a:t> → навигация/позиция входов/бейдж источника;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Mixed-cart rate</a:t>
            </a:r>
            <a:r>
              <a:t>.</a:t>
            </a:r>
          </a:p>
          <a:p>
            <a:pPr marL="315468" indent="-219075" defTabSz="315468">
              <a:lnSpc>
                <a:spcPct val="100000"/>
              </a:lnSpc>
              <a:spcBef>
                <a:spcPts val="800"/>
              </a:spcBef>
              <a:buFont typeface="Times Roman"/>
              <a:defRPr sz="1380">
                <a:latin typeface="PP Object Sans Heavy"/>
                <a:ea typeface="PP Object Sans Heavy"/>
                <a:cs typeface="PP Object Sans Heavy"/>
                <a:sym typeface="PP Object Sans Heavy"/>
              </a:defRPr>
            </a:pPr>
            <a:r>
              <a:t>MBC↓ при стабильных Views/CTR</a:t>
            </a:r>
            <a:r>
              <a:rPr>
                <a:latin typeface="PP Object Sans Regular"/>
                <a:ea typeface="PP Object Sans Regular"/>
                <a:cs typeface="PP Object Sans Regular"/>
                <a:sym typeface="PP Object Sans Regular"/>
              </a:rPr>
              <a:t> → </a:t>
            </a:r>
            <a:r>
              <a:t>ATC latency / ATC CVR</a:t>
            </a:r>
            <a:r>
              <a:rPr>
                <a:latin typeface="PP Object Sans Regular"/>
                <a:ea typeface="PP Object Sans Regular"/>
                <a:cs typeface="PP Object Sans Regular"/>
                <a:sym typeface="PP Object Sans Regular"/>
              </a:rPr>
              <a:t> (нужен “+” на PLP).</a:t>
            </a:r>
            <a:endParaRPr>
              <a:latin typeface="PP Object Sans Regular"/>
              <a:ea typeface="PP Object Sans Regular"/>
              <a:cs typeface="PP Object Sans Regular"/>
              <a:sym typeface="PP Object Sans Regular"/>
            </a:endParaRPr>
          </a:p>
          <a:p>
            <a:pPr marL="315468" indent="-219075" defTabSz="315468">
              <a:lnSpc>
                <a:spcPct val="100000"/>
              </a:lnSpc>
              <a:spcBef>
                <a:spcPts val="800"/>
              </a:spcBef>
              <a:buFont typeface="Times Roman"/>
              <a:defRPr sz="1380">
                <a:latin typeface="PP Object Sans Heavy"/>
                <a:ea typeface="PP Object Sans Heavy"/>
                <a:cs typeface="PP Object Sans Heavy"/>
                <a:sym typeface="PP Object Sans Heavy"/>
              </a:defRPr>
            </a:pPr>
            <a:r>
              <a:t>ATC↑, но Checkout CVR↓</a:t>
            </a:r>
            <a:r>
              <a:rPr>
                <a:latin typeface="PP Object Sans Regular"/>
                <a:ea typeface="PP Object Sans Regular"/>
                <a:cs typeface="PP Object Sans Regular"/>
                <a:sym typeface="PP Object Sans Regular"/>
              </a:rPr>
              <a:t> → </a:t>
            </a:r>
            <a:r>
              <a:t>Drop@Mixed-cart</a:t>
            </a:r>
            <a:r>
              <a:rPr>
                <a:latin typeface="PP Object Sans Regular"/>
                <a:ea typeface="PP Object Sans Regular"/>
                <a:cs typeface="PP Object Sans Regular"/>
                <a:sym typeface="PP Object Sans Regular"/>
              </a:rPr>
              <a:t> (нужен «мост»).</a:t>
            </a:r>
            <a:endParaRPr>
              <a:latin typeface="PP Object Sans Regular"/>
              <a:ea typeface="PP Object Sans Regular"/>
              <a:cs typeface="PP Object Sans Regular"/>
              <a:sym typeface="PP Object Sans Regular"/>
            </a:endParaRPr>
          </a:p>
          <a:p>
            <a:pPr marL="315468" indent="-219075" defTabSz="315468">
              <a:lnSpc>
                <a:spcPct val="100000"/>
              </a:lnSpc>
              <a:spcBef>
                <a:spcPts val="800"/>
              </a:spcBef>
              <a:buFont typeface="Times Roman"/>
              <a:defRPr sz="138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MBC стабильна, Repeat↓</a:t>
            </a:r>
            <a:r>
              <a:t> →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Delivered-success/On-time</a:t>
            </a:r>
            <a:r>
              <a:t>,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Contact rate</a:t>
            </a:r>
            <a:r>
              <a:t> (нужны прозрачные статусы/ETA и 1-клик претензии).</a:t>
            </a:r>
          </a:p>
          <a:p>
            <a:pPr marL="0" indent="0" defTabSz="315468">
              <a:lnSpc>
                <a:spcPct val="100000"/>
              </a:lnSpc>
              <a:spcBef>
                <a:spcPts val="800"/>
              </a:spcBef>
              <a:buSzTx/>
              <a:buNone/>
              <a:defRPr sz="138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t>На следующем слайде — 4 стратегические инициативы H1, каждая завязана на этот диагноз и имеет чёткие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MDE</a:t>
            </a:r>
            <a:r>
              <a:t> и владельцев.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Четыре стратегические инициативы (H1: 0–8 недель)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434340">
              <a:lnSpc>
                <a:spcPct val="100000"/>
              </a:lnSpc>
              <a:defRPr b="0" spc="0" sz="6175">
                <a:latin typeface="PP Object Sans Heavy"/>
                <a:ea typeface="PP Object Sans Heavy"/>
                <a:cs typeface="PP Object Sans Heavy"/>
                <a:sym typeface="PP Object Sans Heavy"/>
              </a:defRPr>
            </a:lvl1pPr>
          </a:lstStyle>
          <a:p>
            <a:pPr/>
            <a:r>
              <a:t>Четыре стратегические инициативы (H1: 0–8 недель)</a:t>
            </a:r>
          </a:p>
        </p:txBody>
      </p:sp>
      <p:sp>
        <p:nvSpPr>
          <p:cNvPr id="203" name="Цель H1: закрыть подтверждённые утечки (навигация/две корзины, медленный ATC, «смешанные» корзины на финале, пост-чекаут боли Маркета) и мультипликативно вырастить NSM = MBC без ухудшения экономики и сервиса.…"/>
          <p:cNvSpPr txBox="1"/>
          <p:nvPr>
            <p:ph type="body" idx="1"/>
          </p:nvPr>
        </p:nvSpPr>
        <p:spPr>
          <a:xfrm>
            <a:off x="1206500" y="2504096"/>
            <a:ext cx="21971000" cy="11409428"/>
          </a:xfrm>
          <a:prstGeom prst="rect">
            <a:avLst/>
          </a:prstGeom>
        </p:spPr>
        <p:txBody>
          <a:bodyPr/>
          <a:lstStyle/>
          <a:p>
            <a:pPr marL="0" indent="0" defTabSz="315468">
              <a:lnSpc>
                <a:spcPct val="100000"/>
              </a:lnSpc>
              <a:spcBef>
                <a:spcPts val="800"/>
              </a:spcBef>
              <a:buSzTx/>
              <a:buNone/>
              <a:defRPr sz="138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Цель H1:</a:t>
            </a:r>
            <a:r>
              <a:t> закрыть подтверждённые утечки (навигация/две корзины, медленный ATC, «смешанные» корзины на финале, пост-чекаут боли Маркета) и мультипликативно вырастить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NSM = MBC</a:t>
            </a:r>
            <a:r>
              <a:t> без ухудшения экономики и сервиса.</a:t>
            </a:r>
          </a:p>
          <a:p>
            <a:pPr marL="0" indent="0" defTabSz="315468">
              <a:lnSpc>
                <a:spcPct val="100000"/>
              </a:lnSpc>
              <a:spcBef>
                <a:spcPts val="0"/>
              </a:spcBef>
              <a:buSzTx/>
              <a:buNone/>
              <a:defRPr sz="1380">
                <a:solidFill>
                  <a:srgbClr val="808080"/>
                </a:solidFill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</a:p>
          <a:p>
            <a:pPr marL="0" indent="0" defTabSz="315468">
              <a:lnSpc>
                <a:spcPct val="100000"/>
              </a:lnSpc>
              <a:spcBef>
                <a:spcPts val="900"/>
              </a:spcBef>
              <a:buSzTx/>
              <a:buNone/>
              <a:defRPr sz="1380">
                <a:latin typeface="PP Object Sans Heavy"/>
                <a:ea typeface="PP Object Sans Heavy"/>
                <a:cs typeface="PP Object Sans Heavy"/>
                <a:sym typeface="PP Object Sans Heavy"/>
              </a:defRPr>
            </a:pPr>
            <a:r>
              <a:t>Инициатива 1 — Единый вход в покупки и понятная навигация</a:t>
            </a:r>
          </a:p>
          <a:p>
            <a:pPr marL="0" indent="0" defTabSz="315468">
              <a:lnSpc>
                <a:spcPct val="100000"/>
              </a:lnSpc>
              <a:spcBef>
                <a:spcPts val="800"/>
              </a:spcBef>
              <a:buSzTx/>
              <a:buNone/>
              <a:defRPr sz="138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Проблема → инсайт:</a:t>
            </a:r>
            <a:r>
              <a:t> два сценария («Из магазина» и «Маркет») в одном приложении, две корзины, Market «ниже сгиба» → когнитивная нагрузка, потери Views/CTR и дропы при смешении.</a:t>
            </a:r>
            <a:br/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Что делаем (MVP):</a:t>
            </a:r>
            <a:r>
              <a:t> один крупный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CTA «Покупки»</a:t>
            </a:r>
            <a:r>
              <a:t> на главной → внутри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2 таба</a:t>
            </a:r>
            <a:r>
              <a:t>: «Из магазина (доставка/C&amp;C)» и «Маркет»; на карточках/PLP —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бейдж источника</a:t>
            </a:r>
            <a:r>
              <a:t> и подсказка при переходе между источниками. Поднимаем ключевые витрины Маркета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выше сгиба</a:t>
            </a:r>
            <a:r>
              <a:t>.</a:t>
            </a:r>
            <a:br/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Primary KPI (MDE):</a:t>
            </a:r>
            <a:r>
              <a:t>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Views +15–20 п.п.</a:t>
            </a:r>
            <a:r>
              <a:t>,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CTR +0.3–0.5 п.п.</a:t>
            </a:r>
            <a:r>
              <a:t> за 14 дней.</a:t>
            </a:r>
            <a:br/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Secondary/Guardrails:</a:t>
            </a:r>
            <a:r>
              <a:t> Crash-free/latency не хуже; NPS/CSAT не хуже.</a:t>
            </a:r>
            <a:br/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Owner:</a:t>
            </a:r>
            <a:r>
              <a:t> Platform &amp; CX.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Зависимости:</a:t>
            </a:r>
            <a:r>
              <a:t> аналитические события (source_badge, view_exposed), слот на главной, копирайт.</a:t>
            </a:r>
            <a:br/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Риски → меры:</a:t>
            </a:r>
            <a:r>
              <a:t> перегруз главной → сплит по сегментам MAU, частотный кэп виджетов.</a:t>
            </a:r>
          </a:p>
          <a:p>
            <a:pPr marL="0" indent="0" defTabSz="315468">
              <a:lnSpc>
                <a:spcPct val="100000"/>
              </a:lnSpc>
              <a:spcBef>
                <a:spcPts val="0"/>
              </a:spcBef>
              <a:buSzTx/>
              <a:buNone/>
              <a:defRPr sz="1380">
                <a:solidFill>
                  <a:srgbClr val="808080"/>
                </a:solidFill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</a:p>
          <a:p>
            <a:pPr marL="0" indent="0" defTabSz="315468">
              <a:lnSpc>
                <a:spcPct val="100000"/>
              </a:lnSpc>
              <a:spcBef>
                <a:spcPts val="900"/>
              </a:spcBef>
              <a:buSzTx/>
              <a:buNone/>
              <a:defRPr sz="1380">
                <a:latin typeface="PP Object Sans Heavy"/>
                <a:ea typeface="PP Object Sans Heavy"/>
                <a:cs typeface="PP Object Sans Heavy"/>
                <a:sym typeface="PP Object Sans Heavy"/>
              </a:defRPr>
            </a:pPr>
            <a:r>
              <a:t>Инициатива 2 — Быстрый ATC и повтор с PLP</a:t>
            </a:r>
          </a:p>
          <a:p>
            <a:pPr marL="0" indent="0" defTabSz="315468">
              <a:lnSpc>
                <a:spcPct val="100000"/>
              </a:lnSpc>
              <a:spcBef>
                <a:spcPts val="800"/>
              </a:spcBef>
              <a:buSzTx/>
              <a:buNone/>
              <a:defRPr sz="138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Проблема → инсайт:</a:t>
            </a:r>
            <a:r>
              <a:t> нет «+» на PLP даже для безатрибутных SKU → лишний клик, длинный путь до первого добавления, слабый импульс.</a:t>
            </a:r>
            <a:br/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Что делаем (MVP):</a:t>
            </a:r>
            <a:r>
              <a:t>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“+” на PLP</a:t>
            </a:r>
            <a:r>
              <a:t> для безатрибутных; для вариативных — компактный селектор прямо из PLP;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мультивыбор</a:t>
            </a:r>
            <a:r>
              <a:t> (добавить выбранные); «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Мои 20 / Покупай снова</a:t>
            </a:r>
            <a:r>
              <a:t>» — первым экраном.</a:t>
            </a:r>
            <a:br/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Primary KPI (MDE):</a:t>
            </a:r>
            <a:r>
              <a:t>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ATC CVR +1–2 п.п.</a:t>
            </a:r>
            <a:r>
              <a:t>,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AOV +8–12%</a:t>
            </a:r>
            <a:r>
              <a:t> за 21 день.</a:t>
            </a:r>
            <a:br/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Secondary/Guardrails:</a:t>
            </a:r>
            <a:r>
              <a:t> Edit/Undo-rate в норме; маржа категорий не хуже; CM2/order ≥ 0.</a:t>
            </a:r>
            <a:br/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Owner:</a:t>
            </a:r>
            <a:r>
              <a:t> Browse &amp; Merch (+Data/ML).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Зависимости:</a:t>
            </a:r>
            <a:r>
              <a:t> API мини-корзины, событийка ATC_latency.</a:t>
            </a:r>
            <a:br/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Риски → меры:</a:t>
            </a:r>
            <a:r>
              <a:t> случайные клики → «undo»-тост + мини-редактор корзины.</a:t>
            </a:r>
          </a:p>
          <a:p>
            <a:pPr marL="0" indent="0" defTabSz="315468">
              <a:lnSpc>
                <a:spcPct val="100000"/>
              </a:lnSpc>
              <a:spcBef>
                <a:spcPts val="0"/>
              </a:spcBef>
              <a:buSzTx/>
              <a:buNone/>
              <a:defRPr sz="1380">
                <a:solidFill>
                  <a:srgbClr val="808080"/>
                </a:solidFill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</a:p>
          <a:p>
            <a:pPr marL="0" indent="0" defTabSz="315468">
              <a:lnSpc>
                <a:spcPct val="100000"/>
              </a:lnSpc>
              <a:spcBef>
                <a:spcPts val="900"/>
              </a:spcBef>
              <a:buSzTx/>
              <a:buNone/>
              <a:defRPr sz="1380">
                <a:latin typeface="PP Object Sans Heavy"/>
                <a:ea typeface="PP Object Sans Heavy"/>
                <a:cs typeface="PP Object Sans Heavy"/>
                <a:sym typeface="PP Object Sans Heavy"/>
              </a:defRPr>
            </a:pPr>
            <a:r>
              <a:t>Инициатива 3 — «Мост» для смешанных корзин (структурный Checkout)</a:t>
            </a:r>
          </a:p>
          <a:p>
            <a:pPr marL="0" indent="0" defTabSz="315468">
              <a:lnSpc>
                <a:spcPct val="100000"/>
              </a:lnSpc>
              <a:spcBef>
                <a:spcPts val="800"/>
              </a:spcBef>
              <a:buSzTx/>
              <a:buNone/>
              <a:defRPr sz="138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Проблема → инсайт:</a:t>
            </a:r>
            <a:r>
              <a:t> боль не в платежах, а в структуре: разные источники → разные правила оформления; без «моста» теряем пользователей на последнем шаге.</a:t>
            </a:r>
            <a:br/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Что делаем (MVP):</a:t>
            </a:r>
            <a:r>
              <a:t> если корзина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смешанная</a:t>
            </a:r>
            <a:r>
              <a:t>, показываем инфо-бар «2 источника» +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1-клик «оформить отдельно»</a:t>
            </a:r>
            <a:r>
              <a:t> (две транзакции подряд), общий прогресс по бонусам и единая идентичность в обоих потоках.</a:t>
            </a:r>
            <a:br/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Primary KPI (MDE):</a:t>
            </a:r>
            <a:r>
              <a:t>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Checkout CVR (mixed) +3–5 п.п.</a:t>
            </a:r>
            <a:r>
              <a:t> за 21–28 дней.</a:t>
            </a:r>
            <a:br/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Secondary/Guardrails:</a:t>
            </a:r>
            <a:r>
              <a:t> Pay-success не хуже; Cancel/Contact-rate не выше; CM2/order ≥ 0.</a:t>
            </a:r>
            <a:br/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Owner:</a:t>
            </a:r>
            <a:r>
              <a:t> Checkout &amp; Platform.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Зависимости:</a:t>
            </a:r>
            <a:r>
              <a:t> флаг mixed_cart, маршрутизация платежного пайплайна, копирайт.</a:t>
            </a:r>
            <a:br/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Риски → меры:</a:t>
            </a:r>
            <a:r>
              <a:t> путаница ETA/стоимости → явные ETA/fee в каждом подпотоке.</a:t>
            </a:r>
          </a:p>
          <a:p>
            <a:pPr marL="0" indent="0" defTabSz="315468">
              <a:lnSpc>
                <a:spcPct val="100000"/>
              </a:lnSpc>
              <a:spcBef>
                <a:spcPts val="0"/>
              </a:spcBef>
              <a:buSzTx/>
              <a:buNone/>
              <a:defRPr sz="1380">
                <a:solidFill>
                  <a:srgbClr val="808080"/>
                </a:solidFill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</a:p>
          <a:p>
            <a:pPr marL="0" indent="0" defTabSz="315468">
              <a:lnSpc>
                <a:spcPct val="100000"/>
              </a:lnSpc>
              <a:spcBef>
                <a:spcPts val="900"/>
              </a:spcBef>
              <a:buSzTx/>
              <a:buNone/>
              <a:defRPr sz="1380">
                <a:latin typeface="PP Object Sans Heavy"/>
                <a:ea typeface="PP Object Sans Heavy"/>
                <a:cs typeface="PP Object Sans Heavy"/>
                <a:sym typeface="PP Object Sans Heavy"/>
              </a:defRPr>
            </a:pPr>
            <a:r>
              <a:t>Инициатива 4 — Прозрачный post-purchase в Маркете (Fulfillment → Repeat)</a:t>
            </a:r>
          </a:p>
          <a:p>
            <a:pPr marL="0" indent="0" defTabSz="315468">
              <a:lnSpc>
                <a:spcPct val="100000"/>
              </a:lnSpc>
              <a:spcBef>
                <a:spcPts val="800"/>
              </a:spcBef>
              <a:buSzTx/>
              <a:buNone/>
              <a:defRPr sz="138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Проблема → инсайт:</a:t>
            </a:r>
            <a:r>
              <a:t> задержки/недовложения/возвраты и слабая поддержка → разрыв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MBC→MDC</a:t>
            </a:r>
            <a:r>
              <a:t>, падение Repeat/NPS.</a:t>
            </a:r>
            <a:br/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Что делаем (MVP):</a:t>
            </a:r>
            <a:r>
              <a:t>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SLA-виджет статусов/ETA</a:t>
            </a:r>
            <a:r>
              <a:t> в заказе, шаблоны уведомлений;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1-клик претензия/возврат</a:t>
            </a:r>
            <a:r>
              <a:t> с типизацией («недовложение», «повреждение», «задержка»); трекинг закрытия кейсов и контакт-рейт.</a:t>
            </a:r>
            <a:br/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Primary KPI (MDE):</a:t>
            </a:r>
            <a:r>
              <a:t>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Delivered-success +2–3 п.п.</a:t>
            </a:r>
            <a:r>
              <a:t>,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On-time +Y п.п.</a:t>
            </a:r>
            <a:r>
              <a:t> (кластерный тест 28–42 дня).</a:t>
            </a:r>
            <a:br/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Secondary/Guardrails:</a:t>
            </a:r>
            <a:r>
              <a:t> Contact-rate −X%; NPS/CSAT не хуже.</a:t>
            </a:r>
            <a:br/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Owner:</a:t>
            </a:r>
            <a:r>
              <a:t> Logistics &amp; Promise + CX.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Зависимости:</a:t>
            </a:r>
            <a:r>
              <a:t> статусы OMS/ETA, шаблоны пуш/SMS, SLA саппорта.</a:t>
            </a:r>
            <a:br/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Риски → меры:</a:t>
            </a:r>
            <a:r>
              <a:t> всплеск обращений → авто-категоризация, кэп по каналу, приоритизация кейсов.</a:t>
            </a:r>
          </a:p>
          <a:p>
            <a:pPr marL="0" indent="0" defTabSz="315468">
              <a:lnSpc>
                <a:spcPct val="100000"/>
              </a:lnSpc>
              <a:spcBef>
                <a:spcPts val="0"/>
              </a:spcBef>
              <a:buSzTx/>
              <a:buNone/>
              <a:defRPr sz="1380">
                <a:solidFill>
                  <a:srgbClr val="808080"/>
                </a:solidFill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</a:p>
          <a:p>
            <a:pPr marL="0" indent="0" defTabSz="315468">
              <a:lnSpc>
                <a:spcPct val="100000"/>
              </a:lnSpc>
              <a:spcBef>
                <a:spcPts val="800"/>
              </a:spcBef>
              <a:buSzTx/>
              <a:buNone/>
              <a:defRPr sz="1380">
                <a:latin typeface="PP Object Sans Heavy"/>
                <a:ea typeface="PP Object Sans Heavy"/>
                <a:cs typeface="PP Object Sans Heavy"/>
                <a:sym typeface="PP Object Sans Heavy"/>
              </a:defRPr>
            </a:pPr>
            <a:r>
              <a:t>Связь с уравнением роста:</a:t>
            </a:r>
            <a:endParaRPr>
              <a:latin typeface="PP Object Sans Regular"/>
              <a:ea typeface="PP Object Sans Regular"/>
              <a:cs typeface="PP Object Sans Regular"/>
              <a:sym typeface="PP Object Sans Regular"/>
            </a:endParaRPr>
          </a:p>
          <a:p>
            <a:pPr marL="315468" indent="-219075" defTabSz="315468">
              <a:lnSpc>
                <a:spcPct val="100000"/>
              </a:lnSpc>
              <a:spcBef>
                <a:spcPts val="800"/>
              </a:spcBef>
              <a:buSzPct val="100000"/>
              <a:buFont typeface="Times Roman"/>
              <a:buAutoNum type="arabicPeriod" startAt="1"/>
              <a:defRPr sz="138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t>Навигация →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Exposure/CTR</a:t>
            </a:r>
            <a:r>
              <a:t>,</a:t>
            </a:r>
          </a:p>
          <a:p>
            <a:pPr marL="315468" indent="-219075" defTabSz="315468">
              <a:lnSpc>
                <a:spcPct val="100000"/>
              </a:lnSpc>
              <a:spcBef>
                <a:spcPts val="800"/>
              </a:spcBef>
              <a:buSzPct val="100000"/>
              <a:buFont typeface="Times Roman"/>
              <a:buAutoNum type="arabicPeriod" startAt="1"/>
              <a:defRPr sz="138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t>Быстрый ATC →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ATC/AOV</a:t>
            </a:r>
            <a:r>
              <a:t>,</a:t>
            </a:r>
          </a:p>
          <a:p>
            <a:pPr marL="315468" indent="-219075" defTabSz="315468">
              <a:lnSpc>
                <a:spcPct val="100000"/>
              </a:lnSpc>
              <a:spcBef>
                <a:spcPts val="800"/>
              </a:spcBef>
              <a:buSzPct val="100000"/>
              <a:buFont typeface="Times Roman"/>
              <a:buAutoNum type="arabicPeriod" startAt="1"/>
              <a:defRPr sz="138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t>Мост корзин →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Checkout</a:t>
            </a:r>
            <a:r>
              <a:t>,</a:t>
            </a:r>
          </a:p>
          <a:p>
            <a:pPr marL="315468" indent="-219075" defTabSz="315468">
              <a:lnSpc>
                <a:spcPct val="100000"/>
              </a:lnSpc>
              <a:spcBef>
                <a:spcPts val="800"/>
              </a:spcBef>
              <a:buSzPct val="100000"/>
              <a:buFont typeface="Times Roman"/>
              <a:buAutoNum type="arabicPeriod" startAt="1"/>
              <a:defRPr sz="138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t>Post-purchase →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Fulfillment → MDC</a:t>
            </a:r>
            <a:r>
              <a:t>, удержание и повтор.</a:t>
            </a:r>
          </a:p>
          <a:p>
            <a:pPr marL="0" indent="0" defTabSz="315468">
              <a:lnSpc>
                <a:spcPct val="100000"/>
              </a:lnSpc>
              <a:spcBef>
                <a:spcPts val="800"/>
              </a:spcBef>
              <a:buSzTx/>
              <a:buNone/>
              <a:defRPr sz="138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Общие правила выката:</a:t>
            </a:r>
            <a:r>
              <a:t> рандомизация по user_id, α=5%, power=80%,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SRM=0</a:t>
            </a:r>
            <a:r>
              <a:t>; экономические и сервисные guardrails обязательны.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Как измеряем эффект: экспериментальный план под 4 инициативы"/>
          <p:cNvSpPr txBox="1"/>
          <p:nvPr>
            <p:ph type="title"/>
          </p:nvPr>
        </p:nvSpPr>
        <p:spPr>
          <a:xfrm>
            <a:off x="1206500" y="1077359"/>
            <a:ext cx="21971000" cy="1433164"/>
          </a:xfrm>
          <a:prstGeom prst="rect">
            <a:avLst/>
          </a:prstGeom>
        </p:spPr>
        <p:txBody>
          <a:bodyPr/>
          <a:lstStyle>
            <a:lvl1pPr defTabSz="342900">
              <a:lnSpc>
                <a:spcPct val="100000"/>
              </a:lnSpc>
              <a:defRPr b="0" spc="0" sz="4875">
                <a:latin typeface="PP Object Sans Heavy"/>
                <a:ea typeface="PP Object Sans Heavy"/>
                <a:cs typeface="PP Object Sans Heavy"/>
                <a:sym typeface="PP Object Sans Heavy"/>
              </a:defRPr>
            </a:lvl1pPr>
          </a:lstStyle>
          <a:p>
            <a:pPr/>
            <a:r>
              <a:t>Как измеряем эффект: экспериментальный план под 4 инициативы</a:t>
            </a:r>
          </a:p>
        </p:txBody>
      </p:sp>
      <p:sp>
        <p:nvSpPr>
          <p:cNvPr id="206" name="Цель: доказуемо привязать изменения к NSM = MBC через шаги воронки, не ломая сервис и экономику.…"/>
          <p:cNvSpPr txBox="1"/>
          <p:nvPr>
            <p:ph type="body" idx="1"/>
          </p:nvPr>
        </p:nvSpPr>
        <p:spPr>
          <a:xfrm>
            <a:off x="1206500" y="2235283"/>
            <a:ext cx="21971000" cy="11353389"/>
          </a:xfrm>
          <a:prstGeom prst="rect">
            <a:avLst/>
          </a:prstGeom>
        </p:spPr>
        <p:txBody>
          <a:bodyPr/>
          <a:lstStyle/>
          <a:p>
            <a:pPr marL="0" indent="0" defTabSz="411479">
              <a:lnSpc>
                <a:spcPct val="100000"/>
              </a:lnSpc>
              <a:spcBef>
                <a:spcPts val="1000"/>
              </a:spcBef>
              <a:buSzTx/>
              <a:buNone/>
              <a:defRPr sz="180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Цель:</a:t>
            </a:r>
            <a:r>
              <a:t> доказуемо привязать изменения к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NSM = MBC</a:t>
            </a:r>
            <a:r>
              <a:t> через шаги воронки, не ломая сервис и экономику.</a:t>
            </a:r>
          </a:p>
          <a:p>
            <a:pPr marL="0" indent="0" defTabSz="411479">
              <a:lnSpc>
                <a:spcPct val="100000"/>
              </a:lnSpc>
              <a:spcBef>
                <a:spcPts val="0"/>
              </a:spcBef>
              <a:buSzTx/>
              <a:buNone/>
              <a:defRPr sz="1800">
                <a:solidFill>
                  <a:srgbClr val="808080"/>
                </a:solidFill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</a:p>
          <a:p>
            <a:pPr marL="0" indent="0" defTabSz="411479">
              <a:lnSpc>
                <a:spcPct val="100000"/>
              </a:lnSpc>
              <a:spcBef>
                <a:spcPts val="1300"/>
              </a:spcBef>
              <a:buSzTx/>
              <a:buNone/>
              <a:defRPr sz="1800">
                <a:latin typeface="PP Object Sans Heavy"/>
                <a:ea typeface="PP Object Sans Heavy"/>
                <a:cs typeface="PP Object Sans Heavy"/>
                <a:sym typeface="PP Object Sans Heavy"/>
              </a:defRPr>
            </a:pPr>
            <a:r>
              <a:t>Принципы дизайна экспериментов (единые)</a:t>
            </a:r>
          </a:p>
          <a:p>
            <a:pPr marL="411479" indent="-285750" defTabSz="411479">
              <a:lnSpc>
                <a:spcPct val="100000"/>
              </a:lnSpc>
              <a:spcBef>
                <a:spcPts val="1000"/>
              </a:spcBef>
              <a:buFont typeface="Times Roman"/>
              <a:defRPr sz="180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Рандомизация:</a:t>
            </a:r>
            <a:r>
              <a:t> по user_id (стабильный assignment).</a:t>
            </a:r>
          </a:p>
          <a:p>
            <a:pPr marL="411479" indent="-285750" defTabSz="411479">
              <a:lnSpc>
                <a:spcPct val="100000"/>
              </a:lnSpc>
              <a:spcBef>
                <a:spcPts val="1000"/>
              </a:spcBef>
              <a:buFont typeface="Times Roman"/>
              <a:defRPr sz="180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Статистика:</a:t>
            </a:r>
            <a:r>
              <a:t> α=5%, power=80%; z-test для пропорций;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SRM=0</a:t>
            </a:r>
            <a:r>
              <a:t> как обязательный гейт.</a:t>
            </a:r>
          </a:p>
          <a:p>
            <a:pPr marL="435292" indent="-309562" defTabSz="411479">
              <a:lnSpc>
                <a:spcPct val="100000"/>
              </a:lnSpc>
              <a:spcBef>
                <a:spcPts val="1000"/>
              </a:spcBef>
              <a:buFont typeface="Times Roman"/>
              <a:defRPr sz="180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Мощность:</a:t>
            </a:r>
            <a:r>
              <a:t> для пропорций ориентир</a:t>
            </a:r>
            <a:br/>
            <a:r>
              <a:t>- выборка на группу n ≈ 2·(zₐ/₂+zᵦ)²·p̄(1−p̄)/MDE² ≈ 16·p̄(1−p̄)/MDE².</a:t>
            </a:r>
            <a:br/>
            <a:r>
              <a:t>- p̄ — базовый уровень метрики, MDE — заданные пороги на слайде 4.</a:t>
            </a:r>
          </a:p>
          <a:p>
            <a:pPr marL="411479" indent="-285750" defTabSz="411479">
              <a:lnSpc>
                <a:spcPct val="100000"/>
              </a:lnSpc>
              <a:spcBef>
                <a:spcPts val="1000"/>
              </a:spcBef>
              <a:buFont typeface="Times Roman"/>
              <a:defRPr sz="180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Методики устойчивости:</a:t>
            </a:r>
            <a:r>
              <a:t> CUPED (если есть pre-exposure ковариаты), diff-in-diff для кластеров (Fulfillment), event-time анализ «до/после» релизов.</a:t>
            </a:r>
          </a:p>
          <a:p>
            <a:pPr marL="411479" indent="-285750" defTabSz="411479">
              <a:lnSpc>
                <a:spcPct val="100000"/>
              </a:lnSpc>
              <a:spcBef>
                <a:spcPts val="1000"/>
              </a:spcBef>
              <a:buFont typeface="Times Roman"/>
              <a:defRPr sz="180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Деноминатор NSM:</a:t>
            </a:r>
            <a:r>
              <a:t>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OMNI MAU</a:t>
            </a:r>
            <a:r>
              <a:t> (по тестовому). Абсолюты покупателей считаем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только через aMAU</a:t>
            </a:r>
            <a:r>
              <a:t>.</a:t>
            </a:r>
          </a:p>
          <a:p>
            <a:pPr marL="411479" indent="-285750" defTabSz="411479">
              <a:lnSpc>
                <a:spcPct val="100000"/>
              </a:lnSpc>
              <a:spcBef>
                <a:spcPts val="1000"/>
              </a:spcBef>
              <a:buFont typeface="Times Roman"/>
              <a:defRPr sz="180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Guardrails (обязательные):</a:t>
            </a:r>
            <a:r>
              <a:t> NPS/CSAT не хуже;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CM2/order ≥ 0</a:t>
            </a:r>
            <a:r>
              <a:t> (Delivery и C&amp;C); On-time/Cancel/Returns в нормах;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доля отрицательных UCM</a:t>
            </a:r>
            <a:r>
              <a:t> не растёт.</a:t>
            </a:r>
          </a:p>
          <a:p>
            <a:pPr marL="411479" indent="-285750" defTabSz="411479">
              <a:lnSpc>
                <a:spcPct val="100000"/>
              </a:lnSpc>
              <a:spcBef>
                <a:spcPts val="1000"/>
              </a:spcBef>
              <a:buFont typeface="Times Roman"/>
              <a:defRPr sz="180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Каннибализация офлайна:</a:t>
            </a:r>
            <a:r>
              <a:t> geo-holdouts (минимум 2 региона) для фонового контроля.</a:t>
            </a:r>
          </a:p>
          <a:p>
            <a:pPr marL="0" indent="0" defTabSz="411479">
              <a:lnSpc>
                <a:spcPct val="100000"/>
              </a:lnSpc>
              <a:spcBef>
                <a:spcPts val="1000"/>
              </a:spcBef>
              <a:buSzTx/>
              <a:buNone/>
              <a:defRPr sz="1800">
                <a:latin typeface="PP Object Sans Heavy"/>
                <a:ea typeface="PP Object Sans Heavy"/>
                <a:cs typeface="PP Object Sans Heavy"/>
                <a:sym typeface="PP Object Sans Heavy"/>
              </a:defRPr>
            </a:pPr>
            <a:r>
              <a:t>Инструментация (добавить события):</a:t>
            </a:r>
            <a:br>
              <a:rPr>
                <a:latin typeface="PP Object Sans Regular"/>
                <a:ea typeface="PP Object Sans Regular"/>
                <a:cs typeface="PP Object Sans Regular"/>
                <a:sym typeface="PP Object Sans Regular"/>
              </a:rPr>
            </a:br>
            <a:r>
              <a:rPr>
                <a:latin typeface="PP Object Sans Regular"/>
                <a:ea typeface="PP Object Sans Regular"/>
                <a:cs typeface="PP Object Sans Regular"/>
                <a:sym typeface="PP Object Sans Regular"/>
              </a:rPr>
              <a:t>view_shop_entry, click_shop_entry, source_badge_shown, plp_quick_add, plp_variant_select, cart_mixed_flag, cta_split_checkout_click, checkout_flow_id, order_status_update(ETA), claim_one_click(type), contact_reason.</a:t>
            </a:r>
            <a:endParaRPr>
              <a:latin typeface="PP Object Sans Regular"/>
              <a:ea typeface="PP Object Sans Regular"/>
              <a:cs typeface="PP Object Sans Regular"/>
              <a:sym typeface="PP Object Sans Regular"/>
            </a:endParaRPr>
          </a:p>
          <a:p>
            <a:pPr marL="0" indent="0" defTabSz="411479">
              <a:lnSpc>
                <a:spcPct val="100000"/>
              </a:lnSpc>
              <a:spcBef>
                <a:spcPts val="1300"/>
              </a:spcBef>
              <a:buSzTx/>
              <a:buNone/>
              <a:defRPr sz="1800">
                <a:latin typeface="PP Object Sans Heavy"/>
                <a:ea typeface="PP Object Sans Heavy"/>
                <a:cs typeface="PP Object Sans Heavy"/>
                <a:sym typeface="PP Object Sans Heavy"/>
              </a:defRPr>
            </a:pPr>
            <a:r>
              <a:t>Связка с NSM и экономикой</a:t>
            </a:r>
          </a:p>
          <a:p>
            <a:pPr marL="411479" indent="-285750" defTabSz="411479">
              <a:lnSpc>
                <a:spcPct val="100000"/>
              </a:lnSpc>
              <a:spcBef>
                <a:spcPts val="1000"/>
              </a:spcBef>
              <a:buFont typeface="Times Roman"/>
              <a:defRPr sz="180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Атрибуция к NSM:</a:t>
            </a:r>
            <a:r>
              <a:t> вклад инициатив считаем через декомпозицию MBC:</a:t>
            </a:r>
            <a:br/>
            <a:r>
              <a:t>ΔMBC = ΔExposure × CTR × Intent × ATC × Checkout + … (перестановки по правилу произведения);</a:t>
            </a:r>
            <a:br/>
            <a:r>
              <a:t>для Fulfillment —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MDC = MBC × Fulfillment</a:t>
            </a:r>
            <a:r>
              <a:t>.</a:t>
            </a:r>
          </a:p>
          <a:p>
            <a:pPr marL="435292" indent="-309562" defTabSz="411479">
              <a:lnSpc>
                <a:spcPct val="100000"/>
              </a:lnSpc>
              <a:spcBef>
                <a:spcPts val="1000"/>
              </a:spcBef>
              <a:buFont typeface="Times Roman"/>
              <a:defRPr sz="180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Абсолюты покупателей:</a:t>
            </a:r>
            <a:r>
              <a:t>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только через aMAU</a:t>
            </a:r>
            <a:r>
              <a:t>,</a:t>
            </a:r>
            <a:br/>
            <a:r>
              <a:t>ΔBuyers = aMAU × (целевой MBC − базовый MBC),</a:t>
            </a:r>
            <a:br/>
            <a:r>
              <a:t>ΔBuyers_delivered = ΔBuyers × Fulfillment_success.</a:t>
            </a:r>
          </a:p>
          <a:p>
            <a:pPr marL="411479" indent="-285750" defTabSz="411479">
              <a:lnSpc>
                <a:spcPct val="100000"/>
              </a:lnSpc>
              <a:spcBef>
                <a:spcPts val="1000"/>
              </a:spcBef>
              <a:buFont typeface="Times Roman"/>
              <a:defRPr sz="180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P&amp;L-линки:</a:t>
            </a:r>
            <a:r>
              <a:t> на дашборде C-level показываем параллельно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CM2/order (Delivery/C&amp;C)</a:t>
            </a:r>
            <a:r>
              <a:t> и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долю отрицательных UCM</a:t>
            </a:r>
            <a:r>
              <a:t>; включаем «circuit breakers»: при нарушении порогов — авто-урезание инсентивов/порогов free/слотов.</a:t>
            </a:r>
          </a:p>
          <a:p>
            <a:pPr marL="0" indent="0" defTabSz="411479">
              <a:lnSpc>
                <a:spcPct val="100000"/>
              </a:lnSpc>
              <a:spcBef>
                <a:spcPts val="1300"/>
              </a:spcBef>
              <a:buSzTx/>
              <a:buNone/>
              <a:defRPr sz="1800">
                <a:latin typeface="PP Object Sans Heavy"/>
                <a:ea typeface="PP Object Sans Heavy"/>
                <a:cs typeface="PP Object Sans Heavy"/>
                <a:sym typeface="PP Object Sans Heavy"/>
              </a:defRPr>
            </a:pPr>
            <a:r>
              <a:t>Что готовим до старта (Definition of Ready)</a:t>
            </a:r>
          </a:p>
          <a:p>
            <a:pPr marL="411479" indent="-285750" defTabSz="411479">
              <a:lnSpc>
                <a:spcPct val="100000"/>
              </a:lnSpc>
              <a:spcBef>
                <a:spcPts val="1000"/>
              </a:spcBef>
              <a:buSzPct val="100000"/>
              <a:buFont typeface="Times Roman"/>
              <a:buAutoNum type="arabicPeriod" startAt="1"/>
              <a:defRPr sz="180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События и схемы:</a:t>
            </a:r>
            <a:r>
              <a:t> перечисленные выше + единые order_id/user_id/flow_id.</a:t>
            </a:r>
          </a:p>
          <a:p>
            <a:pPr marL="411479" indent="-285750" defTabSz="411479">
              <a:lnSpc>
                <a:spcPct val="100000"/>
              </a:lnSpc>
              <a:spcBef>
                <a:spcPts val="1000"/>
              </a:spcBef>
              <a:buSzPct val="100000"/>
              <a:buFont typeface="Times Roman"/>
              <a:buAutoNum type="arabicPeriod" startAt="1"/>
              <a:defRPr sz="180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Датасеты:</a:t>
            </a:r>
            <a:r>
              <a:t> aMAU по сегментам; Fulfillment_success по регионам; AOV_cat и share_cat (Delivery/C&amp;C).</a:t>
            </a:r>
          </a:p>
          <a:p>
            <a:pPr marL="411479" indent="-285750" defTabSz="411479">
              <a:lnSpc>
                <a:spcPct val="100000"/>
              </a:lnSpc>
              <a:spcBef>
                <a:spcPts val="1000"/>
              </a:spcBef>
              <a:buSzPct val="100000"/>
              <a:buFont typeface="Times Roman"/>
              <a:buAutoNum type="arabicPeriod" startAt="1"/>
              <a:defRPr sz="180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Дашборд:</a:t>
            </a:r>
            <a:r>
              <a:t> NSM (1/7/28), декомпозиция 6 шагов, guardrails, очередь A/B с MDE и D-date.</a:t>
            </a:r>
          </a:p>
          <a:p>
            <a:pPr marL="411479" indent="-285750" defTabSz="411479">
              <a:lnSpc>
                <a:spcPct val="100000"/>
              </a:lnSpc>
              <a:spcBef>
                <a:spcPts val="1000"/>
              </a:spcBef>
              <a:buSzPct val="100000"/>
              <a:buFont typeface="Times Roman"/>
              <a:buAutoNum type="arabicPeriod" startAt="1"/>
              <a:defRPr sz="180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Runbook:</a:t>
            </a:r>
            <a:r>
              <a:t> критерии остановки (SRM, деградация guardrails), процедура rollback, коммуникация.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4 инициативы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defRPr b="0" spc="0" sz="6500">
                <a:latin typeface="PP Object Sans Heavy"/>
                <a:ea typeface="PP Object Sans Heavy"/>
                <a:cs typeface="PP Object Sans Heavy"/>
                <a:sym typeface="PP Object Sans Heavy"/>
              </a:defRPr>
            </a:lvl1pPr>
          </a:lstStyle>
          <a:p>
            <a:pPr/>
            <a:r>
              <a:t>4 инициативы</a:t>
            </a:r>
          </a:p>
        </p:txBody>
      </p:sp>
      <p:sp>
        <p:nvSpPr>
          <p:cNvPr id="209" name="Инициатива 1 — Единый вход и навигация («Покупки» + табы + бейдж источника)…"/>
          <p:cNvSpPr txBox="1"/>
          <p:nvPr>
            <p:ph type="body" idx="1"/>
          </p:nvPr>
        </p:nvSpPr>
        <p:spPr>
          <a:xfrm>
            <a:off x="1206500" y="2276681"/>
            <a:ext cx="21971000" cy="11198397"/>
          </a:xfrm>
          <a:prstGeom prst="rect">
            <a:avLst/>
          </a:prstGeom>
        </p:spPr>
        <p:txBody>
          <a:bodyPr/>
          <a:lstStyle/>
          <a:p>
            <a:pPr marL="0" indent="0" defTabSz="246888">
              <a:lnSpc>
                <a:spcPct val="100000"/>
              </a:lnSpc>
              <a:spcBef>
                <a:spcPts val="800"/>
              </a:spcBef>
              <a:buSzTx/>
              <a:buNone/>
              <a:defRPr sz="1080">
                <a:latin typeface="PP Object Sans Heavy"/>
                <a:ea typeface="PP Object Sans Heavy"/>
                <a:cs typeface="PP Object Sans Heavy"/>
                <a:sym typeface="PP Object Sans Heavy"/>
              </a:defRPr>
            </a:pPr>
            <a:r>
              <a:t>Инициатива 1 — Единый вход и навигация («Покупки» + табы + бейдж источника)</a:t>
            </a:r>
          </a:p>
          <a:p>
            <a:pPr marL="246888" indent="-171450" defTabSz="246888">
              <a:lnSpc>
                <a:spcPct val="100000"/>
              </a:lnSpc>
              <a:spcBef>
                <a:spcPts val="600"/>
              </a:spcBef>
              <a:buFont typeface="Times Roman"/>
              <a:defRPr sz="108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Primary KPI и MDE:</a:t>
            </a:r>
            <a:br/>
            <a:r>
              <a:t>•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Views (Exposure)</a:t>
            </a:r>
            <a:r>
              <a:t> — доля OMNI MAU, видевших релевантный вход,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+15–20 п.п.</a:t>
            </a:r>
            <a:br/>
            <a:r>
              <a:t>•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CTR входов</a:t>
            </a:r>
            <a:r>
              <a:t> — клики/показы входа,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+0.3–0.5 п.п.</a:t>
            </a:r>
          </a:p>
          <a:p>
            <a:pPr marL="246888" indent="-171450" defTabSz="246888">
              <a:lnSpc>
                <a:spcPct val="100000"/>
              </a:lnSpc>
              <a:spcBef>
                <a:spcPts val="600"/>
              </a:spcBef>
              <a:buFont typeface="Times Roman"/>
              <a:defRPr sz="108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Secondary:</a:t>
            </a:r>
            <a:r>
              <a:t> Time-to-first-shop; Mixed-cart rate (диагностика) ; Crash-free/latency.</a:t>
            </a:r>
          </a:p>
          <a:p>
            <a:pPr marL="246888" indent="-171450" defTabSz="246888">
              <a:lnSpc>
                <a:spcPct val="100000"/>
              </a:lnSpc>
              <a:spcBef>
                <a:spcPts val="600"/>
              </a:spcBef>
              <a:buFont typeface="Times Roman"/>
              <a:defRPr sz="108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Дизайн:</a:t>
            </a:r>
            <a:r>
              <a:t> 50/50, 14 дней минимум, рандомизация по user_id.</a:t>
            </a:r>
          </a:p>
          <a:p>
            <a:pPr marL="246888" indent="-171450" defTabSz="246888">
              <a:lnSpc>
                <a:spcPct val="100000"/>
              </a:lnSpc>
              <a:spcBef>
                <a:spcPts val="600"/>
              </a:spcBef>
              <a:buFont typeface="Times Roman"/>
              <a:defRPr sz="108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Сегменты:</a:t>
            </a:r>
            <a:r>
              <a:t> новичок/повтор; регионы/кластеры; устройство (iOS/Android, low-end).</a:t>
            </a:r>
          </a:p>
          <a:p>
            <a:pPr marL="246888" indent="-171450" defTabSz="246888">
              <a:lnSpc>
                <a:spcPct val="100000"/>
              </a:lnSpc>
              <a:spcBef>
                <a:spcPts val="600"/>
              </a:spcBef>
              <a:buFont typeface="Times Roman"/>
              <a:defRPr sz="108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Инклюзионные правила:</a:t>
            </a:r>
            <a:r>
              <a:t> показывать вариант только тем, у кого доступен и «Из магазина», и «Маркет» (во избежание ложного экспозиционирования).</a:t>
            </a:r>
          </a:p>
          <a:p>
            <a:pPr marL="246888" indent="-171450" defTabSz="246888">
              <a:lnSpc>
                <a:spcPct val="100000"/>
              </a:lnSpc>
              <a:spcBef>
                <a:spcPts val="600"/>
              </a:spcBef>
              <a:buFont typeface="Times Roman"/>
              <a:defRPr sz="108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Decision gate:</a:t>
            </a:r>
            <a:r>
              <a:t> оба Primary ≥ MDE в доверительных интервалах, guardrails ок → поэтапный rollout (25%→50%→100%).</a:t>
            </a:r>
          </a:p>
          <a:p>
            <a:pPr marL="246888" indent="-171450" defTabSz="246888">
              <a:lnSpc>
                <a:spcPct val="100000"/>
              </a:lnSpc>
              <a:spcBef>
                <a:spcPts val="600"/>
              </a:spcBef>
              <a:buFont typeface="Times Roman"/>
              <a:defRPr sz="108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Failure modes → действия:</a:t>
            </a:r>
            <a:br/>
            <a:r>
              <a:t>• SRM ≠ 0 → пересемплировать/заморозить релиз;</a:t>
            </a:r>
            <a:br/>
            <a:r>
              <a:t>• Views растёт, CTR нет → тест позиций/копира входа;</a:t>
            </a:r>
            <a:br/>
            <a:r>
              <a:t>• рост Mixed-cart → ускорить внедрение «моста» (иниц. 3).</a:t>
            </a:r>
          </a:p>
          <a:p>
            <a:pPr marL="0" indent="0" defTabSz="246888">
              <a:lnSpc>
                <a:spcPct val="100000"/>
              </a:lnSpc>
              <a:spcBef>
                <a:spcPts val="0"/>
              </a:spcBef>
              <a:buSzTx/>
              <a:buNone/>
              <a:defRPr sz="1080">
                <a:solidFill>
                  <a:srgbClr val="808080"/>
                </a:solidFill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</a:p>
          <a:p>
            <a:pPr marL="0" indent="0" defTabSz="246888">
              <a:lnSpc>
                <a:spcPct val="100000"/>
              </a:lnSpc>
              <a:spcBef>
                <a:spcPts val="800"/>
              </a:spcBef>
              <a:buSzTx/>
              <a:buNone/>
              <a:defRPr sz="1080">
                <a:latin typeface="PP Object Sans Heavy"/>
                <a:ea typeface="PP Object Sans Heavy"/>
                <a:cs typeface="PP Object Sans Heavy"/>
                <a:sym typeface="PP Object Sans Heavy"/>
              </a:defRPr>
            </a:pPr>
            <a:r>
              <a:t>5.3. Инициатива 2 — Быстрый ATC с PLP (+ мультивыбор, «Мои 20/Покупай снова» сверху)</a:t>
            </a:r>
          </a:p>
          <a:p>
            <a:pPr marL="246888" indent="-171450" defTabSz="246888">
              <a:lnSpc>
                <a:spcPct val="100000"/>
              </a:lnSpc>
              <a:spcBef>
                <a:spcPts val="600"/>
              </a:spcBef>
              <a:buFont typeface="Times Roman"/>
              <a:defRPr sz="1080">
                <a:latin typeface="PP Object Sans Heavy"/>
                <a:ea typeface="PP Object Sans Heavy"/>
                <a:cs typeface="PP Object Sans Heavy"/>
                <a:sym typeface="PP Object Sans Heavy"/>
              </a:defRPr>
            </a:pPr>
            <a:r>
              <a:t>Primary KPI и MDE:</a:t>
            </a:r>
            <a:br>
              <a:rPr>
                <a:latin typeface="PP Object Sans Regular"/>
                <a:ea typeface="PP Object Sans Regular"/>
                <a:cs typeface="PP Object Sans Regular"/>
                <a:sym typeface="PP Object Sans Regular"/>
              </a:rPr>
            </a:br>
            <a:r>
              <a:rPr>
                <a:latin typeface="PP Object Sans Regular"/>
                <a:ea typeface="PP Object Sans Regular"/>
                <a:cs typeface="PP Object Sans Regular"/>
                <a:sym typeface="PP Object Sans Regular"/>
              </a:rPr>
              <a:t>• </a:t>
            </a:r>
            <a:r>
              <a:t>ATC CVR</a:t>
            </a:r>
            <a:r>
              <a:rPr>
                <a:latin typeface="PP Object Sans Regular"/>
                <a:ea typeface="PP Object Sans Regular"/>
                <a:cs typeface="PP Object Sans Regular"/>
                <a:sym typeface="PP Object Sans Regular"/>
              </a:rPr>
              <a:t>, </a:t>
            </a:r>
            <a:r>
              <a:t>+1–2 п.п.</a:t>
            </a:r>
            <a:br>
              <a:rPr>
                <a:latin typeface="PP Object Sans Regular"/>
                <a:ea typeface="PP Object Sans Regular"/>
                <a:cs typeface="PP Object Sans Regular"/>
                <a:sym typeface="PP Object Sans Regular"/>
              </a:rPr>
            </a:br>
            <a:r>
              <a:rPr>
                <a:latin typeface="PP Object Sans Regular"/>
                <a:ea typeface="PP Object Sans Regular"/>
                <a:cs typeface="PP Object Sans Regular"/>
                <a:sym typeface="PP Object Sans Regular"/>
              </a:rPr>
              <a:t>• </a:t>
            </a:r>
            <a:r>
              <a:t>AOV</a:t>
            </a:r>
            <a:r>
              <a:rPr>
                <a:latin typeface="PP Object Sans Regular"/>
                <a:ea typeface="PP Object Sans Regular"/>
                <a:cs typeface="PP Object Sans Regular"/>
                <a:sym typeface="PP Object Sans Regular"/>
              </a:rPr>
              <a:t>, </a:t>
            </a:r>
            <a:r>
              <a:t>+8–12%</a:t>
            </a:r>
            <a:endParaRPr>
              <a:latin typeface="PP Object Sans Regular"/>
              <a:ea typeface="PP Object Sans Regular"/>
              <a:cs typeface="PP Object Sans Regular"/>
              <a:sym typeface="PP Object Sans Regular"/>
            </a:endParaRPr>
          </a:p>
          <a:p>
            <a:pPr marL="246888" indent="-171450" defTabSz="246888">
              <a:lnSpc>
                <a:spcPct val="100000"/>
              </a:lnSpc>
              <a:spcBef>
                <a:spcPts val="600"/>
              </a:spcBef>
              <a:buFont typeface="Times Roman"/>
              <a:defRPr sz="108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Secondary/guardrails:</a:t>
            </a:r>
            <a:r>
              <a:t> Edit-rate корзины (не выше +X%); Undo-rate (в разумных пределах);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CM2/order по затронутым категориям ≥ 0</a:t>
            </a:r>
            <a:r>
              <a:t>.</a:t>
            </a:r>
          </a:p>
          <a:p>
            <a:pPr marL="246888" indent="-171450" defTabSz="246888">
              <a:lnSpc>
                <a:spcPct val="100000"/>
              </a:lnSpc>
              <a:spcBef>
                <a:spcPts val="600"/>
              </a:spcBef>
              <a:buFont typeface="Times Roman"/>
              <a:defRPr sz="108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Дизайн:</a:t>
            </a:r>
            <a:r>
              <a:t> 50/50, 21 день; вариации: (A) baseline, (B) quick-add на PLP для безатрибутных + компактный селектор для вариативных + мультивыбор; «Мои 20/Покупай снова» — выше сгиба.</a:t>
            </a:r>
          </a:p>
          <a:p>
            <a:pPr marL="246888" indent="-171450" defTabSz="246888">
              <a:lnSpc>
                <a:spcPct val="100000"/>
              </a:lnSpc>
              <a:spcBef>
                <a:spcPts val="600"/>
              </a:spcBef>
              <a:buFont typeface="Times Roman"/>
              <a:defRPr sz="108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Сегменты:</a:t>
            </a:r>
            <a:r>
              <a:t> FMCG vs non-FMCG; Delivery vs C&amp;C; корзины &lt; / ≥ порога free.</a:t>
            </a:r>
          </a:p>
          <a:p>
            <a:pPr marL="246888" indent="-171450" defTabSz="246888">
              <a:lnSpc>
                <a:spcPct val="100000"/>
              </a:lnSpc>
              <a:spcBef>
                <a:spcPts val="600"/>
              </a:spcBef>
              <a:buFont typeface="Times Roman"/>
              <a:defRPr sz="108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Decision gate:</a:t>
            </a:r>
            <a:r>
              <a:t> оба Primary ≥ MDE и экономика в норме → волновой rollout по категориям (начать с высокочастотных FMCG).</a:t>
            </a:r>
          </a:p>
          <a:p>
            <a:pPr marL="246888" indent="-171450" defTabSz="246888">
              <a:lnSpc>
                <a:spcPct val="100000"/>
              </a:lnSpc>
              <a:spcBef>
                <a:spcPts val="600"/>
              </a:spcBef>
              <a:buFont typeface="Times Roman"/>
              <a:defRPr sz="108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Failure modes → действия:</a:t>
            </a:r>
            <a:br/>
            <a:r>
              <a:t>• рост Undo/редактирования → увеличить задержку тоста undo, улучшить мини-редактор;</a:t>
            </a:r>
            <a:br/>
            <a:r>
              <a:t>• AOV не растёт при росте ATC → включить автодобор до порога free.</a:t>
            </a:r>
          </a:p>
          <a:p>
            <a:pPr marL="0" indent="0" defTabSz="246888">
              <a:lnSpc>
                <a:spcPct val="100000"/>
              </a:lnSpc>
              <a:spcBef>
                <a:spcPts val="0"/>
              </a:spcBef>
              <a:buSzTx/>
              <a:buNone/>
              <a:defRPr sz="1080">
                <a:solidFill>
                  <a:srgbClr val="808080"/>
                </a:solidFill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</a:p>
          <a:p>
            <a:pPr marL="0" indent="0" defTabSz="246888">
              <a:lnSpc>
                <a:spcPct val="100000"/>
              </a:lnSpc>
              <a:spcBef>
                <a:spcPts val="800"/>
              </a:spcBef>
              <a:buSzTx/>
              <a:buNone/>
              <a:defRPr sz="1080">
                <a:latin typeface="PP Object Sans Heavy"/>
                <a:ea typeface="PP Object Sans Heavy"/>
                <a:cs typeface="PP Object Sans Heavy"/>
                <a:sym typeface="PP Object Sans Heavy"/>
              </a:defRPr>
            </a:pPr>
            <a:r>
              <a:t>5.4. Инициатива 3 — «Мост» для смешанных корзин (структурный Checkout)</a:t>
            </a:r>
          </a:p>
          <a:p>
            <a:pPr marL="246888" indent="-171450" defTabSz="246888">
              <a:lnSpc>
                <a:spcPct val="100000"/>
              </a:lnSpc>
              <a:spcBef>
                <a:spcPts val="600"/>
              </a:spcBef>
              <a:buFont typeface="Times Roman"/>
              <a:defRPr sz="1080">
                <a:latin typeface="PP Object Sans Heavy"/>
                <a:ea typeface="PP Object Sans Heavy"/>
                <a:cs typeface="PP Object Sans Heavy"/>
                <a:sym typeface="PP Object Sans Heavy"/>
              </a:defRPr>
            </a:pPr>
            <a:r>
              <a:t>Primary KPI и MDE:</a:t>
            </a:r>
            <a:br>
              <a:rPr>
                <a:latin typeface="PP Object Sans Regular"/>
                <a:ea typeface="PP Object Sans Regular"/>
                <a:cs typeface="PP Object Sans Regular"/>
                <a:sym typeface="PP Object Sans Regular"/>
              </a:rPr>
            </a:br>
            <a:r>
              <a:rPr>
                <a:latin typeface="PP Object Sans Regular"/>
                <a:ea typeface="PP Object Sans Regular"/>
                <a:cs typeface="PP Object Sans Regular"/>
                <a:sym typeface="PP Object Sans Regular"/>
              </a:rPr>
              <a:t>• </a:t>
            </a:r>
            <a:r>
              <a:t>Checkout CVR (mixed-cart)</a:t>
            </a:r>
            <a:r>
              <a:rPr>
                <a:latin typeface="PP Object Sans Regular"/>
                <a:ea typeface="PP Object Sans Regular"/>
                <a:cs typeface="PP Object Sans Regular"/>
                <a:sym typeface="PP Object Sans Regular"/>
              </a:rPr>
              <a:t>, </a:t>
            </a:r>
            <a:r>
              <a:t>+3–5 п.п.</a:t>
            </a:r>
            <a:endParaRPr>
              <a:latin typeface="PP Object Sans Regular"/>
              <a:ea typeface="PP Object Sans Regular"/>
              <a:cs typeface="PP Object Sans Regular"/>
              <a:sym typeface="PP Object Sans Regular"/>
            </a:endParaRPr>
          </a:p>
          <a:p>
            <a:pPr marL="246888" indent="-171450" defTabSz="246888">
              <a:lnSpc>
                <a:spcPct val="100000"/>
              </a:lnSpc>
              <a:spcBef>
                <a:spcPts val="600"/>
              </a:spcBef>
              <a:buFont typeface="Times Roman"/>
              <a:defRPr sz="108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Secondary/guardrails:</a:t>
            </a:r>
            <a:r>
              <a:t>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Pay-success%</a:t>
            </a:r>
            <a:r>
              <a:t> не хуже;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Cancel%</a:t>
            </a:r>
            <a:r>
              <a:t> не выше; Contact rate не растёт;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CM2/order ≥ 0</a:t>
            </a:r>
            <a:r>
              <a:t>.</a:t>
            </a:r>
          </a:p>
          <a:p>
            <a:pPr marL="246888" indent="-171450" defTabSz="246888">
              <a:lnSpc>
                <a:spcPct val="100000"/>
              </a:lnSpc>
              <a:spcBef>
                <a:spcPts val="600"/>
              </a:spcBef>
              <a:buFont typeface="Times Roman"/>
              <a:defRPr sz="108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Дизайн:</a:t>
            </a:r>
            <a:r>
              <a:t> 50/50, 21–28 дней; (A) как есть; (B) инфо-бар «2 источника» +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1-клик «оформить отдельно»</a:t>
            </a:r>
            <a:r>
              <a:t> (две транзакции подряд) + общий прогресс бонусов/идентичность.</a:t>
            </a:r>
          </a:p>
          <a:p>
            <a:pPr marL="246888" indent="-171450" defTabSz="246888">
              <a:lnSpc>
                <a:spcPct val="100000"/>
              </a:lnSpc>
              <a:spcBef>
                <a:spcPts val="600"/>
              </a:spcBef>
              <a:buFont typeface="Times Roman"/>
              <a:defRPr sz="108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Сегменты:</a:t>
            </a:r>
            <a:r>
              <a:t> mixed vs non-mixed; способ оплаты; когорты с высокой долей перекрытия ассортимента.</a:t>
            </a:r>
          </a:p>
          <a:p>
            <a:pPr marL="246888" indent="-171450" defTabSz="246888">
              <a:lnSpc>
                <a:spcPct val="100000"/>
              </a:lnSpc>
              <a:spcBef>
                <a:spcPts val="600"/>
              </a:spcBef>
              <a:buFont typeface="Times Roman"/>
              <a:defRPr sz="108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Decision gate:</a:t>
            </a:r>
            <a:r>
              <a:t> прирост ≥ MDE без деградации guardrails → включение по регионам/категориям.</a:t>
            </a:r>
          </a:p>
          <a:p>
            <a:pPr marL="246888" indent="-171450" defTabSz="246888">
              <a:lnSpc>
                <a:spcPct val="100000"/>
              </a:lnSpc>
              <a:spcBef>
                <a:spcPts val="600"/>
              </a:spcBef>
              <a:buFont typeface="Times Roman"/>
              <a:defRPr sz="108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Failure modes → действия:</a:t>
            </a:r>
            <a:br/>
            <a:r>
              <a:t>• рост отказов на оплате второго заказа → кэширование метода оплаты/одна сессия;</a:t>
            </a:r>
            <a:br/>
            <a:r>
              <a:t>• непонимание пользователем цены/ETA → явные бейджи «источник», дублирование стоимости/ETA в обоих подпотоках.</a:t>
            </a:r>
          </a:p>
          <a:p>
            <a:pPr marL="0" indent="0" defTabSz="246888">
              <a:lnSpc>
                <a:spcPct val="100000"/>
              </a:lnSpc>
              <a:spcBef>
                <a:spcPts val="0"/>
              </a:spcBef>
              <a:buSzTx/>
              <a:buNone/>
              <a:defRPr sz="1080">
                <a:solidFill>
                  <a:srgbClr val="808080"/>
                </a:solidFill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</a:p>
          <a:p>
            <a:pPr marL="0" indent="0" defTabSz="246888">
              <a:lnSpc>
                <a:spcPct val="100000"/>
              </a:lnSpc>
              <a:spcBef>
                <a:spcPts val="800"/>
              </a:spcBef>
              <a:buSzTx/>
              <a:buNone/>
              <a:defRPr sz="1080">
                <a:latin typeface="PP Object Sans Heavy"/>
                <a:ea typeface="PP Object Sans Heavy"/>
                <a:cs typeface="PP Object Sans Heavy"/>
                <a:sym typeface="PP Object Sans Heavy"/>
              </a:defRPr>
            </a:pPr>
            <a:r>
              <a:t>5.5. Инициатива 4 — Прозрачный post-purchase в Маркете (SLA/ETA + 1-клик претензия)</a:t>
            </a:r>
          </a:p>
          <a:p>
            <a:pPr marL="246888" indent="-171450" defTabSz="246888">
              <a:lnSpc>
                <a:spcPct val="100000"/>
              </a:lnSpc>
              <a:spcBef>
                <a:spcPts val="600"/>
              </a:spcBef>
              <a:buFont typeface="Times Roman"/>
              <a:defRPr sz="1080">
                <a:latin typeface="PP Object Sans Heavy"/>
                <a:ea typeface="PP Object Sans Heavy"/>
                <a:cs typeface="PP Object Sans Heavy"/>
                <a:sym typeface="PP Object Sans Heavy"/>
              </a:defRPr>
            </a:pPr>
            <a:r>
              <a:t>Primary KPI и MDE:</a:t>
            </a:r>
            <a:br>
              <a:rPr>
                <a:latin typeface="PP Object Sans Regular"/>
                <a:ea typeface="PP Object Sans Regular"/>
                <a:cs typeface="PP Object Sans Regular"/>
                <a:sym typeface="PP Object Sans Regular"/>
              </a:rPr>
            </a:br>
            <a:r>
              <a:rPr>
                <a:latin typeface="PP Object Sans Regular"/>
                <a:ea typeface="PP Object Sans Regular"/>
                <a:cs typeface="PP Object Sans Regular"/>
                <a:sym typeface="PP Object Sans Regular"/>
              </a:rPr>
              <a:t>• </a:t>
            </a:r>
            <a:r>
              <a:t>Delivered-success %</a:t>
            </a:r>
            <a:r>
              <a:rPr>
                <a:latin typeface="PP Object Sans Regular"/>
                <a:ea typeface="PP Object Sans Regular"/>
                <a:cs typeface="PP Object Sans Regular"/>
                <a:sym typeface="PP Object Sans Regular"/>
              </a:rPr>
              <a:t>, </a:t>
            </a:r>
            <a:r>
              <a:t>+2–3 п.п.</a:t>
            </a:r>
            <a:br>
              <a:rPr>
                <a:latin typeface="PP Object Sans Regular"/>
                <a:ea typeface="PP Object Sans Regular"/>
                <a:cs typeface="PP Object Sans Regular"/>
                <a:sym typeface="PP Object Sans Regular"/>
              </a:rPr>
            </a:br>
            <a:r>
              <a:rPr>
                <a:latin typeface="PP Object Sans Regular"/>
                <a:ea typeface="PP Object Sans Regular"/>
                <a:cs typeface="PP Object Sans Regular"/>
                <a:sym typeface="PP Object Sans Regular"/>
              </a:rPr>
              <a:t>• </a:t>
            </a:r>
            <a:r>
              <a:t>On-time %</a:t>
            </a:r>
            <a:r>
              <a:rPr>
                <a:latin typeface="PP Object Sans Regular"/>
                <a:ea typeface="PP Object Sans Regular"/>
                <a:cs typeface="PP Object Sans Regular"/>
                <a:sym typeface="PP Object Sans Regular"/>
              </a:rPr>
              <a:t>, </a:t>
            </a:r>
            <a:r>
              <a:t>+Y п.п.</a:t>
            </a:r>
            <a:endParaRPr>
              <a:latin typeface="PP Object Sans Regular"/>
              <a:ea typeface="PP Object Sans Regular"/>
              <a:cs typeface="PP Object Sans Regular"/>
              <a:sym typeface="PP Object Sans Regular"/>
            </a:endParaRPr>
          </a:p>
          <a:p>
            <a:pPr marL="246888" indent="-171450" defTabSz="246888">
              <a:lnSpc>
                <a:spcPct val="100000"/>
              </a:lnSpc>
              <a:spcBef>
                <a:spcPts val="600"/>
              </a:spcBef>
              <a:buFont typeface="Times Roman"/>
              <a:defRPr sz="1080">
                <a:latin typeface="PP Object Sans Heavy"/>
                <a:ea typeface="PP Object Sans Heavy"/>
                <a:cs typeface="PP Object Sans Heavy"/>
                <a:sym typeface="PP Object Sans Heavy"/>
              </a:defRPr>
            </a:pPr>
            <a:r>
              <a:t>Secondary:</a:t>
            </a:r>
            <a:r>
              <a:rPr>
                <a:latin typeface="PP Object Sans Regular"/>
                <a:ea typeface="PP Object Sans Regular"/>
                <a:cs typeface="PP Object Sans Regular"/>
                <a:sym typeface="PP Object Sans Regular"/>
              </a:rPr>
              <a:t> </a:t>
            </a:r>
            <a:r>
              <a:t>Post-purchase contact rate −X%</a:t>
            </a:r>
            <a:r>
              <a:rPr>
                <a:latin typeface="PP Object Sans Regular"/>
                <a:ea typeface="PP Object Sans Regular"/>
                <a:cs typeface="PP Object Sans Regular"/>
                <a:sym typeface="PP Object Sans Regular"/>
              </a:rPr>
              <a:t>, </a:t>
            </a:r>
            <a:r>
              <a:t>Repeat 30/90d +3–5 п.п.</a:t>
            </a:r>
            <a:r>
              <a:rPr>
                <a:latin typeface="PP Object Sans Regular"/>
                <a:ea typeface="PP Object Sans Regular"/>
                <a:cs typeface="PP Object Sans Regular"/>
                <a:sym typeface="PP Object Sans Regular"/>
              </a:rPr>
              <a:t> (лаг).</a:t>
            </a:r>
            <a:endParaRPr>
              <a:latin typeface="PP Object Sans Regular"/>
              <a:ea typeface="PP Object Sans Regular"/>
              <a:cs typeface="PP Object Sans Regular"/>
              <a:sym typeface="PP Object Sans Regular"/>
            </a:endParaRPr>
          </a:p>
          <a:p>
            <a:pPr marL="246888" indent="-171450" defTabSz="246888">
              <a:lnSpc>
                <a:spcPct val="100000"/>
              </a:lnSpc>
              <a:spcBef>
                <a:spcPts val="600"/>
              </a:spcBef>
              <a:buFont typeface="Times Roman"/>
              <a:defRPr sz="108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Дизайн:</a:t>
            </a:r>
            <a:r>
              <a:t> кластерный тест по регионам/СЦ, 28–42 дня; diff-in-diff к контрольным кластерам.</a:t>
            </a:r>
          </a:p>
          <a:p>
            <a:pPr marL="246888" indent="-171450" defTabSz="246888">
              <a:lnSpc>
                <a:spcPct val="100000"/>
              </a:lnSpc>
              <a:spcBef>
                <a:spcPts val="600"/>
              </a:spcBef>
              <a:buFont typeface="Times Roman"/>
              <a:defRPr sz="108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Сегменты:</a:t>
            </a:r>
            <a:r>
              <a:t> категории (FMCG/GM), Delivery vs C&amp;C, SLA-слоты.</a:t>
            </a:r>
          </a:p>
          <a:p>
            <a:pPr marL="246888" indent="-171450" defTabSz="246888">
              <a:lnSpc>
                <a:spcPct val="100000"/>
              </a:lnSpc>
              <a:spcBef>
                <a:spcPts val="600"/>
              </a:spcBef>
              <a:buFont typeface="Times Roman"/>
              <a:defRPr sz="108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Decision gate:</a:t>
            </a:r>
            <a:r>
              <a:t> обе Primary ≥ MDE, контакт-рейт не растёт, NPS/CSAT не хуже → масштабирование.</a:t>
            </a:r>
          </a:p>
          <a:p>
            <a:pPr marL="246888" indent="-171450" defTabSz="246888">
              <a:lnSpc>
                <a:spcPct val="100000"/>
              </a:lnSpc>
              <a:spcBef>
                <a:spcPts val="600"/>
              </a:spcBef>
              <a:buFont typeface="Times Roman"/>
              <a:defRPr sz="108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Failure modes → действия:</a:t>
            </a:r>
            <a:br/>
            <a:r>
              <a:t>• всплеск обращений → авто-категоризация, приоритизация кейсов «недовложение/задержка», SLA саппорта;</a:t>
            </a:r>
            <a:br/>
            <a:r>
              <a:t>• On-time не растёт → пересчёт capacity-правил слотов, локальные «тихие часы».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Модель вклада: от MBC к покупателям, GMV и P&amp;L (decision-grade)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338327">
              <a:lnSpc>
                <a:spcPct val="100000"/>
              </a:lnSpc>
              <a:defRPr b="0" spc="0" sz="4810">
                <a:latin typeface="PP Object Sans Heavy"/>
                <a:ea typeface="PP Object Sans Heavy"/>
                <a:cs typeface="PP Object Sans Heavy"/>
                <a:sym typeface="PP Object Sans Heavy"/>
              </a:defRPr>
            </a:lvl1pPr>
          </a:lstStyle>
          <a:p>
            <a:pPr/>
            <a:r>
              <a:t>Модель вклада: от MBC к покупателям, GMV и P&amp;L (decision-grade)</a:t>
            </a:r>
          </a:p>
        </p:txBody>
      </p:sp>
      <p:sp>
        <p:nvSpPr>
          <p:cNvPr id="212" name="Что считаем: переводим рост NSM = MBC в абсолютных покупателей, GMV и вклад в юнит-экономику — без «додумываний» и с учётом мультикатегорийности и исполнения (Fulfillment).…"/>
          <p:cNvSpPr txBox="1"/>
          <p:nvPr>
            <p:ph type="body" sz="half" idx="1"/>
          </p:nvPr>
        </p:nvSpPr>
        <p:spPr>
          <a:xfrm>
            <a:off x="1206500" y="2471182"/>
            <a:ext cx="10016967" cy="11409428"/>
          </a:xfrm>
          <a:prstGeom prst="rect">
            <a:avLst/>
          </a:prstGeom>
        </p:spPr>
        <p:txBody>
          <a:bodyPr/>
          <a:lstStyle/>
          <a:p>
            <a:pPr marL="0" indent="0" defTabSz="388620">
              <a:lnSpc>
                <a:spcPct val="100000"/>
              </a:lnSpc>
              <a:spcBef>
                <a:spcPts val="1000"/>
              </a:spcBef>
              <a:buSzTx/>
              <a:buNone/>
              <a:defRPr sz="170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Что считаем:</a:t>
            </a:r>
            <a:r>
              <a:t> переводим рост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NSM = MBC</a:t>
            </a:r>
            <a:r>
              <a:t> в абсолютных покупателей, GMV и вклад в юнит-экономику — без «додумываний» и с учётом мультикатегорийности и исполнения (Fulfillment).</a:t>
            </a:r>
          </a:p>
          <a:p>
            <a:pPr marL="0" indent="0" defTabSz="388620">
              <a:lnSpc>
                <a:spcPct val="100000"/>
              </a:lnSpc>
              <a:spcBef>
                <a:spcPts val="0"/>
              </a:spcBef>
              <a:buSzTx/>
              <a:buNone/>
              <a:defRPr sz="1700">
                <a:solidFill>
                  <a:srgbClr val="808080"/>
                </a:solidFill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</a:p>
          <a:p>
            <a:pPr marL="0" indent="0" defTabSz="388620">
              <a:lnSpc>
                <a:spcPct val="100000"/>
              </a:lnSpc>
              <a:spcBef>
                <a:spcPts val="1200"/>
              </a:spcBef>
              <a:buSzTx/>
              <a:buNone/>
              <a:defRPr sz="1700">
                <a:latin typeface="PP Object Sans Heavy"/>
                <a:ea typeface="PP Object Sans Heavy"/>
                <a:cs typeface="PP Object Sans Heavy"/>
                <a:sym typeface="PP Object Sans Heavy"/>
              </a:defRPr>
            </a:pPr>
            <a:r>
              <a:t>6.1. Абсолютные покупатели (оформлено → исполнено)</a:t>
            </a:r>
          </a:p>
          <a:p>
            <a:pPr marL="0" indent="0" defTabSz="388620">
              <a:lnSpc>
                <a:spcPct val="100000"/>
              </a:lnSpc>
              <a:spcBef>
                <a:spcPts val="1000"/>
              </a:spcBef>
              <a:buSzTx/>
              <a:buNone/>
              <a:defRPr sz="170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Addressable MAU (aMAU)</a:t>
            </a:r>
            <a:br/>
            <a:r>
              <a:t>aMAU = OMNI_MAU × Availability × Eligibility × Exposure_seen</a:t>
            </a:r>
            <a:br/>
            <a:r>
              <a:t>где:</a:t>
            </a:r>
            <a:br/>
            <a:r>
              <a:t>• </a:t>
            </a:r>
            <a:r>
              <a:rPr i="1"/>
              <a:t>Availability</a:t>
            </a:r>
            <a:r>
              <a:t> — доступность модулей/гео/складов;</a:t>
            </a:r>
            <a:br/>
            <a:r>
              <a:t>• </a:t>
            </a:r>
            <a:r>
              <a:rPr i="1"/>
              <a:t>Eligibility</a:t>
            </a:r>
            <a:r>
              <a:t> — KYC/платёж/возрастные/регуляторные допуски;</a:t>
            </a:r>
            <a:br/>
            <a:r>
              <a:t>• </a:t>
            </a:r>
            <a:r>
              <a:rPr i="1"/>
              <a:t>Exposure_seen</a:t>
            </a:r>
            <a:r>
              <a:t> — доля MAU, реально увидевших релевантный вход.</a:t>
            </a:r>
          </a:p>
          <a:p>
            <a:pPr marL="0" indent="0" defTabSz="388620">
              <a:lnSpc>
                <a:spcPct val="100000"/>
              </a:lnSpc>
              <a:spcBef>
                <a:spcPts val="1000"/>
              </a:spcBef>
              <a:buSzTx/>
              <a:buNone/>
              <a:defRPr sz="170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Покупатели (оформлено):</a:t>
            </a:r>
            <a:br/>
            <a:r>
              <a:t>ΔBuyers_ordered = aMAU × (MBC_target − MBC_base)</a:t>
            </a:r>
          </a:p>
          <a:p>
            <a:pPr marL="0" indent="0" defTabSz="388620">
              <a:lnSpc>
                <a:spcPct val="100000"/>
              </a:lnSpc>
              <a:spcBef>
                <a:spcPts val="1000"/>
              </a:spcBef>
              <a:buSzTx/>
              <a:buNone/>
              <a:defRPr sz="170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Покупатели (исполнено):</a:t>
            </a:r>
            <a:br/>
            <a:r>
              <a:t>ΔBuyers_delivered = ΔBuyers_ordered × Fulfillment_success</a:t>
            </a:r>
          </a:p>
          <a:p>
            <a:pPr marL="0" indent="0" defTabSz="388620">
              <a:lnSpc>
                <a:spcPct val="100000"/>
              </a:lnSpc>
              <a:spcBef>
                <a:spcPts val="1000"/>
              </a:spcBef>
              <a:buSzTx/>
              <a:buNone/>
              <a:defRPr sz="170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Почему так:</a:t>
            </a:r>
            <a:r>
              <a:t> знаменатель NSM по тестовому —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OMNI MAU</a:t>
            </a:r>
            <a:r>
              <a:t>, но абсолюты считаем только от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aMAU</a:t>
            </a:r>
            <a:r>
              <a:t> (иначе завышаем).</a:t>
            </a:r>
          </a:p>
          <a:p>
            <a:pPr marL="0" indent="0" defTabSz="388620">
              <a:lnSpc>
                <a:spcPct val="100000"/>
              </a:lnSpc>
              <a:spcBef>
                <a:spcPts val="0"/>
              </a:spcBef>
              <a:buSzTx/>
              <a:buNone/>
              <a:defRPr sz="1700">
                <a:solidFill>
                  <a:srgbClr val="808080"/>
                </a:solidFill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</a:p>
          <a:p>
            <a:pPr marL="0" indent="0" defTabSz="388620">
              <a:lnSpc>
                <a:spcPct val="100000"/>
              </a:lnSpc>
              <a:spcBef>
                <a:spcPts val="1200"/>
              </a:spcBef>
              <a:buSzTx/>
              <a:buNone/>
              <a:defRPr sz="1700">
                <a:latin typeface="PP Object Sans Heavy"/>
                <a:ea typeface="PP Object Sans Heavy"/>
                <a:cs typeface="PP Object Sans Heavy"/>
                <a:sym typeface="PP Object Sans Heavy"/>
              </a:defRPr>
            </a:pPr>
            <a:r>
              <a:t>6.2. GMV: мультикатегорийный и двуканальный (Delivery / C&amp;C)</a:t>
            </a:r>
          </a:p>
          <a:p>
            <a:pPr marL="0" indent="0" defTabSz="388620">
              <a:lnSpc>
                <a:spcPct val="100000"/>
              </a:lnSpc>
              <a:spcBef>
                <a:spcPts val="1000"/>
              </a:spcBef>
              <a:buSzTx/>
              <a:buNone/>
              <a:defRPr sz="170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Категорийный микс и AOV:</a:t>
            </a:r>
            <a:br/>
            <a:r>
              <a:t>GMV_uplift = Σ_{cat} [ (ΔBuyers_ordered × share_cat) × AOV_cat × Mix(Delivery,C&amp;C) ]</a:t>
            </a:r>
          </a:p>
          <a:p>
            <a:pPr marL="0" indent="0" defTabSz="388620">
              <a:lnSpc>
                <a:spcPct val="100000"/>
              </a:lnSpc>
              <a:spcBef>
                <a:spcPts val="1000"/>
              </a:spcBef>
              <a:buSzTx/>
              <a:buNone/>
              <a:defRPr sz="170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t>где AOV_cat и share_cat берём из фактического микса;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Mix(Delivery,C&amp;C)</a:t>
            </a:r>
            <a:r>
              <a:t> — доли получения (разные чеки и комиссии).</a:t>
            </a:r>
          </a:p>
          <a:p>
            <a:pPr marL="0" indent="0" defTabSz="388620">
              <a:lnSpc>
                <a:spcPct val="100000"/>
              </a:lnSpc>
              <a:spcBef>
                <a:spcPts val="1000"/>
              </a:spcBef>
              <a:buSzTx/>
              <a:buNone/>
              <a:defRPr sz="1700">
                <a:latin typeface="PP Object Sans Heavy"/>
                <a:ea typeface="PP Object Sans Heavy"/>
                <a:cs typeface="PP Object Sans Heavy"/>
                <a:sym typeface="PP Object Sans Heavy"/>
              </a:defRPr>
            </a:pPr>
            <a:r>
              <a:rPr>
                <a:latin typeface="PP Object Sans Regular"/>
                <a:ea typeface="PP Object Sans Regular"/>
                <a:cs typeface="PP Object Sans Regular"/>
                <a:sym typeface="PP Object Sans Regular"/>
              </a:rPr>
              <a:t>На дашборде показываем </a:t>
            </a:r>
            <a:r>
              <a:t>Weighted AOV = Σ (w_cat × AOV_cat)</a:t>
            </a:r>
            <a:r>
              <a:rPr>
                <a:latin typeface="PP Object Sans Regular"/>
                <a:ea typeface="PP Object Sans Regular"/>
                <a:cs typeface="PP Object Sans Regular"/>
                <a:sym typeface="PP Object Sans Regular"/>
              </a:rPr>
              <a:t> отдельно для Delivery и C&amp;C.</a:t>
            </a:r>
            <a:endParaRPr>
              <a:latin typeface="PP Object Sans Regular"/>
              <a:ea typeface="PP Object Sans Regular"/>
              <a:cs typeface="PP Object Sans Regular"/>
              <a:sym typeface="PP Object Sans Regular"/>
            </a:endParaRPr>
          </a:p>
          <a:p>
            <a:pPr marL="0" indent="0" defTabSz="388620">
              <a:lnSpc>
                <a:spcPct val="100000"/>
              </a:lnSpc>
              <a:spcBef>
                <a:spcPts val="1000"/>
              </a:spcBef>
              <a:buSzTx/>
              <a:buNone/>
              <a:defRPr sz="1700">
                <a:latin typeface="PP Object Sans Heavy"/>
                <a:ea typeface="PP Object Sans Heavy"/>
                <a:cs typeface="PP Object Sans Heavy"/>
                <a:sym typeface="PP Object Sans Heavy"/>
              </a:defRPr>
            </a:pPr>
            <a:r>
              <a:t>Связь с инициативами:</a:t>
            </a:r>
            <a:endParaRPr>
              <a:latin typeface="PP Object Sans Regular"/>
              <a:ea typeface="PP Object Sans Regular"/>
              <a:cs typeface="PP Object Sans Regular"/>
              <a:sym typeface="PP Object Sans Regular"/>
            </a:endParaRPr>
          </a:p>
          <a:p>
            <a:pPr marL="388620" indent="-269875" defTabSz="388620">
              <a:lnSpc>
                <a:spcPct val="100000"/>
              </a:lnSpc>
              <a:spcBef>
                <a:spcPts val="1000"/>
              </a:spcBef>
              <a:buFont typeface="Times Roman"/>
              <a:defRPr sz="170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t>Иниц.1 (навигация) → ↑</a:t>
            </a:r>
            <a:r>
              <a:rPr i="1"/>
              <a:t>Exposure_seen</a:t>
            </a:r>
            <a:r>
              <a:t> → ↑aMAU → ↑ΔBuyers.</a:t>
            </a:r>
          </a:p>
          <a:p>
            <a:pPr marL="388620" indent="-269875" defTabSz="388620">
              <a:lnSpc>
                <a:spcPct val="100000"/>
              </a:lnSpc>
              <a:spcBef>
                <a:spcPts val="1000"/>
              </a:spcBef>
              <a:buFont typeface="Times Roman"/>
              <a:defRPr sz="170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t>Иниц.2 (быстрый ATC) → ↑MBC и ↑AOV_cat/кросс-селл.</a:t>
            </a:r>
          </a:p>
          <a:p>
            <a:pPr marL="388620" indent="-269875" defTabSz="388620">
              <a:lnSpc>
                <a:spcPct val="100000"/>
              </a:lnSpc>
              <a:spcBef>
                <a:spcPts val="1000"/>
              </a:spcBef>
              <a:buFont typeface="Times Roman"/>
              <a:defRPr sz="170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t>Иниц.3 (мост корзин) → ↑MBC за счёт Checkout CVR, без иллюзии единой корзины.</a:t>
            </a:r>
          </a:p>
          <a:p>
            <a:pPr marL="388620" indent="-269875" defTabSz="388620">
              <a:lnSpc>
                <a:spcPct val="100000"/>
              </a:lnSpc>
              <a:spcBef>
                <a:spcPts val="1000"/>
              </a:spcBef>
              <a:buFont typeface="Times Roman"/>
              <a:defRPr sz="170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t>Иниц.4 (post-purchase) → ↑Fulfillment_success и удержание (Repeat 30/90d).</a:t>
            </a:r>
          </a:p>
          <a:p>
            <a:pPr marL="0" indent="0" defTabSz="388620">
              <a:lnSpc>
                <a:spcPct val="100000"/>
              </a:lnSpc>
              <a:spcBef>
                <a:spcPts val="0"/>
              </a:spcBef>
              <a:buSzTx/>
              <a:buNone/>
              <a:defRPr sz="1700">
                <a:solidFill>
                  <a:srgbClr val="808080"/>
                </a:solidFill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</a:p>
        </p:txBody>
      </p:sp>
      <p:sp>
        <p:nvSpPr>
          <p:cNvPr id="213" name="6.3. P&amp;L: вклад по заказу и по SKU (линки к guardrails)…"/>
          <p:cNvSpPr txBox="1"/>
          <p:nvPr/>
        </p:nvSpPr>
        <p:spPr>
          <a:xfrm>
            <a:off x="12213418" y="2308641"/>
            <a:ext cx="11422228" cy="11273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defTabSz="457200">
              <a:lnSpc>
                <a:spcPct val="100000"/>
              </a:lnSpc>
              <a:spcBef>
                <a:spcPts val="1400"/>
              </a:spcBef>
              <a:defRPr sz="1300">
                <a:latin typeface="PP Object Sans Heavy"/>
                <a:ea typeface="PP Object Sans Heavy"/>
                <a:cs typeface="PP Object Sans Heavy"/>
                <a:sym typeface="PP Object Sans Heavy"/>
              </a:defRPr>
            </a:pPr>
            <a:r>
              <a:t>6.3. P&amp;L: вклад по заказу и по SKU (линки к guardrails)</a:t>
            </a:r>
          </a:p>
          <a:p>
            <a:pPr defTabSz="457200">
              <a:lnSpc>
                <a:spcPct val="100000"/>
              </a:lnSpc>
              <a:spcBef>
                <a:spcPts val="1200"/>
              </a:spcBef>
              <a:defRPr sz="130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Вклад на заказ (Contribution / CM2_order):</a:t>
            </a:r>
            <a:br/>
            <a:r>
              <a:t>CM2_order = NetRevenue − COGS − Logistics_var − Payments_fees − Picking&amp;Packing − Incentives − Refunds/Compensations</a:t>
            </a:r>
          </a:p>
          <a:p>
            <a:pPr defTabSz="457200">
              <a:lnSpc>
                <a:spcPct val="100000"/>
              </a:lnSpc>
              <a:spcBef>
                <a:spcPts val="1200"/>
              </a:spcBef>
              <a:defRPr sz="130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Вклад на SKU (UCM_sku):</a:t>
            </a:r>
            <a:br/>
            <a:r>
              <a:t>UCM_sku = NetPrice − COGS − Promo_sku − Alloc(Logistics_var) − Alloc(Payments_fees) − Alloc(Picking&amp;Packing) − ExpReturns</a:t>
            </a:r>
          </a:p>
          <a:p>
            <a:pPr defTabSz="457200">
              <a:lnSpc>
                <a:spcPct val="100000"/>
              </a:lnSpc>
              <a:spcBef>
                <a:spcPts val="1200"/>
              </a:spcBef>
              <a:defRPr sz="1300">
                <a:latin typeface="PP Object Sans Heavy"/>
                <a:ea typeface="PP Object Sans Heavy"/>
                <a:cs typeface="PP Object Sans Heavy"/>
                <a:sym typeface="PP Object Sans Heavy"/>
              </a:defRPr>
            </a:pPr>
            <a:r>
              <a:t>Guardrails в онлайне дашборда C-level:</a:t>
            </a:r>
            <a:endParaRPr>
              <a:latin typeface="PP Object Sans Regular"/>
              <a:ea typeface="PP Object Sans Regular"/>
              <a:cs typeface="PP Object Sans Regular"/>
              <a:sym typeface="PP Object Sans Regular"/>
            </a:endParaRPr>
          </a:p>
          <a:p>
            <a:pPr marL="457200" indent="-317500" defTabSz="457200">
              <a:lnSpc>
                <a:spcPct val="100000"/>
              </a:lnSpc>
              <a:spcBef>
                <a:spcPts val="1200"/>
              </a:spcBef>
              <a:buSzPct val="123000"/>
              <a:buFont typeface="Times Roman"/>
              <a:buChar char="•"/>
              <a:defRPr sz="1300">
                <a:latin typeface="PP Object Sans Heavy"/>
                <a:ea typeface="PP Object Sans Heavy"/>
                <a:cs typeface="PP Object Sans Heavy"/>
                <a:sym typeface="PP Object Sans Heavy"/>
              </a:defRPr>
            </a:pPr>
            <a:r>
              <a:t>CM2/order (Delivery и C&amp;C) ≥ 0</a:t>
            </a:r>
            <a:r>
              <a:rPr>
                <a:latin typeface="PP Object Sans Regular"/>
                <a:ea typeface="PP Object Sans Regular"/>
                <a:cs typeface="PP Object Sans Regular"/>
                <a:sym typeface="PP Object Sans Regular"/>
              </a:rPr>
              <a:t>;</a:t>
            </a:r>
            <a:endParaRPr>
              <a:latin typeface="PP Object Sans Regular"/>
              <a:ea typeface="PP Object Sans Regular"/>
              <a:cs typeface="PP Object Sans Regular"/>
              <a:sym typeface="PP Object Sans Regular"/>
            </a:endParaRPr>
          </a:p>
          <a:p>
            <a:pPr marL="457200" indent="-317500" defTabSz="457200">
              <a:lnSpc>
                <a:spcPct val="100000"/>
              </a:lnSpc>
              <a:spcBef>
                <a:spcPts val="1200"/>
              </a:spcBef>
              <a:buSzPct val="123000"/>
              <a:buFont typeface="Times Roman"/>
              <a:buChar char="•"/>
              <a:defRPr sz="1300">
                <a:latin typeface="PP Object Sans Heavy"/>
                <a:ea typeface="PP Object Sans Heavy"/>
                <a:cs typeface="PP Object Sans Heavy"/>
                <a:sym typeface="PP Object Sans Heavy"/>
              </a:defRPr>
            </a:pPr>
            <a:r>
              <a:t>Доля «минусовых» UCM_sku ≤ Sₙ%</a:t>
            </a:r>
            <a:r>
              <a:rPr>
                <a:latin typeface="PP Object Sans Regular"/>
                <a:ea typeface="PP Object Sans Regular"/>
                <a:cs typeface="PP Object Sans Regular"/>
                <a:sym typeface="PP Object Sans Regular"/>
              </a:rPr>
              <a:t>;</a:t>
            </a:r>
            <a:endParaRPr>
              <a:latin typeface="PP Object Sans Regular"/>
              <a:ea typeface="PP Object Sans Regular"/>
              <a:cs typeface="PP Object Sans Regular"/>
              <a:sym typeface="PP Object Sans Regular"/>
            </a:endParaRPr>
          </a:p>
          <a:p>
            <a:pPr marL="457200" indent="-317500" defTabSz="457200">
              <a:lnSpc>
                <a:spcPct val="100000"/>
              </a:lnSpc>
              <a:spcBef>
                <a:spcPts val="1200"/>
              </a:spcBef>
              <a:buSzPct val="123000"/>
              <a:buFont typeface="Times Roman"/>
              <a:buChar char="•"/>
              <a:defRPr sz="130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t>Валовая маржа ≥ X%, скидки ≤ S%;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LTV/CAC ≥ 3</a:t>
            </a:r>
            <a:r>
              <a:t>.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1300">
                <a:solidFill>
                  <a:srgbClr val="808080"/>
                </a:solidFill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</a:p>
          <a:p>
            <a:pPr defTabSz="457200">
              <a:lnSpc>
                <a:spcPct val="100000"/>
              </a:lnSpc>
              <a:spcBef>
                <a:spcPts val="1400"/>
              </a:spcBef>
              <a:defRPr sz="1300">
                <a:latin typeface="PP Object Sans Heavy"/>
                <a:ea typeface="PP Object Sans Heavy"/>
                <a:cs typeface="PP Object Sans Heavy"/>
                <a:sym typeface="PP Object Sans Heavy"/>
              </a:defRPr>
            </a:pPr>
            <a:r>
              <a:t>6.4. Атрибуция эффекта на MBC (честная)</a:t>
            </a:r>
          </a:p>
          <a:p>
            <a:pPr defTabSz="457200">
              <a:lnSpc>
                <a:spcPct val="100000"/>
              </a:lnSpc>
              <a:spcBef>
                <a:spcPts val="1200"/>
              </a:spcBef>
              <a:defRPr sz="130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Декомпозиция произведения (Shapley-подобно):</a:t>
            </a:r>
            <a:br/>
            <a:r>
              <a:t>Вклад инициатив считаем как средний предельный прирост по шагам воронки при разных порядках добавления:</a:t>
            </a:r>
            <a:br/>
            <a:r>
              <a:t>ΔMBC ≈ E_orderings [ Π_j (p_j^new / p_j^base) − 1 ], где p_j ∈ {Exposure, CTR, Intent, ATC, Checkout}.</a:t>
            </a:r>
          </a:p>
          <a:p>
            <a:pPr defTabSz="457200">
              <a:lnSpc>
                <a:spcPct val="100000"/>
              </a:lnSpc>
              <a:spcBef>
                <a:spcPts val="1200"/>
              </a:spcBef>
              <a:defRPr sz="130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t>Даёт устойчивую долю вклада «Навигации», «ATC», «Моста»; Fulfillment атрибутируем в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MDC</a:t>
            </a:r>
            <a:r>
              <a:t> и в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Repeat</a:t>
            </a:r>
            <a:r>
              <a:t>.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1300">
                <a:solidFill>
                  <a:srgbClr val="808080"/>
                </a:solidFill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</a:p>
          <a:p>
            <a:pPr defTabSz="457200">
              <a:lnSpc>
                <a:spcPct val="100000"/>
              </a:lnSpc>
              <a:spcBef>
                <a:spcPts val="1400"/>
              </a:spcBef>
              <a:defRPr sz="1300">
                <a:latin typeface="PP Object Sans Heavy"/>
                <a:ea typeface="PP Object Sans Heavy"/>
                <a:cs typeface="PP Object Sans Heavy"/>
                <a:sym typeface="PP Object Sans Heavy"/>
              </a:defRPr>
            </a:pPr>
            <a:r>
              <a:t>6.5. Санити-чеки и «стоп-линии»</a:t>
            </a:r>
          </a:p>
          <a:p>
            <a:pPr defTabSz="457200">
              <a:lnSpc>
                <a:spcPct val="100000"/>
              </a:lnSpc>
              <a:spcBef>
                <a:spcPts val="1200"/>
              </a:spcBef>
              <a:defRPr sz="1300">
                <a:latin typeface="PP Object Sans Heavy"/>
                <a:ea typeface="PP Object Sans Heavy"/>
                <a:cs typeface="PP Object Sans Heavy"/>
                <a:sym typeface="PP Object Sans Heavy"/>
              </a:defRPr>
            </a:pPr>
            <a:r>
              <a:t>Санити:</a:t>
            </a:r>
            <a:endParaRPr>
              <a:latin typeface="PP Object Sans Regular"/>
              <a:ea typeface="PP Object Sans Regular"/>
              <a:cs typeface="PP Object Sans Regular"/>
              <a:sym typeface="PP Object Sans Regular"/>
            </a:endParaRPr>
          </a:p>
          <a:p>
            <a:pPr marL="457200" indent="-317500" defTabSz="457200">
              <a:lnSpc>
                <a:spcPct val="100000"/>
              </a:lnSpc>
              <a:spcBef>
                <a:spcPts val="1200"/>
              </a:spcBef>
              <a:buSzPct val="123000"/>
              <a:buFont typeface="Times Roman"/>
              <a:buChar char="•"/>
              <a:defRPr sz="130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t>Рост MBC без роста aMAU → проверяем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SRM/атрибуцию</a:t>
            </a:r>
            <a:r>
              <a:t> (ошибка экспозиции).</a:t>
            </a:r>
          </a:p>
          <a:p>
            <a:pPr marL="457200" indent="-317500" defTabSz="457200">
              <a:lnSpc>
                <a:spcPct val="100000"/>
              </a:lnSpc>
              <a:spcBef>
                <a:spcPts val="1200"/>
              </a:spcBef>
              <a:buSzPct val="123000"/>
              <a:buFont typeface="Times Roman"/>
              <a:buChar char="•"/>
              <a:defRPr sz="130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t>Рост ATC без AOV → включаем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автодобор до порога free</a:t>
            </a:r>
            <a:r>
              <a:t>.</a:t>
            </a:r>
          </a:p>
          <a:p>
            <a:pPr marL="457200" indent="-317500" defTabSz="457200">
              <a:lnSpc>
                <a:spcPct val="100000"/>
              </a:lnSpc>
              <a:spcBef>
                <a:spcPts val="1200"/>
              </a:spcBef>
              <a:buSzPct val="123000"/>
              <a:buFont typeface="Times Roman"/>
              <a:buChar char="•"/>
              <a:defRPr sz="130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t>Рост MBC, падение MDC → проблемы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On-time / недовложения</a:t>
            </a:r>
            <a:r>
              <a:t> (иниц.4).</a:t>
            </a:r>
          </a:p>
          <a:p>
            <a:pPr defTabSz="457200">
              <a:lnSpc>
                <a:spcPct val="100000"/>
              </a:lnSpc>
              <a:spcBef>
                <a:spcPts val="1200"/>
              </a:spcBef>
              <a:defRPr sz="1300">
                <a:latin typeface="PP Object Sans Heavy"/>
                <a:ea typeface="PP Object Sans Heavy"/>
                <a:cs typeface="PP Object Sans Heavy"/>
                <a:sym typeface="PP Object Sans Heavy"/>
              </a:defRPr>
            </a:pPr>
            <a:r>
              <a:t>Стоп-линии (circuit breakers):</a:t>
            </a:r>
            <a:endParaRPr>
              <a:latin typeface="PP Object Sans Regular"/>
              <a:ea typeface="PP Object Sans Regular"/>
              <a:cs typeface="PP Object Sans Regular"/>
              <a:sym typeface="PP Object Sans Regular"/>
            </a:endParaRPr>
          </a:p>
          <a:p>
            <a:pPr marL="457200" indent="-317500" defTabSz="457200">
              <a:lnSpc>
                <a:spcPct val="100000"/>
              </a:lnSpc>
              <a:spcBef>
                <a:spcPts val="1200"/>
              </a:spcBef>
              <a:buSzPct val="123000"/>
              <a:buFont typeface="Times Roman"/>
              <a:buChar char="•"/>
              <a:defRPr sz="130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CM2/order &lt; 0</a:t>
            </a:r>
            <a:r>
              <a:t> в любом из каналов → авто-кап инсентивов/повышение порога free/сузить слоты.</a:t>
            </a:r>
          </a:p>
          <a:p>
            <a:pPr marL="457200" indent="-317500" defTabSz="457200">
              <a:lnSpc>
                <a:spcPct val="100000"/>
              </a:lnSpc>
              <a:spcBef>
                <a:spcPts val="1200"/>
              </a:spcBef>
              <a:buSzPct val="123000"/>
              <a:buFont typeface="Times Roman"/>
              <a:buChar char="•"/>
              <a:defRPr sz="130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On-time &lt; Y%</a:t>
            </a:r>
            <a:r>
              <a:t> или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Cancel/Returns &gt; порога</a:t>
            </a:r>
            <a:r>
              <a:t> → откат вариаций, перерасчёт capacity.</a:t>
            </a:r>
          </a:p>
          <a:p>
            <a:pPr marL="457200" indent="-317500" defTabSz="457200">
              <a:lnSpc>
                <a:spcPct val="100000"/>
              </a:lnSpc>
              <a:spcBef>
                <a:spcPts val="1200"/>
              </a:spcBef>
              <a:buSzPct val="123000"/>
              <a:buFont typeface="Times Roman"/>
              <a:buChar char="•"/>
              <a:defRPr sz="130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Каннибализация офлайна &gt; K%</a:t>
            </a:r>
            <a:r>
              <a:t> (geo-holdouts) → пауза на кластерах.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1300">
                <a:solidFill>
                  <a:srgbClr val="808080"/>
                </a:solidFill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</a:p>
          <a:p>
            <a:pPr defTabSz="457200">
              <a:lnSpc>
                <a:spcPct val="100000"/>
              </a:lnSpc>
              <a:spcBef>
                <a:spcPts val="1400"/>
              </a:spcBef>
              <a:defRPr sz="1300">
                <a:latin typeface="PP Object Sans Heavy"/>
                <a:ea typeface="PP Object Sans Heavy"/>
                <a:cs typeface="PP Object Sans Heavy"/>
                <a:sym typeface="PP Object Sans Heavy"/>
              </a:defRPr>
            </a:pPr>
            <a:r>
              <a:t>6.6. Что нужно для расчёта (Definition of Data Ready)</a:t>
            </a:r>
          </a:p>
          <a:p>
            <a:pPr marL="457200" indent="-317500" defTabSz="457200">
              <a:lnSpc>
                <a:spcPct val="100000"/>
              </a:lnSpc>
              <a:spcBef>
                <a:spcPts val="1200"/>
              </a:spcBef>
              <a:buSzPct val="100000"/>
              <a:buFont typeface="Times Roman"/>
              <a:buAutoNum type="arabicPeriod" startAt="1"/>
              <a:defRPr sz="130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aMAU компоненты:</a:t>
            </a:r>
            <a:r>
              <a:t> Availability (по гео/модулям), Eligibility (KYC/платёж), Exposure_seen (по событиям view_shop_entry).</a:t>
            </a:r>
          </a:p>
          <a:p>
            <a:pPr marL="457200" indent="-317500" defTabSz="457200">
              <a:lnSpc>
                <a:spcPct val="100000"/>
              </a:lnSpc>
              <a:spcBef>
                <a:spcPts val="1200"/>
              </a:spcBef>
              <a:buSzPct val="100000"/>
              <a:buFont typeface="Times Roman"/>
              <a:buAutoNum type="arabicPeriod" startAt="1"/>
              <a:defRPr sz="1300">
                <a:latin typeface="PP Object Sans Heavy"/>
                <a:ea typeface="PP Object Sans Heavy"/>
                <a:cs typeface="PP Object Sans Heavy"/>
                <a:sym typeface="PP Object Sans Heavy"/>
              </a:defRPr>
            </a:pPr>
            <a:r>
              <a:t>Категорийные данные:</a:t>
            </a:r>
            <a:r>
              <a:rPr>
                <a:latin typeface="PP Object Sans Regular"/>
                <a:ea typeface="PP Object Sans Regular"/>
                <a:cs typeface="PP Object Sans Regular"/>
                <a:sym typeface="PP Object Sans Regular"/>
              </a:rPr>
              <a:t> share_cat, AOV_cat × (Delivery, C&amp;C).</a:t>
            </a:r>
            <a:endParaRPr>
              <a:latin typeface="PP Object Sans Regular"/>
              <a:ea typeface="PP Object Sans Regular"/>
              <a:cs typeface="PP Object Sans Regular"/>
              <a:sym typeface="PP Object Sans Regular"/>
            </a:endParaRPr>
          </a:p>
          <a:p>
            <a:pPr marL="457200" indent="-317500" defTabSz="457200">
              <a:lnSpc>
                <a:spcPct val="100000"/>
              </a:lnSpc>
              <a:spcBef>
                <a:spcPts val="1200"/>
              </a:spcBef>
              <a:buSzPct val="100000"/>
              <a:buFont typeface="Times Roman"/>
              <a:buAutoNum type="arabicPeriod" startAt="1"/>
              <a:defRPr sz="130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Fulfillment_success:</a:t>
            </a:r>
            <a:r>
              <a:t> On-time, Delivered/Collected success по регионам/СЦ.</a:t>
            </a:r>
          </a:p>
          <a:p>
            <a:pPr marL="457200" indent="-317500" defTabSz="457200">
              <a:lnSpc>
                <a:spcPct val="100000"/>
              </a:lnSpc>
              <a:spcBef>
                <a:spcPts val="1200"/>
              </a:spcBef>
              <a:buSzPct val="100000"/>
              <a:buFont typeface="Times Roman"/>
              <a:buAutoNum type="arabicPeriod" startAt="1"/>
              <a:defRPr sz="130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P&amp;L источники:</a:t>
            </a:r>
            <a:r>
              <a:t> комиссии платежей по методам (карта/СБП/Мир Pay), логистика (по вес/объём/температура), нормо-минуты пикинга, правила инсентивов/возвратов.</a:t>
            </a:r>
          </a:p>
          <a:p>
            <a:pPr defTabSz="457200">
              <a:lnSpc>
                <a:spcPct val="100000"/>
              </a:lnSpc>
              <a:spcBef>
                <a:spcPts val="1200"/>
              </a:spcBef>
              <a:defRPr sz="1300">
                <a:latin typeface="PP Object Sans Heavy"/>
                <a:ea typeface="PP Object Sans Heavy"/>
                <a:cs typeface="PP Object Sans Heavy"/>
                <a:sym typeface="PP Object Sans Heavy"/>
              </a:defRPr>
            </a:pPr>
            <a:r>
              <a:rPr>
                <a:latin typeface="PP Object Sans Regular"/>
                <a:ea typeface="PP Object Sans Regular"/>
                <a:cs typeface="PP Object Sans Regular"/>
                <a:sym typeface="PP Object Sans Regular"/>
              </a:rPr>
              <a:t>После утверждения модели подключаем </a:t>
            </a:r>
            <a:r>
              <a:t>Слайд 6A — Unit Economics (детализация CM2_order/UCM_sku, распределения затрат, стоп-правила)</a:t>
            </a:r>
            <a:r>
              <a:rPr>
                <a:latin typeface="PP Object Sans Regular"/>
                <a:ea typeface="PP Object Sans Regular"/>
                <a:cs typeface="PP Object Sans Regular"/>
                <a:sym typeface="PP Object Sans Regular"/>
              </a:rPr>
              <a:t>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Unit Economics — что считаем, как меряем, где рычаги (Delivery vs C&amp;C, мультикатегории)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83463">
              <a:lnSpc>
                <a:spcPct val="100000"/>
              </a:lnSpc>
              <a:defRPr b="0" spc="0" sz="4030">
                <a:latin typeface="PP Object Sans Heavy"/>
                <a:ea typeface="PP Object Sans Heavy"/>
                <a:cs typeface="PP Object Sans Heavy"/>
                <a:sym typeface="PP Object Sans Heavy"/>
              </a:defRPr>
            </a:lvl1pPr>
          </a:lstStyle>
          <a:p>
            <a:pPr/>
            <a:r>
              <a:t>Unit Economics — что считаем, как меряем, где рычаги (Delivery vs C&amp;C, мультикатегории)</a:t>
            </a:r>
          </a:p>
        </p:txBody>
      </p:sp>
      <p:sp>
        <p:nvSpPr>
          <p:cNvPr id="216" name="Цель слайда: дать C-level рамку юнит-экономики, совместимую с NSM-логикой (MBC/MDC), и показать, какие ручки двигают доходность без расширения скидок.…"/>
          <p:cNvSpPr txBox="1"/>
          <p:nvPr>
            <p:ph type="body" sz="half" idx="1"/>
          </p:nvPr>
        </p:nvSpPr>
        <p:spPr>
          <a:xfrm>
            <a:off x="966337" y="2671796"/>
            <a:ext cx="10795051" cy="11409428"/>
          </a:xfrm>
          <a:prstGeom prst="rect">
            <a:avLst/>
          </a:prstGeom>
        </p:spPr>
        <p:txBody>
          <a:bodyPr/>
          <a:lstStyle/>
          <a:p>
            <a:pPr marL="0" indent="0" defTabSz="457200">
              <a:lnSpc>
                <a:spcPct val="100000"/>
              </a:lnSpc>
              <a:spcBef>
                <a:spcPts val="1200"/>
              </a:spcBef>
              <a:buSzTx/>
              <a:buNone/>
              <a:defRPr sz="13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Цель слайда:</a:t>
            </a:r>
            <a:r>
              <a:t> дать C-level рамку юнит-экономики, совместимую с NSM-логикой (MBC/MDC), и показать, </a:t>
            </a:r>
            <a:r>
              <a:rPr b="1"/>
              <a:t>какие ручки</a:t>
            </a:r>
            <a:r>
              <a:t> двигают доходность </a:t>
            </a:r>
            <a:r>
              <a:rPr b="1"/>
              <a:t>без</a:t>
            </a:r>
            <a:r>
              <a:t> расширения скидок.</a:t>
            </a:r>
          </a:p>
          <a:p>
            <a:pPr marL="0" indent="0" defTabSz="457200">
              <a:lnSpc>
                <a:spcPct val="100000"/>
              </a:lnSpc>
              <a:spcBef>
                <a:spcPts val="0"/>
              </a:spcBef>
              <a:buSzTx/>
              <a:buNone/>
              <a:defRPr sz="1300">
                <a:solidFill>
                  <a:srgbClr val="80808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 marL="0" indent="0" defTabSz="457200">
              <a:lnSpc>
                <a:spcPct val="100000"/>
              </a:lnSpc>
              <a:spcBef>
                <a:spcPts val="1400"/>
              </a:spcBef>
              <a:buSzTx/>
              <a:buNone/>
              <a:defRPr b="1" sz="13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6A.1. Доходность на заказ (CM2_order) — по каналам получения</a:t>
            </a:r>
          </a:p>
          <a:p>
            <a:pPr marL="0" indent="0" defTabSz="457200">
              <a:lnSpc>
                <a:spcPct val="100000"/>
              </a:lnSpc>
              <a:spcBef>
                <a:spcPts val="1200"/>
              </a:spcBef>
              <a:buSzTx/>
              <a:buNone/>
              <a:defRPr b="1" sz="13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Формула (на заказ):</a:t>
            </a:r>
            <a:br>
              <a:rPr b="0"/>
            </a:br>
            <a:r>
              <a:t>CM2_order = NetRevenue − COGS − Logistics_var − Payments_fees − Picking&amp;Packing − Incentives − Refunds/Compensations</a:t>
            </a:r>
            <a:endParaRPr b="0"/>
          </a:p>
          <a:p>
            <a:pPr marL="0" indent="0" defTabSz="457200">
              <a:lnSpc>
                <a:spcPct val="100000"/>
              </a:lnSpc>
              <a:spcBef>
                <a:spcPts val="1200"/>
              </a:spcBef>
              <a:buSzTx/>
              <a:buNone/>
              <a:defRPr b="1" sz="13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Сплиты для мониторинга:</a:t>
            </a:r>
            <a:endParaRPr b="0"/>
          </a:p>
          <a:p>
            <a:pPr marL="457200" indent="-317500" defTabSz="457200">
              <a:lnSpc>
                <a:spcPct val="100000"/>
              </a:lnSpc>
              <a:spcBef>
                <a:spcPts val="1200"/>
              </a:spcBef>
              <a:buFont typeface="Times Roman"/>
              <a:defRPr sz="13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Канал:</a:t>
            </a:r>
            <a:r>
              <a:t> </a:t>
            </a:r>
            <a:r>
              <a:rPr b="1"/>
              <a:t>Delivery</a:t>
            </a:r>
            <a:r>
              <a:t> vs </a:t>
            </a:r>
            <a:r>
              <a:rPr b="1"/>
              <a:t>C&amp;C</a:t>
            </a:r>
            <a:r>
              <a:t> (разные логистические и платёжные издержки).</a:t>
            </a:r>
          </a:p>
          <a:p>
            <a:pPr marL="457200" indent="-317500" defTabSz="457200">
              <a:lnSpc>
                <a:spcPct val="100000"/>
              </a:lnSpc>
              <a:spcBef>
                <a:spcPts val="1200"/>
              </a:spcBef>
              <a:buFont typeface="Times Roman"/>
              <a:defRPr b="1" sz="13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Корзина:</a:t>
            </a:r>
            <a:r>
              <a:rPr b="0"/>
              <a:t> &lt; / ≥ </a:t>
            </a:r>
            <a:r>
              <a:t>порога free-delivery</a:t>
            </a:r>
            <a:r>
              <a:rPr b="0"/>
              <a:t>.</a:t>
            </a:r>
            <a:endParaRPr b="0"/>
          </a:p>
          <a:p>
            <a:pPr marL="457200" indent="-317500" defTabSz="457200">
              <a:lnSpc>
                <a:spcPct val="100000"/>
              </a:lnSpc>
              <a:spcBef>
                <a:spcPts val="1200"/>
              </a:spcBef>
              <a:buFont typeface="Times Roman"/>
              <a:defRPr sz="13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Оплата:</a:t>
            </a:r>
            <a:r>
              <a:t> карта / </a:t>
            </a:r>
            <a:r>
              <a:rPr b="1"/>
              <a:t>СБП</a:t>
            </a:r>
            <a:r>
              <a:t> / </a:t>
            </a:r>
            <a:r>
              <a:rPr b="1"/>
              <a:t>Мир Pay</a:t>
            </a:r>
            <a:r>
              <a:t> (разные комиссии).</a:t>
            </a:r>
          </a:p>
          <a:p>
            <a:pPr marL="457200" indent="-317500" defTabSz="457200">
              <a:lnSpc>
                <a:spcPct val="100000"/>
              </a:lnSpc>
              <a:spcBef>
                <a:spcPts val="1200"/>
              </a:spcBef>
              <a:buFont typeface="Times Roman"/>
              <a:defRPr sz="13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Регион / СЦ</a:t>
            </a:r>
            <a:r>
              <a:t> (capability и расстояния).</a:t>
            </a:r>
          </a:p>
          <a:p>
            <a:pPr marL="457200" indent="-317500" defTabSz="457200">
              <a:lnSpc>
                <a:spcPct val="100000"/>
              </a:lnSpc>
              <a:spcBef>
                <a:spcPts val="1200"/>
              </a:spcBef>
              <a:buFont typeface="Times Roman"/>
              <a:defRPr sz="13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Категория mix:</a:t>
            </a:r>
            <a:r>
              <a:t> FMCG / GM / Питомцы / Красота/Фарма* / Хозтовары. *С учётом регуляторики.</a:t>
            </a:r>
          </a:p>
          <a:p>
            <a:pPr marL="0" indent="0" defTabSz="457200">
              <a:lnSpc>
                <a:spcPct val="100000"/>
              </a:lnSpc>
              <a:spcBef>
                <a:spcPts val="1200"/>
              </a:spcBef>
              <a:buSzTx/>
              <a:buNone/>
              <a:defRPr b="1" sz="13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Стоп-линии (guardrails):</a:t>
            </a:r>
            <a:endParaRPr b="0"/>
          </a:p>
          <a:p>
            <a:pPr marL="457200" indent="-317500" defTabSz="457200">
              <a:lnSpc>
                <a:spcPct val="100000"/>
              </a:lnSpc>
              <a:spcBef>
                <a:spcPts val="1200"/>
              </a:spcBef>
              <a:buFont typeface="Times Roman"/>
              <a:defRPr sz="13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CM2_order ≥ 0</a:t>
            </a:r>
            <a:r>
              <a:t> по каждому каналу (Delivery и C&amp;C).</a:t>
            </a:r>
          </a:p>
          <a:p>
            <a:pPr marL="457200" indent="-317500" defTabSz="457200">
              <a:lnSpc>
                <a:spcPct val="100000"/>
              </a:lnSpc>
              <a:spcBef>
                <a:spcPts val="1200"/>
              </a:spcBef>
              <a:buFont typeface="Times Roman"/>
              <a:defRPr sz="13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Если &lt; 0 → автоматическое: (1) поднять порог free на Δ, (2) урезать инсентивы до cap, (3) </a:t>
            </a:r>
            <a:r>
              <a:rPr b="1"/>
              <a:t>сузить слоты</a:t>
            </a:r>
            <a:r>
              <a:t> (capacity-aware), (4) вытеснить дорогие способы оплаты в фоновую опцию.</a:t>
            </a:r>
          </a:p>
          <a:p>
            <a:pPr marL="0" indent="0" defTabSz="457200">
              <a:lnSpc>
                <a:spcPct val="100000"/>
              </a:lnSpc>
              <a:spcBef>
                <a:spcPts val="1200"/>
              </a:spcBef>
              <a:buSzTx/>
              <a:buNone/>
              <a:defRPr b="1" sz="13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Break-even free-delivery (ориентир):</a:t>
            </a:r>
            <a:br>
              <a:rPr b="0"/>
            </a:br>
            <a:r>
              <a:rPr b="0"/>
              <a:t>Пусть </a:t>
            </a:r>
            <a:r>
              <a:rPr b="0">
                <a:latin typeface="Courier"/>
                <a:ea typeface="Courier"/>
                <a:cs typeface="Courier"/>
                <a:sym typeface="Courier"/>
              </a:rPr>
              <a:t>L</a:t>
            </a:r>
            <a:r>
              <a:rPr b="0"/>
              <a:t> — переменная логистика заказа, </a:t>
            </a:r>
            <a:r>
              <a:rPr b="0">
                <a:latin typeface="Courier"/>
                <a:ea typeface="Courier"/>
                <a:cs typeface="Courier"/>
                <a:sym typeface="Courier"/>
              </a:rPr>
              <a:t>g</a:t>
            </a:r>
            <a:r>
              <a:rPr b="0"/>
              <a:t> — валовая маржа корзины, </a:t>
            </a:r>
            <a:r>
              <a:rPr b="0">
                <a:latin typeface="Courier"/>
                <a:ea typeface="Courier"/>
                <a:cs typeface="Courier"/>
                <a:sym typeface="Courier"/>
              </a:rPr>
              <a:t>i</a:t>
            </a:r>
            <a:r>
              <a:rPr b="0"/>
              <a:t> — инсентивы (в ₽), тогда </a:t>
            </a:r>
            <a:r>
              <a:t>минимальный AOV для free</a:t>
            </a:r>
            <a:r>
              <a:rPr b="0"/>
              <a:t>:</a:t>
            </a:r>
            <a:br>
              <a:rPr b="0"/>
            </a:br>
            <a:r>
              <a:t>AOV* ≥ (L + i) / g%</a:t>
            </a:r>
            <a:endParaRPr b="0"/>
          </a:p>
          <a:p>
            <a:pPr marL="0" indent="0" defTabSz="457200">
              <a:lnSpc>
                <a:spcPct val="100000"/>
              </a:lnSpc>
              <a:spcBef>
                <a:spcPts val="1200"/>
              </a:spcBef>
              <a:buSzTx/>
              <a:buNone/>
              <a:defRPr sz="13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Используем как автоматику: при росте L (погода/пик) система поднимает AOV* или сужает слоты.</a:t>
            </a:r>
          </a:p>
          <a:p>
            <a:pPr marL="0" indent="0" defTabSz="457200">
              <a:lnSpc>
                <a:spcPct val="100000"/>
              </a:lnSpc>
              <a:spcBef>
                <a:spcPts val="0"/>
              </a:spcBef>
              <a:buSzTx/>
              <a:buNone/>
              <a:defRPr sz="1300">
                <a:solidFill>
                  <a:srgbClr val="80808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 marL="0" indent="0" defTabSz="457200">
              <a:lnSpc>
                <a:spcPct val="100000"/>
              </a:lnSpc>
              <a:spcBef>
                <a:spcPts val="1400"/>
              </a:spcBef>
              <a:buSzTx/>
              <a:buNone/>
              <a:defRPr b="1" sz="13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6A.2. Доходность на единицу товара (UCM_sku) — чтобы видеть «минусовые» SKU</a:t>
            </a:r>
          </a:p>
          <a:p>
            <a:pPr marL="0" indent="0" defTabSz="457200">
              <a:lnSpc>
                <a:spcPct val="100000"/>
              </a:lnSpc>
              <a:spcBef>
                <a:spcPts val="1200"/>
              </a:spcBef>
              <a:buSzTx/>
              <a:buNone/>
              <a:defRPr b="1" sz="13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Формула (на SKU):</a:t>
            </a:r>
            <a:br>
              <a:rPr b="0"/>
            </a:br>
            <a:r>
              <a:t>UCM_sku = NetPrice − COGS − Promo_sku − Alloc(Logistics_var) − Alloc(Payments_fees) − Alloc(Picking&amp;Packing) − ExpReturns</a:t>
            </a:r>
            <a:endParaRPr b="0"/>
          </a:p>
          <a:p>
            <a:pPr marL="0" indent="0" defTabSz="457200">
              <a:lnSpc>
                <a:spcPct val="100000"/>
              </a:lnSpc>
              <a:spcBef>
                <a:spcPts val="1200"/>
              </a:spcBef>
              <a:buSzTx/>
              <a:buNone/>
              <a:defRPr b="1" sz="13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Правила распределения (Alloc), чтобы не искажать:</a:t>
            </a:r>
            <a:endParaRPr b="0"/>
          </a:p>
          <a:p>
            <a:pPr marL="457200" indent="-317500" defTabSz="457200">
              <a:lnSpc>
                <a:spcPct val="100000"/>
              </a:lnSpc>
              <a:spcBef>
                <a:spcPts val="1200"/>
              </a:spcBef>
              <a:buFont typeface="Times Roman"/>
              <a:defRPr b="1" sz="13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Payments_fees:</a:t>
            </a:r>
            <a:r>
              <a:rPr b="0"/>
              <a:t> по доле </a:t>
            </a:r>
            <a:r>
              <a:t>NetPrice</a:t>
            </a:r>
            <a:r>
              <a:rPr b="0"/>
              <a:t> в заказе.</a:t>
            </a:r>
            <a:endParaRPr b="0"/>
          </a:p>
          <a:p>
            <a:pPr marL="457200" indent="-317500" defTabSz="457200">
              <a:lnSpc>
                <a:spcPct val="100000"/>
              </a:lnSpc>
              <a:spcBef>
                <a:spcPts val="1200"/>
              </a:spcBef>
              <a:buFont typeface="Times Roman"/>
              <a:defRPr b="1" sz="13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Logistics_var:</a:t>
            </a:r>
            <a:r>
              <a:rPr b="0"/>
              <a:t> гибрид — </a:t>
            </a:r>
            <a:r>
              <a:t>50% вес/объём/температура + 50% цена</a:t>
            </a:r>
            <a:r>
              <a:rPr b="0"/>
              <a:t>, нормированный на заказ.</a:t>
            </a:r>
            <a:endParaRPr b="0"/>
          </a:p>
          <a:p>
            <a:pPr marL="457200" indent="-317500" defTabSz="457200">
              <a:lnSpc>
                <a:spcPct val="100000"/>
              </a:lnSpc>
              <a:spcBef>
                <a:spcPts val="1200"/>
              </a:spcBef>
              <a:buFont typeface="Times Roman"/>
              <a:defRPr sz="13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Picking&amp;Packing:</a:t>
            </a:r>
            <a:r>
              <a:t> по </a:t>
            </a:r>
            <a:r>
              <a:rPr b="1"/>
              <a:t>классу сборки × нормо-минутам</a:t>
            </a:r>
            <a:r>
              <a:t> (FMCG vs GM; «хрупкие/крупные» с надбавкой).</a:t>
            </a:r>
          </a:p>
          <a:p>
            <a:pPr marL="457200" indent="-317500" defTabSz="457200">
              <a:lnSpc>
                <a:spcPct val="100000"/>
              </a:lnSpc>
              <a:spcBef>
                <a:spcPts val="1200"/>
              </a:spcBef>
              <a:buFont typeface="Times Roman"/>
              <a:defRPr sz="13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ExpReturns:</a:t>
            </a:r>
            <a:r>
              <a:t> по категории (исторический % возвратов/недовложений × средний чек SKU).</a:t>
            </a:r>
          </a:p>
          <a:p>
            <a:pPr marL="0" indent="0" defTabSz="457200">
              <a:lnSpc>
                <a:spcPct val="100000"/>
              </a:lnSpc>
              <a:spcBef>
                <a:spcPts val="1200"/>
              </a:spcBef>
              <a:buSzTx/>
              <a:buNone/>
              <a:defRPr b="1" sz="13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Стоп-линии (SKU-уровень):</a:t>
            </a:r>
            <a:endParaRPr b="0"/>
          </a:p>
          <a:p>
            <a:pPr marL="457200" indent="-317500" defTabSz="457200">
              <a:lnSpc>
                <a:spcPct val="100000"/>
              </a:lnSpc>
              <a:spcBef>
                <a:spcPts val="1200"/>
              </a:spcBef>
              <a:buFont typeface="Times Roman"/>
              <a:defRPr b="1" sz="13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Share of negative UCM ≤ Sₙ%</a:t>
            </a:r>
            <a:r>
              <a:rPr b="0"/>
              <a:t> в каждой категории.</a:t>
            </a:r>
            <a:endParaRPr b="0"/>
          </a:p>
          <a:p>
            <a:pPr marL="457200" indent="-317500" defTabSz="457200">
              <a:lnSpc>
                <a:spcPct val="100000"/>
              </a:lnSpc>
              <a:spcBef>
                <a:spcPts val="1200"/>
              </a:spcBef>
              <a:buFont typeface="Times Roman"/>
              <a:defRPr sz="13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При превышении: выкатить </a:t>
            </a:r>
            <a:r>
              <a:rPr b="1"/>
              <a:t>правила промо/замен</a:t>
            </a:r>
            <a:r>
              <a:t>, пересмотреть партионность/минимальный лот, скрыть SKU в Delivery, оставить в C&amp;C.</a:t>
            </a:r>
          </a:p>
        </p:txBody>
      </p:sp>
      <p:sp>
        <p:nvSpPr>
          <p:cNvPr id="217" name="6A.3. Панель рычагов CPO (что реально двигает CM2/UCM без «заливки скидками»)…"/>
          <p:cNvSpPr txBox="1"/>
          <p:nvPr/>
        </p:nvSpPr>
        <p:spPr>
          <a:xfrm>
            <a:off x="12487720" y="2447415"/>
            <a:ext cx="12543000" cy="11049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defTabSz="457200">
              <a:lnSpc>
                <a:spcPct val="100000"/>
              </a:lnSpc>
              <a:spcBef>
                <a:spcPts val="1400"/>
              </a:spcBef>
              <a:defRPr b="1"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6A.3. Панель рычагов CPO (что реально двигает CM2/UCM без «заливки скидками»)</a:t>
            </a:r>
          </a:p>
          <a:p>
            <a:pPr defTabSz="457200">
              <a:lnSpc>
                <a:spcPct val="100000"/>
              </a:lnSpc>
              <a:spcBef>
                <a:spcPts val="1200"/>
              </a:spcBef>
              <a:defRPr b="1"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Delivery / слоты</a:t>
            </a:r>
            <a:endParaRPr b="0"/>
          </a:p>
          <a:p>
            <a:pPr marL="457200" indent="-317500" defTabSz="457200">
              <a:lnSpc>
                <a:spcPct val="100000"/>
              </a:lnSpc>
              <a:spcBef>
                <a:spcPts val="1200"/>
              </a:spcBef>
              <a:buSzPct val="123000"/>
              <a:buFont typeface="Times Roman"/>
              <a:buChar char="•"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Capacity-aware: ужесточать слоты, где </a:t>
            </a:r>
            <a:r>
              <a:rPr>
                <a:latin typeface="Courier"/>
                <a:ea typeface="Courier"/>
                <a:cs typeface="Courier"/>
                <a:sym typeface="Courier"/>
              </a:rPr>
              <a:t>On-time</a:t>
            </a:r>
            <a:r>
              <a:t> падает и логистика дорожает.</a:t>
            </a:r>
          </a:p>
          <a:p>
            <a:pPr marL="457200" indent="-317500" defTabSz="457200">
              <a:lnSpc>
                <a:spcPct val="100000"/>
              </a:lnSpc>
              <a:spcBef>
                <a:spcPts val="1200"/>
              </a:spcBef>
              <a:buSzPct val="123000"/>
              <a:buFont typeface="Times Roman"/>
              <a:buChar char="•"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AOV-порог free — динамический (см. формулу).</a:t>
            </a:r>
          </a:p>
          <a:p>
            <a:pPr marL="457200" indent="-317500" defTabSz="457200">
              <a:lnSpc>
                <a:spcPct val="100000"/>
              </a:lnSpc>
              <a:spcBef>
                <a:spcPts val="1200"/>
              </a:spcBef>
              <a:buSzPct val="123000"/>
              <a:buFont typeface="Times Roman"/>
              <a:buChar char="•"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«Тяжёлые/bulk» — по умолчанию в </a:t>
            </a:r>
            <a:r>
              <a:rPr b="1"/>
              <a:t>Delivery</a:t>
            </a:r>
            <a:r>
              <a:t> с явным fee, «хрупкие» — приоритет </a:t>
            </a:r>
            <a:r>
              <a:rPr b="1"/>
              <a:t>C&amp;C</a:t>
            </a:r>
            <a:r>
              <a:t>.</a:t>
            </a:r>
          </a:p>
          <a:p>
            <a:pPr defTabSz="457200">
              <a:lnSpc>
                <a:spcPct val="100000"/>
              </a:lnSpc>
              <a:spcBef>
                <a:spcPts val="1200"/>
              </a:spcBef>
              <a:defRPr b="1"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Оплата</a:t>
            </a:r>
            <a:endParaRPr b="0"/>
          </a:p>
          <a:p>
            <a:pPr marL="457200" indent="-317500" defTabSz="457200">
              <a:lnSpc>
                <a:spcPct val="100000"/>
              </a:lnSpc>
              <a:spcBef>
                <a:spcPts val="1200"/>
              </a:spcBef>
              <a:buSzPct val="123000"/>
              <a:buFont typeface="Times Roman"/>
              <a:buChar char="•"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Доля </a:t>
            </a:r>
            <a:r>
              <a:rPr b="1"/>
              <a:t>СБП/Мир Pay</a:t>
            </a:r>
            <a:r>
              <a:t> на повторах ↑ → комиссии ↓.</a:t>
            </a:r>
          </a:p>
          <a:p>
            <a:pPr marL="457200" indent="-317500" defTabSz="457200">
              <a:lnSpc>
                <a:spcPct val="100000"/>
              </a:lnSpc>
              <a:spcBef>
                <a:spcPts val="1200"/>
              </a:spcBef>
              <a:buSzPct val="123000"/>
              <a:buFont typeface="Times Roman"/>
              <a:buChar char="•"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Кнопка «повтор в 1-тап» по умолчанию = ранее выбранный «дешёвый» метод.</a:t>
            </a:r>
          </a:p>
          <a:p>
            <a:pPr defTabSz="457200">
              <a:lnSpc>
                <a:spcPct val="100000"/>
              </a:lnSpc>
              <a:spcBef>
                <a:spcPts val="1200"/>
              </a:spcBef>
              <a:defRPr b="1"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ATC/AOV механики (из Иниц. 2)</a:t>
            </a:r>
            <a:endParaRPr b="0"/>
          </a:p>
          <a:p>
            <a:pPr marL="457200" indent="-317500" defTabSz="457200">
              <a:lnSpc>
                <a:spcPct val="100000"/>
              </a:lnSpc>
              <a:spcBef>
                <a:spcPts val="1200"/>
              </a:spcBef>
              <a:buSzPct val="123000"/>
              <a:buFont typeface="Times Roman"/>
              <a:buChar char="•"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Автодобор</a:t>
            </a:r>
            <a:r>
              <a:t> до порога free, бандлы, «Мои 20/Покупай снова» — двигают </a:t>
            </a:r>
            <a:r>
              <a:rPr b="1"/>
              <a:t>AOV</a:t>
            </a:r>
            <a:r>
              <a:t> при контроле маржи.</a:t>
            </a:r>
          </a:p>
          <a:p>
            <a:pPr marL="457200" indent="-317500" defTabSz="457200">
              <a:lnSpc>
                <a:spcPct val="100000"/>
              </a:lnSpc>
              <a:spcBef>
                <a:spcPts val="1200"/>
              </a:spcBef>
              <a:buSzPct val="123000"/>
              <a:buFont typeface="Times Roman"/>
              <a:buChar char="•"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На дашборде показываем вклад автодобора в </a:t>
            </a:r>
            <a:r>
              <a:rPr b="1"/>
              <a:t>CM2_order</a:t>
            </a:r>
            <a:r>
              <a:t>.</a:t>
            </a:r>
          </a:p>
          <a:p>
            <a:pPr defTabSz="457200">
              <a:lnSpc>
                <a:spcPct val="100000"/>
              </a:lnSpc>
              <a:spcBef>
                <a:spcPts val="1200"/>
              </a:spcBef>
              <a:defRPr b="1"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Fulfillment / претензии (из Иниц. 4)</a:t>
            </a:r>
            <a:endParaRPr b="0"/>
          </a:p>
          <a:p>
            <a:pPr marL="457200" indent="-317500" defTabSz="457200">
              <a:lnSpc>
                <a:spcPct val="100000"/>
              </a:lnSpc>
              <a:spcBef>
                <a:spcPts val="1200"/>
              </a:spcBef>
              <a:buSzPct val="123000"/>
              <a:buFont typeface="Times Roman"/>
              <a:buChar char="•"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Снижение </a:t>
            </a:r>
            <a:r>
              <a:rPr b="1"/>
              <a:t>ExpReturns</a:t>
            </a:r>
            <a:r>
              <a:t> за счёт 1-клик претензий с типизацией и операционных SLA → меньше возвратов/компенсаций в CM2 и UCM.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1200">
                <a:solidFill>
                  <a:srgbClr val="80808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 defTabSz="457200">
              <a:lnSpc>
                <a:spcPct val="100000"/>
              </a:lnSpc>
              <a:spcBef>
                <a:spcPts val="1400"/>
              </a:spcBef>
              <a:defRPr b="1"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6A.4. Как это показываем в C-level дашборде (каждый день)</a:t>
            </a:r>
          </a:p>
          <a:p>
            <a:pPr marL="457200" indent="-317500" defTabSz="457200">
              <a:lnSpc>
                <a:spcPct val="100000"/>
              </a:lnSpc>
              <a:spcBef>
                <a:spcPts val="1200"/>
              </a:spcBef>
              <a:buSzPct val="100000"/>
              <a:buFont typeface="Times Roman"/>
              <a:buAutoNum type="arabicPeriod" startAt="1"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CM2/order</a:t>
            </a:r>
            <a:r>
              <a:t> (Delivery, C&amp;C) — медиана и 25/75-перцентили.</a:t>
            </a:r>
          </a:p>
          <a:p>
            <a:pPr marL="457200" indent="-317500" defTabSz="457200">
              <a:lnSpc>
                <a:spcPct val="100000"/>
              </a:lnSpc>
              <a:spcBef>
                <a:spcPts val="1200"/>
              </a:spcBef>
              <a:buSzPct val="100000"/>
              <a:buFont typeface="Times Roman"/>
              <a:buAutoNum type="arabicPeriod" startAt="1"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Share of negative UCM</a:t>
            </a:r>
            <a:r>
              <a:t> — по категориям; «топ-минусовые SKU» (таб-перечень с вкладом в убыток).</a:t>
            </a:r>
          </a:p>
          <a:p>
            <a:pPr marL="457200" indent="-317500" defTabSz="457200">
              <a:lnSpc>
                <a:spcPct val="100000"/>
              </a:lnSpc>
              <a:spcBef>
                <a:spcPts val="1200"/>
              </a:spcBef>
              <a:buSzPct val="100000"/>
              <a:buFont typeface="Times Roman"/>
              <a:buAutoNum type="arabicPeriod" startAt="1"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AOV vs AOV*</a:t>
            </a:r>
            <a:r>
              <a:t> — доля заказов, где AOV ≥ порога free (по регионам/слотам).</a:t>
            </a:r>
          </a:p>
          <a:p>
            <a:pPr marL="457200" indent="-317500" defTabSz="457200">
              <a:lnSpc>
                <a:spcPct val="100000"/>
              </a:lnSpc>
              <a:spcBef>
                <a:spcPts val="1200"/>
              </a:spcBef>
              <a:buSzPct val="100000"/>
              <a:buFont typeface="Times Roman"/>
              <a:buAutoNum type="arabicPeriod" startAt="1"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Mix методов оплаты</a:t>
            </a:r>
            <a:r>
              <a:t> — доля СБП/Мир Pay на повторах, экономия комиссий (₽/заказ).</a:t>
            </a:r>
          </a:p>
          <a:p>
            <a:pPr marL="457200" indent="-317500" defTabSz="457200">
              <a:lnSpc>
                <a:spcPct val="100000"/>
              </a:lnSpc>
              <a:spcBef>
                <a:spcPts val="1200"/>
              </a:spcBef>
              <a:buSzPct val="100000"/>
              <a:buFont typeface="Times Roman"/>
              <a:buAutoNum type="arabicPeriod" startAt="1"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ExpReturns</a:t>
            </a:r>
            <a:r>
              <a:t> — недовложения/возвраты/компенсации, вклад в CM2.</a:t>
            </a:r>
          </a:p>
          <a:p>
            <a:pPr marL="457200" indent="-317500" defTabSz="457200">
              <a:lnSpc>
                <a:spcPct val="100000"/>
              </a:lnSpc>
              <a:spcBef>
                <a:spcPts val="1200"/>
              </a:spcBef>
              <a:buSzPct val="100000"/>
              <a:buFont typeface="Times Roman"/>
              <a:buAutoNum type="arabicPeriod" startAt="1"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Circuit breakers</a:t>
            </a:r>
            <a:r>
              <a:t> — лампочки: CM2&lt;0 (канал/регион), Sₙ% превышен (категория), On-time&lt;Y.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1200">
                <a:solidFill>
                  <a:srgbClr val="80808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 defTabSz="457200">
              <a:lnSpc>
                <a:spcPct val="100000"/>
              </a:lnSpc>
              <a:spcBef>
                <a:spcPts val="1400"/>
              </a:spcBef>
              <a:defRPr b="1"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6A.5. Пример «правил автоматики» (в проде, без ручного микроменеджмента)</a:t>
            </a:r>
          </a:p>
          <a:p>
            <a:pPr marL="457200" indent="-317500" defTabSz="457200">
              <a:lnSpc>
                <a:spcPct val="100000"/>
              </a:lnSpc>
              <a:spcBef>
                <a:spcPts val="1200"/>
              </a:spcBef>
              <a:buSzPct val="123000"/>
              <a:buFont typeface="Times Roman"/>
              <a:buChar char="•"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Rule A (CM2/order&lt;0 в Delivery, регион R):</a:t>
            </a:r>
            <a:r>
              <a:t> поднять AOV* на +Δ₁, скрыть «минусовые SKU» из Delivery, push к C&amp;C; пересчитать fee.</a:t>
            </a:r>
          </a:p>
          <a:p>
            <a:pPr marL="457200" indent="-317500" defTabSz="457200">
              <a:lnSpc>
                <a:spcPct val="100000"/>
              </a:lnSpc>
              <a:spcBef>
                <a:spcPts val="1200"/>
              </a:spcBef>
              <a:buSzPct val="123000"/>
              <a:buFont typeface="Times Roman"/>
              <a:buChar char="•"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Rule B (Sₙ% по категории K &gt; порога):</a:t>
            </a:r>
            <a:r>
              <a:t> выключить SKU-промо, усилить бандлы с «плюсовыми» соседями, притушить выдачу в рекомендациях.</a:t>
            </a:r>
          </a:p>
          <a:p>
            <a:pPr marL="457200" indent="-317500" defTabSz="457200">
              <a:lnSpc>
                <a:spcPct val="100000"/>
              </a:lnSpc>
              <a:spcBef>
                <a:spcPts val="1200"/>
              </a:spcBef>
              <a:buSzPct val="123000"/>
              <a:buFont typeface="Times Roman"/>
              <a:buChar char="•"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Rule C (On-time&lt;Y% в СЦ S):</a:t>
            </a:r>
            <a:r>
              <a:t> сузить доступные слоты на 24 ч, поднять ETA в виджете (честная коммуникация), пересчитать порог free.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1200">
                <a:solidFill>
                  <a:srgbClr val="80808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 defTabSz="457200">
              <a:lnSpc>
                <a:spcPct val="100000"/>
              </a:lnSpc>
              <a:spcBef>
                <a:spcPts val="1400"/>
              </a:spcBef>
              <a:defRPr b="1"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6A.6. Что нужно от компании (Data Ready для юнита)</a:t>
            </a:r>
          </a:p>
          <a:p>
            <a:pPr marL="457200" indent="-317500" defTabSz="457200">
              <a:lnSpc>
                <a:spcPct val="100000"/>
              </a:lnSpc>
              <a:spcBef>
                <a:spcPts val="1200"/>
              </a:spcBef>
              <a:buSzPct val="123000"/>
              <a:buFont typeface="Times Roman"/>
              <a:buChar char="•"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Карты затрат:</a:t>
            </a:r>
            <a:r>
              <a:t> переменная логистика по СЦ/слотам; нормы пикинга по классам сборки; платежные комиссии по методам; правила компенсаций.</a:t>
            </a:r>
          </a:p>
          <a:p>
            <a:pPr marL="457200" indent="-317500" defTabSz="457200">
              <a:lnSpc>
                <a:spcPct val="100000"/>
              </a:lnSpc>
              <a:spcBef>
                <a:spcPts val="1200"/>
              </a:spcBef>
              <a:buSzPct val="123000"/>
              <a:buFont typeface="Times Roman"/>
              <a:buChar char="•"/>
              <a:defRPr b="1"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Категорийные слои:</a:t>
            </a:r>
            <a:r>
              <a:rPr b="0"/>
              <a:t> </a:t>
            </a:r>
            <a:r>
              <a:rPr b="0">
                <a:latin typeface="Courier"/>
                <a:ea typeface="Courier"/>
                <a:cs typeface="Courier"/>
                <a:sym typeface="Courier"/>
              </a:rPr>
              <a:t>AOV_cat</a:t>
            </a:r>
            <a:r>
              <a:rPr b="0"/>
              <a:t>, маржинальность, </a:t>
            </a:r>
            <a:r>
              <a:rPr b="0">
                <a:latin typeface="Courier"/>
                <a:ea typeface="Courier"/>
                <a:cs typeface="Courier"/>
                <a:sym typeface="Courier"/>
              </a:rPr>
              <a:t>% ExpReturns</a:t>
            </a:r>
            <a:r>
              <a:rPr b="0"/>
              <a:t> по категориям.</a:t>
            </a:r>
            <a:endParaRPr b="0"/>
          </a:p>
          <a:p>
            <a:pPr marL="457200" indent="-317500" defTabSz="457200">
              <a:lnSpc>
                <a:spcPct val="100000"/>
              </a:lnSpc>
              <a:spcBef>
                <a:spcPts val="1200"/>
              </a:spcBef>
              <a:buSzPct val="123000"/>
              <a:buFont typeface="Times Roman"/>
              <a:buChar char="•"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Флаги в событии заказа:</a:t>
            </a:r>
            <a:r>
              <a:t> канал (Delivery/C&amp;C), смешанная корзина, метод оплаты, бандл/автодобор.</a:t>
            </a:r>
          </a:p>
          <a:p>
            <a:pPr marL="457200" indent="-317500" defTabSz="457200">
              <a:lnSpc>
                <a:spcPct val="100000"/>
              </a:lnSpc>
              <a:spcBef>
                <a:spcPts val="1200"/>
              </a:spcBef>
              <a:buSzPct val="123000"/>
              <a:buFont typeface="Times Roman"/>
              <a:buChar char="•"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Алерты:</a:t>
            </a:r>
            <a:r>
              <a:t> триггеры на CM2&lt;0, Sₙ%↑, On-time&lt;Y%, Cancel/Returns↑.</a:t>
            </a:r>
          </a:p>
          <a:p>
            <a:pPr defTabSz="457200">
              <a:lnSpc>
                <a:spcPct val="100000"/>
              </a:lnSpc>
              <a:spcBef>
                <a:spcPts val="1200"/>
              </a:spcBef>
              <a:defRPr b="1"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0"/>
              <a:t>С этим слайдом юнит-экономика </a:t>
            </a:r>
            <a:r>
              <a:t>привязана</a:t>
            </a:r>
            <a:r>
              <a:rPr b="0"/>
              <a:t> к нашим инициативам и метрикам воронки. Готов перейти к </a:t>
            </a:r>
            <a:r>
              <a:t>Слайду 7 — Roadmap (12–36 мес) с привязкой зависимостей и DoD</a:t>
            </a:r>
            <a:r>
              <a:rPr b="0"/>
              <a:t>.</a:t>
            </a:r>
            <a:endParaRPr b="0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Roadmap 12–36 мес: как дойти от быстрых побед к «одному окну»"/>
          <p:cNvSpPr txBox="1"/>
          <p:nvPr>
            <p:ph type="title"/>
          </p:nvPr>
        </p:nvSpPr>
        <p:spPr>
          <a:xfrm>
            <a:off x="1206500" y="902621"/>
            <a:ext cx="21971000" cy="1433163"/>
          </a:xfrm>
          <a:prstGeom prst="rect">
            <a:avLst/>
          </a:prstGeom>
        </p:spPr>
        <p:txBody>
          <a:bodyPr/>
          <a:lstStyle>
            <a:lvl1pPr defTabSz="342900">
              <a:lnSpc>
                <a:spcPct val="100000"/>
              </a:lnSpc>
              <a:defRPr b="0" spc="0" sz="4875">
                <a:latin typeface="PP Object Sans Heavy"/>
                <a:ea typeface="PP Object Sans Heavy"/>
                <a:cs typeface="PP Object Sans Heavy"/>
                <a:sym typeface="PP Object Sans Heavy"/>
              </a:defRPr>
            </a:lvl1pPr>
          </a:lstStyle>
          <a:p>
            <a:pPr/>
            <a:r>
              <a:t>Roadmap 12–36 мес: как дойти от быстрых побед к «одному окну» </a:t>
            </a:r>
          </a:p>
        </p:txBody>
      </p:sp>
      <p:sp>
        <p:nvSpPr>
          <p:cNvPr id="220" name="Замысел: H1 (0–8 нед.) даёт управляемый прирост по воронке. H2 (3–9 мес) закрепляет системные эффекты (повтор/AOV/операции). H3 (12–36 мес) — целевая интеграция OMNI×Market в «одно окно» без двух корзин.…"/>
          <p:cNvSpPr txBox="1"/>
          <p:nvPr>
            <p:ph type="body" sz="half" idx="1"/>
          </p:nvPr>
        </p:nvSpPr>
        <p:spPr>
          <a:xfrm>
            <a:off x="1206500" y="2671796"/>
            <a:ext cx="10047634" cy="11409428"/>
          </a:xfrm>
          <a:prstGeom prst="rect">
            <a:avLst/>
          </a:prstGeom>
        </p:spPr>
        <p:txBody>
          <a:bodyPr/>
          <a:lstStyle/>
          <a:p>
            <a:pPr marL="0" indent="0" defTabSz="457200">
              <a:lnSpc>
                <a:spcPct val="100000"/>
              </a:lnSpc>
              <a:spcBef>
                <a:spcPts val="1200"/>
              </a:spcBef>
              <a:buSzTx/>
              <a:buNone/>
              <a:defRPr sz="200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Замысел:</a:t>
            </a:r>
            <a:r>
              <a:t> H1 (0–8 нед.) даёт управляемый прирост по воронке. H2 (3–9 мес) закрепляет системные эффекты (повтор/AOV/операции). H3 (12–36 мес) — целевая интеграция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OMNI×Market</a:t>
            </a:r>
            <a:r>
              <a:t> в «одно окно» без двух корзин.</a:t>
            </a:r>
          </a:p>
          <a:p>
            <a:pPr marL="0" indent="0" defTabSz="457200">
              <a:lnSpc>
                <a:spcPct val="100000"/>
              </a:lnSpc>
              <a:spcBef>
                <a:spcPts val="0"/>
              </a:spcBef>
              <a:buSzTx/>
              <a:buNone/>
              <a:defRPr sz="2000">
                <a:solidFill>
                  <a:srgbClr val="808080"/>
                </a:solidFill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</a:p>
          <a:p>
            <a:pPr marL="0" indent="0" defTabSz="457200">
              <a:lnSpc>
                <a:spcPct val="100000"/>
              </a:lnSpc>
              <a:spcBef>
                <a:spcPts val="1400"/>
              </a:spcBef>
              <a:buSzTx/>
              <a:buNone/>
              <a:defRPr sz="2000">
                <a:latin typeface="PP Object Sans Heavy"/>
                <a:ea typeface="PP Object Sans Heavy"/>
                <a:cs typeface="PP Object Sans Heavy"/>
                <a:sym typeface="PP Object Sans Heavy"/>
              </a:defRPr>
            </a:pPr>
            <a:r>
              <a:t>H1 — 0–8 недель (подтверждённые боли → быстрый прирост)</a:t>
            </a:r>
          </a:p>
          <a:p>
            <a:pPr marL="0" indent="0" defTabSz="457200">
              <a:lnSpc>
                <a:spcPct val="100000"/>
              </a:lnSpc>
              <a:spcBef>
                <a:spcPts val="1200"/>
              </a:spcBef>
              <a:buSzTx/>
              <a:buNone/>
              <a:defRPr sz="2000">
                <a:latin typeface="PP Object Sans Heavy"/>
                <a:ea typeface="PP Object Sans Heavy"/>
                <a:cs typeface="PP Object Sans Heavy"/>
                <a:sym typeface="PP Object Sans Heavy"/>
              </a:defRPr>
            </a:pPr>
            <a:r>
              <a:t>Иниц.1 Навигация/единый вход.</a:t>
            </a:r>
            <a:endParaRPr>
              <a:latin typeface="PP Object Sans Regular"/>
              <a:ea typeface="PP Object Sans Regular"/>
              <a:cs typeface="PP Object Sans Regular"/>
              <a:sym typeface="PP Object Sans Regular"/>
            </a:endParaRPr>
          </a:p>
          <a:p>
            <a:pPr marL="457200" indent="-317500" defTabSz="457200">
              <a:lnSpc>
                <a:spcPct val="100000"/>
              </a:lnSpc>
              <a:spcBef>
                <a:spcPts val="1200"/>
              </a:spcBef>
              <a:buFont typeface="Times Roman"/>
              <a:defRPr sz="200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t>DoR: слот на главной, события view_shop_entry/click_shop_entry, макеты, копирайт.</a:t>
            </a:r>
          </a:p>
          <a:p>
            <a:pPr marL="457200" indent="-317500" defTabSz="457200">
              <a:lnSpc>
                <a:spcPct val="100000"/>
              </a:lnSpc>
              <a:spcBef>
                <a:spcPts val="1200"/>
              </a:spcBef>
              <a:buFont typeface="Times Roman"/>
              <a:defRPr sz="200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t>DoD: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Views +15–20п.п.</a:t>
            </a:r>
            <a:r>
              <a:t>,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CTR +0.3–0.5п.п.</a:t>
            </a:r>
            <a:r>
              <a:t>, SRM=0, Crash-free/latency не хуже.</a:t>
            </a:r>
          </a:p>
          <a:p>
            <a:pPr marL="0" indent="0" defTabSz="457200">
              <a:lnSpc>
                <a:spcPct val="100000"/>
              </a:lnSpc>
              <a:spcBef>
                <a:spcPts val="1200"/>
              </a:spcBef>
              <a:buSzTx/>
              <a:buNone/>
              <a:defRPr sz="2000">
                <a:latin typeface="PP Object Sans Heavy"/>
                <a:ea typeface="PP Object Sans Heavy"/>
                <a:cs typeface="PP Object Sans Heavy"/>
                <a:sym typeface="PP Object Sans Heavy"/>
              </a:defRPr>
            </a:pPr>
            <a:r>
              <a:t>Иниц.2 Быстрый ATC/повтор (PLP “+”, мультивыбор, «Мои 20» наверху).</a:t>
            </a:r>
            <a:endParaRPr>
              <a:latin typeface="PP Object Sans Regular"/>
              <a:ea typeface="PP Object Sans Regular"/>
              <a:cs typeface="PP Object Sans Regular"/>
              <a:sym typeface="PP Object Sans Regular"/>
            </a:endParaRPr>
          </a:p>
          <a:p>
            <a:pPr marL="483658" indent="-343958" defTabSz="457200">
              <a:lnSpc>
                <a:spcPct val="100000"/>
              </a:lnSpc>
              <a:spcBef>
                <a:spcPts val="1200"/>
              </a:spcBef>
              <a:buFont typeface="Times Roman"/>
              <a:defRPr sz="200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t>DoR: API мини-корзины, события plp_quick_add/variant_select/ATC_latency.</a:t>
            </a:r>
          </a:p>
          <a:p>
            <a:pPr marL="457200" indent="-317500" defTabSz="457200">
              <a:lnSpc>
                <a:spcPct val="100000"/>
              </a:lnSpc>
              <a:spcBef>
                <a:spcPts val="1200"/>
              </a:spcBef>
              <a:buFont typeface="Times Roman"/>
              <a:defRPr sz="200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t>DoD: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ATC +1–2п.п.</a:t>
            </a:r>
            <a:r>
              <a:t>,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AOV +8–12%</a:t>
            </a:r>
            <a:r>
              <a:t>, CM2/order ≥0 в затронутых категориях.</a:t>
            </a:r>
          </a:p>
          <a:p>
            <a:pPr marL="0" indent="0" defTabSz="457200">
              <a:lnSpc>
                <a:spcPct val="100000"/>
              </a:lnSpc>
              <a:spcBef>
                <a:spcPts val="1200"/>
              </a:spcBef>
              <a:buSzTx/>
              <a:buNone/>
              <a:defRPr sz="2000">
                <a:latin typeface="PP Object Sans Heavy"/>
                <a:ea typeface="PP Object Sans Heavy"/>
                <a:cs typeface="PP Object Sans Heavy"/>
                <a:sym typeface="PP Object Sans Heavy"/>
              </a:defRPr>
            </a:pPr>
            <a:r>
              <a:t>Иниц.3 «Мост» для смешанных корзин.</a:t>
            </a:r>
            <a:endParaRPr>
              <a:latin typeface="PP Object Sans Regular"/>
              <a:ea typeface="PP Object Sans Regular"/>
              <a:cs typeface="PP Object Sans Regular"/>
              <a:sym typeface="PP Object Sans Regular"/>
            </a:endParaRPr>
          </a:p>
          <a:p>
            <a:pPr marL="457200" indent="-317500" defTabSz="457200">
              <a:lnSpc>
                <a:spcPct val="100000"/>
              </a:lnSpc>
              <a:spcBef>
                <a:spcPts val="1200"/>
              </a:spcBef>
              <a:buFont typeface="Times Roman"/>
              <a:defRPr sz="200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t>DoR: флаг cart_mixed, экран инфо-бара, роутинг двух транзакций.</a:t>
            </a:r>
          </a:p>
          <a:p>
            <a:pPr marL="457200" indent="-317500" defTabSz="457200">
              <a:lnSpc>
                <a:spcPct val="100000"/>
              </a:lnSpc>
              <a:spcBef>
                <a:spcPts val="1200"/>
              </a:spcBef>
              <a:buFont typeface="Times Roman"/>
              <a:defRPr sz="200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t>DoD: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Checkout (mixed) +3–5п.п.</a:t>
            </a:r>
            <a:r>
              <a:t>, Pay-success не хуже, Cancel/Contact-rate не выше.</a:t>
            </a:r>
          </a:p>
          <a:p>
            <a:pPr marL="0" indent="0" defTabSz="457200">
              <a:lnSpc>
                <a:spcPct val="100000"/>
              </a:lnSpc>
              <a:spcBef>
                <a:spcPts val="1200"/>
              </a:spcBef>
              <a:buSzTx/>
              <a:buNone/>
              <a:defRPr sz="2000">
                <a:latin typeface="PP Object Sans Heavy"/>
                <a:ea typeface="PP Object Sans Heavy"/>
                <a:cs typeface="PP Object Sans Heavy"/>
                <a:sym typeface="PP Object Sans Heavy"/>
              </a:defRPr>
            </a:pPr>
            <a:r>
              <a:t>Иниц.4 Post-purchase Маркета (SLA/ETA + 1-клик претензия).</a:t>
            </a:r>
            <a:endParaRPr>
              <a:latin typeface="PP Object Sans Regular"/>
              <a:ea typeface="PP Object Sans Regular"/>
              <a:cs typeface="PP Object Sans Regular"/>
              <a:sym typeface="PP Object Sans Regular"/>
            </a:endParaRPr>
          </a:p>
          <a:p>
            <a:pPr marL="457200" indent="-317500" defTabSz="457200">
              <a:lnSpc>
                <a:spcPct val="100000"/>
              </a:lnSpc>
              <a:spcBef>
                <a:spcPts val="1200"/>
              </a:spcBef>
              <a:buFont typeface="Times Roman"/>
              <a:defRPr sz="200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t>DoR: статусы OMS/ETA, шаблоны нотификаций, claim_one_click(type).</a:t>
            </a:r>
          </a:p>
          <a:p>
            <a:pPr marL="457200" indent="-317500" defTabSz="457200">
              <a:lnSpc>
                <a:spcPct val="100000"/>
              </a:lnSpc>
              <a:spcBef>
                <a:spcPts val="1200"/>
              </a:spcBef>
              <a:buFont typeface="Times Roman"/>
              <a:defRPr sz="200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t>DoD: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Delivered-success +2–3п.п.</a:t>
            </a:r>
            <a:r>
              <a:t>, On-time +Yп.п., Contact rate −X%.</a:t>
            </a:r>
          </a:p>
          <a:p>
            <a:pPr marL="0" indent="0" defTabSz="457200">
              <a:lnSpc>
                <a:spcPct val="100000"/>
              </a:lnSpc>
              <a:spcBef>
                <a:spcPts val="1200"/>
              </a:spcBef>
              <a:buSzTx/>
              <a:buNone/>
              <a:defRPr sz="200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Зависимости H1:</a:t>
            </a:r>
            <a:r>
              <a:t> Platform &amp; CX, Browse &amp; Merch, Checkout, Logistics &amp; Promise, CRM, Data/ML; Legal/InfoSec для копира и претензий.</a:t>
            </a:r>
          </a:p>
          <a:p>
            <a:pPr marL="0" indent="0" defTabSz="457200">
              <a:lnSpc>
                <a:spcPct val="100000"/>
              </a:lnSpc>
              <a:spcBef>
                <a:spcPts val="0"/>
              </a:spcBef>
              <a:buSzTx/>
              <a:buNone/>
              <a:defRPr sz="2000">
                <a:solidFill>
                  <a:srgbClr val="808080"/>
                </a:solidFill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</a:p>
        </p:txBody>
      </p:sp>
      <p:sp>
        <p:nvSpPr>
          <p:cNvPr id="221" name="H2 — 3–9 месяцев (систематизация и масштабирование)…"/>
          <p:cNvSpPr txBox="1"/>
          <p:nvPr/>
        </p:nvSpPr>
        <p:spPr>
          <a:xfrm>
            <a:off x="12741898" y="2731740"/>
            <a:ext cx="10832760" cy="112895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defTabSz="457200">
              <a:lnSpc>
                <a:spcPct val="100000"/>
              </a:lnSpc>
              <a:spcBef>
                <a:spcPts val="1400"/>
              </a:spcBef>
              <a:defRPr sz="2000">
                <a:latin typeface="PP Object Sans Heavy"/>
                <a:ea typeface="PP Object Sans Heavy"/>
                <a:cs typeface="PP Object Sans Heavy"/>
                <a:sym typeface="PP Object Sans Heavy"/>
              </a:defRPr>
            </a:pPr>
            <a:r>
              <a:t>H2 — 3–9 месяцев (систематизация и масштабирование)</a:t>
            </a:r>
          </a:p>
          <a:p>
            <a:pPr defTabSz="457200">
              <a:lnSpc>
                <a:spcPct val="100000"/>
              </a:lnSpc>
              <a:spcBef>
                <a:spcPts val="1200"/>
              </a:spcBef>
              <a:defRPr sz="2000">
                <a:latin typeface="PP Object Sans Heavy"/>
                <a:ea typeface="PP Object Sans Heavy"/>
                <a:cs typeface="PP Object Sans Heavy"/>
                <a:sym typeface="PP Object Sans Heavy"/>
              </a:defRPr>
            </a:pPr>
            <a:r>
              <a:t>A. Шопабельный e-чек и оффлайн→онлайн петли.</a:t>
            </a:r>
            <a:endParaRPr>
              <a:latin typeface="PP Object Sans Regular"/>
              <a:ea typeface="PP Object Sans Regular"/>
              <a:cs typeface="PP Object Sans Regular"/>
              <a:sym typeface="PP Object Sans Regular"/>
            </a:endParaRPr>
          </a:p>
          <a:p>
            <a:pPr marL="457200" indent="-317500" defTabSz="457200">
              <a:lnSpc>
                <a:spcPct val="100000"/>
              </a:lnSpc>
              <a:spcBef>
                <a:spcPts val="1200"/>
              </a:spcBef>
              <a:buSzPct val="123000"/>
              <a:buFont typeface="Times Roman"/>
              <a:buChar char="•"/>
              <a:defRPr sz="200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t>Что: e-чек ≤60 мин с персональной шопабельной лентой («Покупай снова», бандлы, автодобор до порога free), кассир-промпт.</a:t>
            </a:r>
          </a:p>
          <a:p>
            <a:pPr marL="457200" indent="-317500" defTabSz="457200">
              <a:lnSpc>
                <a:spcPct val="100000"/>
              </a:lnSpc>
              <a:spcBef>
                <a:spcPts val="1200"/>
              </a:spcBef>
              <a:buSzPct val="123000"/>
              <a:buFont typeface="Times Roman"/>
              <a:buChar char="•"/>
              <a:defRPr sz="200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t>Эффект: ↑Repeat 30/90d (+3–5п.п.), ↑AOV (+5–8%).</a:t>
            </a:r>
          </a:p>
          <a:p>
            <a:pPr marL="457200" indent="-317500" defTabSz="457200">
              <a:lnSpc>
                <a:spcPct val="100000"/>
              </a:lnSpc>
              <a:spcBef>
                <a:spcPts val="1200"/>
              </a:spcBef>
              <a:buSzPct val="123000"/>
              <a:buFont typeface="Times Roman"/>
              <a:buChar char="•"/>
              <a:defRPr sz="200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t>Зависимости: CRM, Retail IT (e-чек шина), Data/ML (товарные графы).</a:t>
            </a:r>
          </a:p>
          <a:p>
            <a:pPr marL="457200" indent="-317500" defTabSz="457200">
              <a:lnSpc>
                <a:spcPct val="100000"/>
              </a:lnSpc>
              <a:spcBef>
                <a:spcPts val="1200"/>
              </a:spcBef>
              <a:buSzPct val="123000"/>
              <a:buFont typeface="Times Roman"/>
              <a:buChar char="•"/>
              <a:defRPr sz="200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t>DoD: uplift Repeat подтверждён (CUPED), NPS оффлайна не проседает.</a:t>
            </a:r>
          </a:p>
          <a:p>
            <a:pPr defTabSz="457200">
              <a:lnSpc>
                <a:spcPct val="100000"/>
              </a:lnSpc>
              <a:spcBef>
                <a:spcPts val="1200"/>
              </a:spcBef>
              <a:defRPr sz="2000">
                <a:latin typeface="PP Object Sans Heavy"/>
                <a:ea typeface="PP Object Sans Heavy"/>
                <a:cs typeface="PP Object Sans Heavy"/>
                <a:sym typeface="PP Object Sans Heavy"/>
              </a:defRPr>
            </a:pPr>
            <a:r>
              <a:t>B. Персональные списки/бандлы и capacity-aware слоты 2.0.</a:t>
            </a:r>
            <a:endParaRPr>
              <a:latin typeface="PP Object Sans Regular"/>
              <a:ea typeface="PP Object Sans Regular"/>
              <a:cs typeface="PP Object Sans Regular"/>
              <a:sym typeface="PP Object Sans Regular"/>
            </a:endParaRPr>
          </a:p>
          <a:p>
            <a:pPr marL="457200" indent="-317500" defTabSz="457200">
              <a:lnSpc>
                <a:spcPct val="100000"/>
              </a:lnSpc>
              <a:spcBef>
                <a:spcPts val="1200"/>
              </a:spcBef>
              <a:buSzPct val="123000"/>
              <a:buFont typeface="Times Roman"/>
              <a:buChar char="•"/>
              <a:defRPr sz="200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t>Что: «Мои 20» 2.0 (ML-ротация), бандлы по миссиям; динамические пороги free/окна слотов по загрузке СЦ.</a:t>
            </a:r>
          </a:p>
          <a:p>
            <a:pPr marL="457200" indent="-317500" defTabSz="457200">
              <a:lnSpc>
                <a:spcPct val="100000"/>
              </a:lnSpc>
              <a:spcBef>
                <a:spcPts val="1200"/>
              </a:spcBef>
              <a:buSzPct val="123000"/>
              <a:buFont typeface="Times Roman"/>
              <a:buChar char="•"/>
              <a:defRPr sz="200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t>Эффект: ↑ATC (+1–2п.п.), ↑AOV (+5–10%), ↑On-time.</a:t>
            </a:r>
          </a:p>
          <a:p>
            <a:pPr marL="457200" indent="-317500" defTabSz="457200">
              <a:lnSpc>
                <a:spcPct val="100000"/>
              </a:lnSpc>
              <a:spcBef>
                <a:spcPts val="1200"/>
              </a:spcBef>
              <a:buSzPct val="123000"/>
              <a:buFont typeface="Times Roman"/>
              <a:buChar char="•"/>
              <a:defRPr sz="200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t>DoD: маржа категорий ≥ таргета, On-time ≥ Y%, CM2/order ≥0.</a:t>
            </a:r>
          </a:p>
          <a:p>
            <a:pPr defTabSz="457200">
              <a:lnSpc>
                <a:spcPct val="100000"/>
              </a:lnSpc>
              <a:spcBef>
                <a:spcPts val="1200"/>
              </a:spcBef>
              <a:defRPr sz="2000">
                <a:latin typeface="PP Object Sans Heavy"/>
                <a:ea typeface="PP Object Sans Heavy"/>
                <a:cs typeface="PP Object Sans Heavy"/>
                <a:sym typeface="PP Object Sans Heavy"/>
              </a:defRPr>
            </a:pPr>
            <a:r>
              <a:t>C. Платежная «экономика повтора».</a:t>
            </a:r>
            <a:endParaRPr>
              <a:latin typeface="PP Object Sans Regular"/>
              <a:ea typeface="PP Object Sans Regular"/>
              <a:cs typeface="PP Object Sans Regular"/>
              <a:sym typeface="PP Object Sans Regular"/>
            </a:endParaRPr>
          </a:p>
          <a:p>
            <a:pPr marL="457200" indent="-317500" defTabSz="457200">
              <a:lnSpc>
                <a:spcPct val="100000"/>
              </a:lnSpc>
              <a:spcBef>
                <a:spcPts val="1200"/>
              </a:spcBef>
              <a:buSzPct val="123000"/>
              <a:buFont typeface="Times Roman"/>
              <a:buChar char="•"/>
              <a:defRPr sz="200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t>Что: по умолчанию на повторе —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СБП/Мир Pay</a:t>
            </a:r>
            <a:r>
              <a:t> (сохранённый метод), умные ретраи.</a:t>
            </a:r>
          </a:p>
          <a:p>
            <a:pPr marL="457200" indent="-317500" defTabSz="457200">
              <a:lnSpc>
                <a:spcPct val="100000"/>
              </a:lnSpc>
              <a:spcBef>
                <a:spcPts val="1200"/>
              </a:spcBef>
              <a:buSzPct val="123000"/>
              <a:buFont typeface="Times Roman"/>
              <a:buChar char="•"/>
              <a:defRPr sz="200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t>Эффект: −комиссии/заказ, ↑Pay-success.</a:t>
            </a:r>
          </a:p>
          <a:p>
            <a:pPr marL="457200" indent="-317500" defTabSz="457200">
              <a:lnSpc>
                <a:spcPct val="100000"/>
              </a:lnSpc>
              <a:spcBef>
                <a:spcPts val="1200"/>
              </a:spcBef>
              <a:buSzPct val="123000"/>
              <a:buFont typeface="Times Roman"/>
              <a:buChar char="•"/>
              <a:defRPr sz="200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t>DoD: доля СБП/Мир Pay на повторах ≥ P%, Pay-success +2–3п.п.</a:t>
            </a:r>
          </a:p>
          <a:p>
            <a:pPr defTabSz="457200">
              <a:lnSpc>
                <a:spcPct val="100000"/>
              </a:lnSpc>
              <a:spcBef>
                <a:spcPts val="1200"/>
              </a:spcBef>
              <a:defRPr sz="2000">
                <a:latin typeface="PP Object Sans Heavy"/>
                <a:ea typeface="PP Object Sans Heavy"/>
                <a:cs typeface="PP Object Sans Heavy"/>
                <a:sym typeface="PP Object Sans Heavy"/>
              </a:defRPr>
            </a:pPr>
            <a:r>
              <a:t>D. Антифрод 2.0 и арбитраж претензий.</a:t>
            </a:r>
            <a:endParaRPr>
              <a:latin typeface="PP Object Sans Regular"/>
              <a:ea typeface="PP Object Sans Regular"/>
              <a:cs typeface="PP Object Sans Regular"/>
              <a:sym typeface="PP Object Sans Regular"/>
            </a:endParaRPr>
          </a:p>
          <a:p>
            <a:pPr marL="457200" indent="-317500" defTabSz="457200">
              <a:lnSpc>
                <a:spcPct val="100000"/>
              </a:lnSpc>
              <a:spcBef>
                <a:spcPts val="1200"/>
              </a:spcBef>
              <a:buSzPct val="123000"/>
              <a:buFont typeface="Times Roman"/>
              <a:buChar char="•"/>
              <a:defRPr sz="200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t>Что: де-дуп device/payment, поведенческий скоринг; авто-категоризация кейсов и SLA саппорта.</a:t>
            </a:r>
          </a:p>
          <a:p>
            <a:pPr marL="457200" indent="-317500" defTabSz="457200">
              <a:lnSpc>
                <a:spcPct val="100000"/>
              </a:lnSpc>
              <a:spcBef>
                <a:spcPts val="1200"/>
              </a:spcBef>
              <a:buSzPct val="123000"/>
              <a:buFont typeface="Times Roman"/>
              <a:buChar char="•"/>
              <a:defRPr sz="200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t>Эффект: −фрод-инсентивы, −ложные претензии, быстрее возвраты.</a:t>
            </a:r>
          </a:p>
          <a:p>
            <a:pPr marL="457200" indent="-317500" defTabSz="457200">
              <a:lnSpc>
                <a:spcPct val="100000"/>
              </a:lnSpc>
              <a:spcBef>
                <a:spcPts val="1200"/>
              </a:spcBef>
              <a:buSzPct val="123000"/>
              <a:buFont typeface="Times Roman"/>
              <a:buChar char="•"/>
              <a:defRPr sz="200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t>DoD: фрод &lt; T bps, среднее время закрытия кейса ≤ S часов.</a:t>
            </a:r>
          </a:p>
          <a:p>
            <a:pPr defTabSz="457200">
              <a:lnSpc>
                <a:spcPct val="100000"/>
              </a:lnSpc>
              <a:spcBef>
                <a:spcPts val="1200"/>
              </a:spcBef>
              <a:defRPr sz="200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Майлстоун H2:</a:t>
            </a:r>
            <a:r>
              <a:t>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MBC ≥ 3–5%</a:t>
            </a:r>
            <a:r>
              <a:t>,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LTV/CAC ≥ 3</a:t>
            </a:r>
            <a:r>
              <a:t>, NPS/CSAT не хуже базиса; MDC подтягивается к MBC.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Roadmap 12–36 мес: как дойти от быстрых побед к «одному окну»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342900">
              <a:lnSpc>
                <a:spcPct val="100000"/>
              </a:lnSpc>
              <a:defRPr b="0" spc="0" sz="4875">
                <a:latin typeface="PP Object Sans Heavy"/>
                <a:ea typeface="PP Object Sans Heavy"/>
                <a:cs typeface="PP Object Sans Heavy"/>
                <a:sym typeface="PP Object Sans Heavy"/>
              </a:defRPr>
            </a:lvl1pPr>
          </a:lstStyle>
          <a:p>
            <a:pPr/>
            <a:r>
              <a:t>Roadmap 12–36 мес: как дойти от быстрых побед к «одному окну» </a:t>
            </a:r>
          </a:p>
        </p:txBody>
      </p:sp>
      <p:sp>
        <p:nvSpPr>
          <p:cNvPr id="224" name="H3 — 12–36 месяцев (целевое «одно окно» OMNI×Market)…"/>
          <p:cNvSpPr txBox="1"/>
          <p:nvPr>
            <p:ph type="body" sz="half" idx="1"/>
          </p:nvPr>
        </p:nvSpPr>
        <p:spPr>
          <a:xfrm>
            <a:off x="1206500" y="2407613"/>
            <a:ext cx="8979749" cy="11075707"/>
          </a:xfrm>
          <a:prstGeom prst="rect">
            <a:avLst/>
          </a:prstGeom>
        </p:spPr>
        <p:txBody>
          <a:bodyPr/>
          <a:lstStyle/>
          <a:p>
            <a:pPr marL="0" indent="0" defTabSz="411479">
              <a:lnSpc>
                <a:spcPct val="100000"/>
              </a:lnSpc>
              <a:spcBef>
                <a:spcPts val="1300"/>
              </a:spcBef>
              <a:buSzTx/>
              <a:buNone/>
              <a:defRPr sz="1800">
                <a:latin typeface="PP Object Sans Heavy"/>
                <a:ea typeface="PP Object Sans Heavy"/>
                <a:cs typeface="PP Object Sans Heavy"/>
                <a:sym typeface="PP Object Sans Heavy"/>
              </a:defRPr>
            </a:pPr>
            <a:r>
              <a:t>H3 — 12–36 месяцев (целевое «одно окно» OMNI×Market)</a:t>
            </a:r>
          </a:p>
          <a:p>
            <a:pPr marL="0" indent="0" defTabSz="411479">
              <a:lnSpc>
                <a:spcPct val="100000"/>
              </a:lnSpc>
              <a:spcBef>
                <a:spcPts val="1000"/>
              </a:spcBef>
              <a:buSzTx/>
              <a:buNone/>
              <a:defRPr sz="1800">
                <a:latin typeface="PP Object Sans Heavy"/>
                <a:ea typeface="PP Object Sans Heavy"/>
                <a:cs typeface="PP Object Sans Heavy"/>
                <a:sym typeface="PP Object Sans Heavy"/>
              </a:defRPr>
            </a:pPr>
            <a:r>
              <a:t>1) Единая корзина и единая сессия (архитектура).</a:t>
            </a:r>
            <a:endParaRPr>
              <a:latin typeface="PP Object Sans Regular"/>
              <a:ea typeface="PP Object Sans Regular"/>
              <a:cs typeface="PP Object Sans Regular"/>
              <a:sym typeface="PP Object Sans Regular"/>
            </a:endParaRPr>
          </a:p>
          <a:p>
            <a:pPr marL="411479" indent="-285750" defTabSz="411479">
              <a:lnSpc>
                <a:spcPct val="100000"/>
              </a:lnSpc>
              <a:spcBef>
                <a:spcPts val="1000"/>
              </a:spcBef>
              <a:buFont typeface="Times Roman"/>
              <a:defRPr sz="180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t>Что: SSO/идентичность → единая корзина и общая сессия между OMNI и Market; единая схема событий.</a:t>
            </a:r>
          </a:p>
          <a:p>
            <a:pPr marL="411479" indent="-285750" defTabSz="411479">
              <a:lnSpc>
                <a:spcPct val="100000"/>
              </a:lnSpc>
              <a:spcBef>
                <a:spcPts val="1000"/>
              </a:spcBef>
              <a:buFont typeface="Times Roman"/>
              <a:defRPr sz="180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t>Эффект: снимаем класс «смешанных корзин», ↑Checkout CVR, единое промо/бонусы.</a:t>
            </a:r>
          </a:p>
          <a:p>
            <a:pPr marL="411479" indent="-285750" defTabSz="411479">
              <a:lnSpc>
                <a:spcPct val="100000"/>
              </a:lnSpc>
              <a:spcBef>
                <a:spcPts val="1000"/>
              </a:spcBef>
              <a:buFont typeface="Times Roman"/>
              <a:defRPr sz="180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t>Риски: сложность интеграции и миграции, каннибализация оффлайна — держим geo-holdouts.</a:t>
            </a:r>
          </a:p>
          <a:p>
            <a:pPr marL="411479" indent="-285750" defTabSz="411479">
              <a:lnSpc>
                <a:spcPct val="100000"/>
              </a:lnSpc>
              <a:spcBef>
                <a:spcPts val="1000"/>
              </a:spcBef>
              <a:buFont typeface="Times Roman"/>
              <a:defRPr sz="180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t>DoD: доля заказов через ОМНИ ≥80% онлайна, Mixed-cart drop → ~0.</a:t>
            </a:r>
          </a:p>
          <a:p>
            <a:pPr marL="0" indent="0" defTabSz="411479">
              <a:lnSpc>
                <a:spcPct val="100000"/>
              </a:lnSpc>
              <a:spcBef>
                <a:spcPts val="1000"/>
              </a:spcBef>
              <a:buSzTx/>
              <a:buNone/>
              <a:defRPr sz="1800">
                <a:latin typeface="PP Object Sans Heavy"/>
                <a:ea typeface="PP Object Sans Heavy"/>
                <a:cs typeface="PP Object Sans Heavy"/>
                <a:sym typeface="PP Object Sans Heavy"/>
              </a:defRPr>
            </a:pPr>
            <a:r>
              <a:t>2) Единый поиск/витрины и омни-персонализация 2.0.</a:t>
            </a:r>
            <a:endParaRPr>
              <a:latin typeface="PP Object Sans Regular"/>
              <a:ea typeface="PP Object Sans Regular"/>
              <a:cs typeface="PP Object Sans Regular"/>
              <a:sym typeface="PP Object Sans Regular"/>
            </a:endParaRPr>
          </a:p>
          <a:p>
            <a:pPr marL="411479" indent="-285750" defTabSz="411479">
              <a:lnSpc>
                <a:spcPct val="100000"/>
              </a:lnSpc>
              <a:spcBef>
                <a:spcPts val="1000"/>
              </a:spcBef>
              <a:buFont typeface="Times Roman"/>
              <a:defRPr sz="180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t>Что: общий поиск по каталогу OMNI×Market; персональные фиды (миссии, бандлы, «тяжёлые домой»).</a:t>
            </a:r>
          </a:p>
          <a:p>
            <a:pPr marL="411479" indent="-285750" defTabSz="411479">
              <a:lnSpc>
                <a:spcPct val="100000"/>
              </a:lnSpc>
              <a:spcBef>
                <a:spcPts val="1000"/>
              </a:spcBef>
              <a:buFont typeface="Times Roman"/>
              <a:defRPr sz="180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t>Эффект: ↑Exposure/CTR, ↑ATC/AOV/Repeat.</a:t>
            </a:r>
          </a:p>
          <a:p>
            <a:pPr marL="411479" indent="-285750" defTabSz="411479">
              <a:lnSpc>
                <a:spcPct val="100000"/>
              </a:lnSpc>
              <a:spcBef>
                <a:spcPts val="1000"/>
              </a:spcBef>
              <a:buFont typeface="Times Roman"/>
              <a:defRPr sz="180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t>DoD: uplift подтверждён на проде (SRM=0), маржа в норме.</a:t>
            </a:r>
          </a:p>
          <a:p>
            <a:pPr marL="0" indent="0" defTabSz="411479">
              <a:lnSpc>
                <a:spcPct val="100000"/>
              </a:lnSpc>
              <a:spcBef>
                <a:spcPts val="1000"/>
              </a:spcBef>
              <a:buSzTx/>
              <a:buNone/>
              <a:defRPr sz="1800">
                <a:latin typeface="PP Object Sans Heavy"/>
                <a:ea typeface="PP Object Sans Heavy"/>
                <a:cs typeface="PP Object Sans Heavy"/>
                <a:sym typeface="PP Object Sans Heavy"/>
              </a:defRPr>
            </a:pPr>
            <a:r>
              <a:t>3) OMS &amp; слоты следующего поколения.</a:t>
            </a:r>
            <a:endParaRPr>
              <a:latin typeface="PP Object Sans Regular"/>
              <a:ea typeface="PP Object Sans Regular"/>
              <a:cs typeface="PP Object Sans Regular"/>
              <a:sym typeface="PP Object Sans Regular"/>
            </a:endParaRPr>
          </a:p>
          <a:p>
            <a:pPr marL="411479" indent="-285750" defTabSz="411479">
              <a:lnSpc>
                <a:spcPct val="100000"/>
              </a:lnSpc>
              <a:spcBef>
                <a:spcPts val="1000"/>
              </a:spcBef>
              <a:buFont typeface="Times Roman"/>
              <a:defRPr sz="180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t>Что: прогноз спроса×логистики (ETA/стоимость), динамические окна, SLA-контракты для категорий.</a:t>
            </a:r>
          </a:p>
          <a:p>
            <a:pPr marL="411479" indent="-285750" defTabSz="411479">
              <a:lnSpc>
                <a:spcPct val="100000"/>
              </a:lnSpc>
              <a:spcBef>
                <a:spcPts val="1000"/>
              </a:spcBef>
              <a:buFont typeface="Times Roman"/>
              <a:defRPr sz="180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t>Эффект: ↑On-time, −переменная логистика/заказ.</a:t>
            </a:r>
          </a:p>
          <a:p>
            <a:pPr marL="411479" indent="-285750" defTabSz="411479">
              <a:lnSpc>
                <a:spcPct val="100000"/>
              </a:lnSpc>
              <a:spcBef>
                <a:spcPts val="1000"/>
              </a:spcBef>
              <a:buFont typeface="Times Roman"/>
              <a:defRPr sz="180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t>DoD: On-time ≥ целевого Z%, CM2/order улучшен vs до внедрения.</a:t>
            </a:r>
          </a:p>
          <a:p>
            <a:pPr marL="0" indent="0" defTabSz="411479">
              <a:lnSpc>
                <a:spcPct val="100000"/>
              </a:lnSpc>
              <a:spcBef>
                <a:spcPts val="1000"/>
              </a:spcBef>
              <a:buSzTx/>
              <a:buNone/>
              <a:defRPr sz="1800">
                <a:latin typeface="PP Object Sans Heavy"/>
                <a:ea typeface="PP Object Sans Heavy"/>
                <a:cs typeface="PP Object Sans Heavy"/>
                <a:sym typeface="PP Object Sans Heavy"/>
              </a:defRPr>
            </a:pPr>
            <a:r>
              <a:t>4) Автопокупки и подписки-миссии (если впишется в политику компании).</a:t>
            </a:r>
            <a:endParaRPr>
              <a:latin typeface="PP Object Sans Regular"/>
              <a:ea typeface="PP Object Sans Regular"/>
              <a:cs typeface="PP Object Sans Regular"/>
              <a:sym typeface="PP Object Sans Regular"/>
            </a:endParaRPr>
          </a:p>
          <a:p>
            <a:pPr marL="411479" indent="-285750" defTabSz="411479">
              <a:lnSpc>
                <a:spcPct val="100000"/>
              </a:lnSpc>
              <a:spcBef>
                <a:spcPts val="1000"/>
              </a:spcBef>
              <a:buFont typeface="Times Roman"/>
              <a:defRPr sz="180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t>Что: повторяемые листы/миссии без скидочной зависимости (кассеты, питомцы, baby-care).</a:t>
            </a:r>
          </a:p>
          <a:p>
            <a:pPr marL="411479" indent="-285750" defTabSz="411479">
              <a:lnSpc>
                <a:spcPct val="100000"/>
              </a:lnSpc>
              <a:spcBef>
                <a:spcPts val="1000"/>
              </a:spcBef>
              <a:buFont typeface="Times Roman"/>
              <a:defRPr sz="180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t>Эффект: ↑Repeat/LTV, −CAC на повторах.</a:t>
            </a:r>
          </a:p>
          <a:p>
            <a:pPr marL="411479" indent="-285750" defTabSz="411479">
              <a:lnSpc>
                <a:spcPct val="100000"/>
              </a:lnSpc>
              <a:spcBef>
                <a:spcPts val="1000"/>
              </a:spcBef>
              <a:buFont typeface="Times Roman"/>
              <a:defRPr sz="180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t>DoD: Retention 90d +Δ, LTV/CAC ↑, без роста доли «минусовых» UCM.</a:t>
            </a:r>
          </a:p>
          <a:p>
            <a:pPr marL="0" indent="0" defTabSz="411479">
              <a:lnSpc>
                <a:spcPct val="100000"/>
              </a:lnSpc>
              <a:spcBef>
                <a:spcPts val="1000"/>
              </a:spcBef>
              <a:buSzTx/>
              <a:buNone/>
              <a:defRPr sz="180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Майлстоун H3:</a:t>
            </a:r>
            <a:r>
              <a:t>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MBC ≥ 10%</a:t>
            </a:r>
            <a:r>
              <a:t>, целевой опыт «одного окна», экономические guardrails устойчивы.</a:t>
            </a:r>
          </a:p>
          <a:p>
            <a:pPr marL="0" indent="0" defTabSz="411479">
              <a:lnSpc>
                <a:spcPct val="100000"/>
              </a:lnSpc>
              <a:spcBef>
                <a:spcPts val="0"/>
              </a:spcBef>
              <a:buSzTx/>
              <a:buNone/>
              <a:defRPr sz="1800">
                <a:solidFill>
                  <a:srgbClr val="808080"/>
                </a:solidFill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</a:p>
        </p:txBody>
      </p:sp>
      <p:sp>
        <p:nvSpPr>
          <p:cNvPr id="225" name="Ресурсы и орг-рамка (по фазам)…"/>
          <p:cNvSpPr txBox="1"/>
          <p:nvPr/>
        </p:nvSpPr>
        <p:spPr>
          <a:xfrm>
            <a:off x="12529286" y="2491197"/>
            <a:ext cx="10186495" cy="117706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defTabSz="457200">
              <a:lnSpc>
                <a:spcPct val="100000"/>
              </a:lnSpc>
              <a:spcBef>
                <a:spcPts val="1400"/>
              </a:spcBef>
              <a:defRPr sz="2000">
                <a:latin typeface="PP Object Sans Heavy"/>
                <a:ea typeface="PP Object Sans Heavy"/>
                <a:cs typeface="PP Object Sans Heavy"/>
                <a:sym typeface="PP Object Sans Heavy"/>
              </a:defRPr>
            </a:pPr>
            <a:r>
              <a:t>Ресурсы и орг-рамка (по фазам)</a:t>
            </a:r>
          </a:p>
          <a:p>
            <a:pPr marL="457200" indent="-317500" defTabSz="457200">
              <a:lnSpc>
                <a:spcPct val="100000"/>
              </a:lnSpc>
              <a:spcBef>
                <a:spcPts val="1200"/>
              </a:spcBef>
              <a:buSzPct val="123000"/>
              <a:buFont typeface="Times Roman"/>
              <a:buChar char="•"/>
              <a:defRPr sz="200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Команды (скводы → метрики):</a:t>
            </a:r>
            <a:br/>
            <a:r>
              <a:t>Platform &amp; CX (Exposure/стабильность), Browse &amp; Merch (ATC/AOV), Checkout (Checkout CVR), Logistics &amp; Promise (On-time/Delivered), CRM &amp; Growth (Repeat/LTV), Data/ML (атрибуция/персонализация/антифрод).</a:t>
            </a:r>
          </a:p>
          <a:p>
            <a:pPr marL="457200" indent="-317500" defTabSz="457200">
              <a:lnSpc>
                <a:spcPct val="100000"/>
              </a:lnSpc>
              <a:spcBef>
                <a:spcPts val="1200"/>
              </a:spcBef>
              <a:buSzPct val="123000"/>
              <a:buFont typeface="Times Roman"/>
              <a:buChar char="•"/>
              <a:defRPr sz="200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Штат/скорость:</a:t>
            </a:r>
            <a:r>
              <a:t> H1 — 3 кросс-сквода (по 6–8 чел.) параллельно; H2 — 5–6 скводов; H3 — платформа + архитектура (интеграционный трек).</a:t>
            </a:r>
          </a:p>
          <a:p>
            <a:pPr marL="457200" indent="-317500" defTabSz="457200">
              <a:lnSpc>
                <a:spcPct val="100000"/>
              </a:lnSpc>
              <a:spcBef>
                <a:spcPts val="1200"/>
              </a:spcBef>
              <a:buSzPct val="123000"/>
              <a:buFont typeface="Times Roman"/>
              <a:buChar char="•"/>
              <a:defRPr sz="200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Календарь релизов:</a:t>
            </a:r>
            <a:r>
              <a:t> H1 — еженедельные пачки; H2 — двухнедельные; H3 — квартальные интеграционные.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2000">
                <a:solidFill>
                  <a:srgbClr val="808080"/>
                </a:solidFill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</a:p>
          <a:p>
            <a:pPr defTabSz="457200">
              <a:lnSpc>
                <a:spcPct val="100000"/>
              </a:lnSpc>
              <a:spcBef>
                <a:spcPts val="1400"/>
              </a:spcBef>
              <a:defRPr sz="2000">
                <a:latin typeface="PP Object Sans Heavy"/>
                <a:ea typeface="PP Object Sans Heavy"/>
                <a:cs typeface="PP Object Sans Heavy"/>
                <a:sym typeface="PP Object Sans Heavy"/>
              </a:defRPr>
            </a:pPr>
            <a:r>
              <a:t>Риски и Plan B (по фазам)</a:t>
            </a:r>
          </a:p>
          <a:p>
            <a:pPr marL="457200" indent="-317500" defTabSz="457200">
              <a:lnSpc>
                <a:spcPct val="100000"/>
              </a:lnSpc>
              <a:spcBef>
                <a:spcPts val="1200"/>
              </a:spcBef>
              <a:buSzPct val="123000"/>
              <a:buFont typeface="Times Roman"/>
              <a:buChar char="•"/>
              <a:defRPr sz="200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H1:</a:t>
            </a:r>
            <a:r>
              <a:t> SRM/метрики «прыгают» → заморозка, re-seed; перегруз главной → лимиты виджетов.</a:t>
            </a:r>
          </a:p>
          <a:p>
            <a:pPr marL="457200" indent="-317500" defTabSz="457200">
              <a:lnSpc>
                <a:spcPct val="100000"/>
              </a:lnSpc>
              <a:spcBef>
                <a:spcPts val="1200"/>
              </a:spcBef>
              <a:buSzPct val="123000"/>
              <a:buFont typeface="Times Roman"/>
              <a:buChar char="•"/>
              <a:defRPr sz="200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H2:</a:t>
            </a:r>
            <a:r>
              <a:t> рост контакт-рейта из-за 1-клик претензий → авто-категоризация, SLA; On-time не растёт → пересчёт capacity, временное сужение слотов.</a:t>
            </a:r>
          </a:p>
          <a:p>
            <a:pPr marL="457200" indent="-317500" defTabSz="457200">
              <a:lnSpc>
                <a:spcPct val="100000"/>
              </a:lnSpc>
              <a:spcBef>
                <a:spcPts val="1200"/>
              </a:spcBef>
              <a:buSzPct val="123000"/>
              <a:buFont typeface="Times Roman"/>
              <a:buChar char="•"/>
              <a:defRPr sz="200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H3:</a:t>
            </a:r>
            <a:r>
              <a:t> сложность единой корзины → этап 3.1 «мост+кошелёк общий» (промежуточное состояние); риск каннибализации оффлайна → geo-holdouts, диф-ин-диф.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2000">
                <a:solidFill>
                  <a:srgbClr val="808080"/>
                </a:solidFill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</a:p>
          <a:p>
            <a:pPr defTabSz="457200">
              <a:lnSpc>
                <a:spcPct val="100000"/>
              </a:lnSpc>
              <a:spcBef>
                <a:spcPts val="1400"/>
              </a:spcBef>
              <a:defRPr sz="2000">
                <a:latin typeface="PP Object Sans Heavy"/>
                <a:ea typeface="PP Object Sans Heavy"/>
                <a:cs typeface="PP Object Sans Heavy"/>
                <a:sym typeface="PP Object Sans Heavy"/>
              </a:defRPr>
            </a:pPr>
            <a:r>
              <a:t>Gate-критерии перехода между фазами</a:t>
            </a:r>
          </a:p>
          <a:p>
            <a:pPr marL="457200" indent="-317500" defTabSz="457200">
              <a:lnSpc>
                <a:spcPct val="100000"/>
              </a:lnSpc>
              <a:spcBef>
                <a:spcPts val="1200"/>
              </a:spcBef>
              <a:buSzPct val="123000"/>
              <a:buFont typeface="Times Roman"/>
              <a:buChar char="•"/>
              <a:defRPr sz="200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H1→H2:</a:t>
            </a:r>
            <a:r>
              <a:t> все 4 инициативы ≥ MDE, guardrails ок,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NSM тренд вверх ≥ +Δ п.п.</a:t>
            </a:r>
            <a:r>
              <a:t> 4 недели подряд.</a:t>
            </a:r>
          </a:p>
          <a:p>
            <a:pPr marL="457200" indent="-317500" defTabSz="457200">
              <a:lnSpc>
                <a:spcPct val="100000"/>
              </a:lnSpc>
              <a:spcBef>
                <a:spcPts val="1200"/>
              </a:spcBef>
              <a:buSzPct val="123000"/>
              <a:buFont typeface="Times Roman"/>
              <a:buChar char="•"/>
              <a:defRPr sz="200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H2→H3:</a:t>
            </a:r>
            <a:r>
              <a:t>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MBC ≥ 3–5%</a:t>
            </a:r>
            <a:r>
              <a:t>, Repeat/NPS не хуже,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CM2/order ≥ 0</a:t>
            </a:r>
            <a:r>
              <a:t> по каналам, техдолг по событиям закрыт.</a:t>
            </a:r>
          </a:p>
          <a:p>
            <a:pPr marL="457200" indent="-317500" defTabSz="457200">
              <a:lnSpc>
                <a:spcPct val="100000"/>
              </a:lnSpc>
              <a:spcBef>
                <a:spcPts val="1200"/>
              </a:spcBef>
              <a:buSzPct val="123000"/>
              <a:buFont typeface="Times Roman"/>
              <a:buChar char="•"/>
              <a:defRPr sz="200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Финиш H3:</a:t>
            </a:r>
            <a:r>
              <a:t>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MBC ≥ 10%</a:t>
            </a:r>
            <a:r>
              <a:t>, доля заказов через ОМНИ ≥80%, Mixed-cart drop ≈0, On-time ≥ целевого уровня.</a:t>
            </a:r>
          </a:p>
          <a:p>
            <a:pPr defTabSz="457200">
              <a:lnSpc>
                <a:spcPct val="100000"/>
              </a:lnSpc>
              <a:spcBef>
                <a:spcPts val="1200"/>
              </a:spcBef>
              <a:defRPr sz="2000">
                <a:latin typeface="PP Object Sans Heavy"/>
                <a:ea typeface="PP Object Sans Heavy"/>
                <a:cs typeface="PP Object Sans Heavy"/>
                <a:sym typeface="PP Object Sans Heavy"/>
              </a:defRPr>
            </a:pPr>
            <a:r>
              <a:rPr>
                <a:latin typeface="PP Object Sans Regular"/>
                <a:ea typeface="PP Object Sans Regular"/>
                <a:cs typeface="PP Object Sans Regular"/>
                <a:sym typeface="PP Object Sans Regular"/>
              </a:rPr>
              <a:t>Готов перейти к </a:t>
            </a:r>
            <a:r>
              <a:t>Слайду 8 — Operating Model &amp; владельцы (RACI + KPI),</a:t>
            </a:r>
            <a:r>
              <a:rPr>
                <a:latin typeface="PP Object Sans Regular"/>
                <a:ea typeface="PP Object Sans Regular"/>
                <a:cs typeface="PP Object Sans Regular"/>
                <a:sym typeface="PP Object Sans Regular"/>
              </a:rPr>
              <a:t> чтобы замкнуть стратегию на исполнение.</a:t>
            </a:r>
            <a:endParaRPr>
              <a:latin typeface="PP Object Sans Regular"/>
              <a:ea typeface="PP Object Sans Regular"/>
              <a:cs typeface="PP Object Sans Regular"/>
              <a:sym typeface="PP Object Sans Regular"/>
            </a:endParaR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Operating Model: владельцы, RACI, KPI и ритмы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spcBef>
                <a:spcPts val="1600"/>
              </a:spcBef>
              <a:defRPr b="0" spc="0" sz="6500">
                <a:latin typeface="PP Object Sans Heavy"/>
                <a:ea typeface="PP Object Sans Heavy"/>
                <a:cs typeface="PP Object Sans Heavy"/>
                <a:sym typeface="PP Object Sans Heavy"/>
              </a:defRPr>
            </a:lvl1pPr>
          </a:lstStyle>
          <a:p>
            <a:pPr/>
            <a:r>
              <a:t>Operating Model: владельцы, RACI, KPI и ритмы</a:t>
            </a:r>
          </a:p>
        </p:txBody>
      </p:sp>
      <p:sp>
        <p:nvSpPr>
          <p:cNvPr id="228" name="8.1. Скводы → шаги воронки → KPI владельца…"/>
          <p:cNvSpPr txBox="1"/>
          <p:nvPr>
            <p:ph type="body" sz="half" idx="1"/>
          </p:nvPr>
        </p:nvSpPr>
        <p:spPr>
          <a:xfrm>
            <a:off x="1030417" y="2407613"/>
            <a:ext cx="10387173" cy="11075707"/>
          </a:xfrm>
          <a:prstGeom prst="rect">
            <a:avLst/>
          </a:prstGeom>
        </p:spPr>
        <p:txBody>
          <a:bodyPr/>
          <a:lstStyle/>
          <a:p>
            <a:pPr marL="0" indent="0" defTabSz="397763">
              <a:lnSpc>
                <a:spcPct val="100000"/>
              </a:lnSpc>
              <a:spcBef>
                <a:spcPts val="1200"/>
              </a:spcBef>
              <a:buSzTx/>
              <a:buNone/>
              <a:defRPr sz="1131">
                <a:latin typeface="PP Object Sans Heavy"/>
                <a:ea typeface="PP Object Sans Heavy"/>
                <a:cs typeface="PP Object Sans Heavy"/>
                <a:sym typeface="PP Object Sans Heavy"/>
              </a:defRPr>
            </a:pPr>
            <a:r>
              <a:t>8.1. Скводы → шаги воронки → KPI владельца</a:t>
            </a:r>
          </a:p>
          <a:p>
            <a:pPr marL="397763" indent="-276225" defTabSz="397763">
              <a:lnSpc>
                <a:spcPct val="100000"/>
              </a:lnSpc>
              <a:spcBef>
                <a:spcPts val="1000"/>
              </a:spcBef>
              <a:buFont typeface="Times Roman"/>
              <a:defRPr sz="1131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Platform &amp; CX</a:t>
            </a:r>
            <a:r>
              <a:t> →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Exposure/CTR</a:t>
            </a:r>
            <a:r>
              <a:t>, стабильность.</a:t>
            </a:r>
            <a:br/>
            <a:r>
              <a:rPr i="1"/>
              <a:t>Primary KPI:</a:t>
            </a:r>
            <a:r>
              <a:t> Share_exposed, CTR входов, Crash-free %, TTI.</a:t>
            </a:r>
          </a:p>
          <a:p>
            <a:pPr marL="397763" indent="-276225" defTabSz="397763">
              <a:lnSpc>
                <a:spcPct val="100000"/>
              </a:lnSpc>
              <a:spcBef>
                <a:spcPts val="1000"/>
              </a:spcBef>
              <a:buFont typeface="Times Roman"/>
              <a:defRPr sz="1131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Browse &amp; Merch</a:t>
            </a:r>
            <a:r>
              <a:t> →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ATC/AOV</a:t>
            </a:r>
            <a:r>
              <a:t>.</a:t>
            </a:r>
            <a:br/>
            <a:r>
              <a:rPr i="1"/>
              <a:t>Primary KPI:</a:t>
            </a:r>
            <a:r>
              <a:t> ATC CVR, ATC latency, AOV, Reco-lift.</a:t>
            </a:r>
          </a:p>
          <a:p>
            <a:pPr marL="397763" indent="-276225" defTabSz="397763">
              <a:lnSpc>
                <a:spcPct val="100000"/>
              </a:lnSpc>
              <a:spcBef>
                <a:spcPts val="1000"/>
              </a:spcBef>
              <a:buFont typeface="Times Roman"/>
              <a:defRPr sz="1131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Onboarding &amp; Checkout</a:t>
            </a:r>
            <a:r>
              <a:t> →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Checkout CVR</a:t>
            </a:r>
            <a:r>
              <a:t> (особенно mixed).</a:t>
            </a:r>
            <a:br/>
            <a:r>
              <a:rPr i="1"/>
              <a:t>Primary KPI:</a:t>
            </a:r>
            <a:r>
              <a:t> Checkout CVR (mixed vs non-mixed), Pay-success %, Drop@Mixed-Cart.</a:t>
            </a:r>
          </a:p>
          <a:p>
            <a:pPr marL="397763" indent="-276225" defTabSz="397763">
              <a:lnSpc>
                <a:spcPct val="100000"/>
              </a:lnSpc>
              <a:spcBef>
                <a:spcPts val="1000"/>
              </a:spcBef>
              <a:buFont typeface="Times Roman"/>
              <a:defRPr sz="1131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Logistics &amp; Promise</a:t>
            </a:r>
            <a:r>
              <a:t> →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Fulfillment → MDC/Repeat</a:t>
            </a:r>
            <a:r>
              <a:t>.</a:t>
            </a:r>
            <a:br/>
            <a:r>
              <a:rPr i="1"/>
              <a:t>Primary KPI:</a:t>
            </a:r>
            <a:r>
              <a:t> Delivered-success %, On-time %, Contact rate, Cancel/Returns %.</a:t>
            </a:r>
          </a:p>
          <a:p>
            <a:pPr marL="397763" indent="-276225" defTabSz="397763">
              <a:lnSpc>
                <a:spcPct val="100000"/>
              </a:lnSpc>
              <a:spcBef>
                <a:spcPts val="1000"/>
              </a:spcBef>
              <a:buFont typeface="Times Roman"/>
              <a:defRPr sz="1131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CRM &amp; Growth</a:t>
            </a:r>
            <a:r>
              <a:t> →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Repeat 30/90d, Referrals, LTV/CAC</a:t>
            </a:r>
            <a:r>
              <a:t>.</a:t>
            </a:r>
            <a:br/>
            <a:r>
              <a:rPr i="1"/>
              <a:t>Primary KPI:</a:t>
            </a:r>
            <a:r>
              <a:t> Repeat 30/90d, Referral conv, LTV/CAC.</a:t>
            </a:r>
          </a:p>
          <a:p>
            <a:pPr marL="397763" indent="-276225" defTabSz="397763">
              <a:lnSpc>
                <a:spcPct val="100000"/>
              </a:lnSpc>
              <a:spcBef>
                <a:spcPts val="1000"/>
              </a:spcBef>
              <a:buFont typeface="Times Roman"/>
              <a:defRPr sz="1131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Data &amp; ML</a:t>
            </a:r>
            <a:r>
              <a:t> → атрибуция, эксперименты, антифрод, персонализация.</a:t>
            </a:r>
            <a:br/>
            <a:r>
              <a:rPr i="1"/>
              <a:t>Primary KPI:</a:t>
            </a:r>
            <a:r>
              <a:t> SRM=0, время до результата A/B, Anti-fraud loss bps, Reco-lift.</a:t>
            </a:r>
          </a:p>
          <a:p>
            <a:pPr marL="0" indent="0" defTabSz="397763">
              <a:lnSpc>
                <a:spcPct val="100000"/>
              </a:lnSpc>
              <a:spcBef>
                <a:spcPts val="1000"/>
              </a:spcBef>
              <a:buSzTx/>
              <a:buNone/>
              <a:defRPr sz="1131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NSM (MBC)</a:t>
            </a:r>
            <a:r>
              <a:t> — у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CPO e-com</a:t>
            </a:r>
            <a:r>
              <a:t> как агрегирующий; вклад каждого шага — виден в дашборде.</a:t>
            </a:r>
          </a:p>
          <a:p>
            <a:pPr marL="0" indent="0" defTabSz="397763">
              <a:lnSpc>
                <a:spcPct val="100000"/>
              </a:lnSpc>
              <a:spcBef>
                <a:spcPts val="0"/>
              </a:spcBef>
              <a:buSzTx/>
              <a:buNone/>
              <a:defRPr sz="1131">
                <a:solidFill>
                  <a:srgbClr val="808080"/>
                </a:solidFill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</a:p>
          <a:p>
            <a:pPr marL="0" indent="0" defTabSz="397763">
              <a:lnSpc>
                <a:spcPct val="100000"/>
              </a:lnSpc>
              <a:spcBef>
                <a:spcPts val="1200"/>
              </a:spcBef>
              <a:buSzTx/>
              <a:buNone/>
              <a:defRPr sz="1131">
                <a:latin typeface="PP Object Sans Heavy"/>
                <a:ea typeface="PP Object Sans Heavy"/>
                <a:cs typeface="PP Object Sans Heavy"/>
                <a:sym typeface="PP Object Sans Heavy"/>
              </a:defRPr>
            </a:pPr>
            <a:r>
              <a:t>8.2. RACI по 4 инициативам H1 (0–8 недель)</a:t>
            </a:r>
          </a:p>
          <a:p>
            <a:pPr marL="0" indent="0" defTabSz="397763">
              <a:lnSpc>
                <a:spcPct val="100000"/>
              </a:lnSpc>
              <a:spcBef>
                <a:spcPts val="1000"/>
              </a:spcBef>
              <a:buSzTx/>
              <a:buNone/>
              <a:defRPr sz="1131">
                <a:latin typeface="PP Object Sans Heavy"/>
                <a:ea typeface="PP Object Sans Heavy"/>
                <a:cs typeface="PP Object Sans Heavy"/>
                <a:sym typeface="PP Object Sans Heavy"/>
              </a:defRPr>
            </a:pPr>
            <a:r>
              <a:t>Иниц.1 Единый вход/навигация</a:t>
            </a:r>
            <a:endParaRPr>
              <a:latin typeface="PP Object Sans Regular"/>
              <a:ea typeface="PP Object Sans Regular"/>
              <a:cs typeface="PP Object Sans Regular"/>
              <a:sym typeface="PP Object Sans Regular"/>
            </a:endParaRPr>
          </a:p>
          <a:p>
            <a:pPr marL="397763" indent="-276225" defTabSz="397763">
              <a:lnSpc>
                <a:spcPct val="100000"/>
              </a:lnSpc>
              <a:spcBef>
                <a:spcPts val="1000"/>
              </a:spcBef>
              <a:buFont typeface="Times Roman"/>
              <a:defRPr sz="1131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R:</a:t>
            </a:r>
            <a:r>
              <a:t> Platform &amp; CX PM (single owner)</a:t>
            </a:r>
          </a:p>
          <a:p>
            <a:pPr marL="397763" indent="-276225" defTabSz="397763">
              <a:lnSpc>
                <a:spcPct val="100000"/>
              </a:lnSpc>
              <a:spcBef>
                <a:spcPts val="1000"/>
              </a:spcBef>
              <a:buFont typeface="Times Roman"/>
              <a:defRPr sz="1131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A:</a:t>
            </a:r>
            <a:r>
              <a:t> CPO e-com</a:t>
            </a:r>
          </a:p>
          <a:p>
            <a:pPr marL="397763" indent="-276225" defTabSz="397763">
              <a:lnSpc>
                <a:spcPct val="100000"/>
              </a:lnSpc>
              <a:spcBef>
                <a:spcPts val="1000"/>
              </a:spcBef>
              <a:buFont typeface="Times Roman"/>
              <a:defRPr sz="1131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C:</a:t>
            </a:r>
            <a:r>
              <a:t> Browse &amp; Merch, Checkout, CRM, Brand/Copy</a:t>
            </a:r>
          </a:p>
          <a:p>
            <a:pPr marL="397763" indent="-276225" defTabSz="397763">
              <a:lnSpc>
                <a:spcPct val="100000"/>
              </a:lnSpc>
              <a:spcBef>
                <a:spcPts val="1000"/>
              </a:spcBef>
              <a:buFont typeface="Times Roman"/>
              <a:defRPr sz="1131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I:</a:t>
            </a:r>
            <a:r>
              <a:t> Logistics &amp; Promise, Support</a:t>
            </a:r>
          </a:p>
          <a:p>
            <a:pPr marL="0" indent="0" defTabSz="397763">
              <a:lnSpc>
                <a:spcPct val="100000"/>
              </a:lnSpc>
              <a:spcBef>
                <a:spcPts val="1000"/>
              </a:spcBef>
              <a:buSzTx/>
              <a:buNone/>
              <a:defRPr sz="1131">
                <a:latin typeface="PP Object Sans Heavy"/>
                <a:ea typeface="PP Object Sans Heavy"/>
                <a:cs typeface="PP Object Sans Heavy"/>
                <a:sym typeface="PP Object Sans Heavy"/>
              </a:defRPr>
            </a:pPr>
            <a:r>
              <a:t>Иниц.2 Быстрый ATC (PLP “+”, мультивыбор, «Мои 20» сверху)</a:t>
            </a:r>
            <a:endParaRPr>
              <a:latin typeface="PP Object Sans Regular"/>
              <a:ea typeface="PP Object Sans Regular"/>
              <a:cs typeface="PP Object Sans Regular"/>
              <a:sym typeface="PP Object Sans Regular"/>
            </a:endParaRPr>
          </a:p>
          <a:p>
            <a:pPr marL="397763" indent="-276225" defTabSz="397763">
              <a:lnSpc>
                <a:spcPct val="100000"/>
              </a:lnSpc>
              <a:spcBef>
                <a:spcPts val="1000"/>
              </a:spcBef>
              <a:buFont typeface="Times Roman"/>
              <a:defRPr sz="1131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R:</a:t>
            </a:r>
            <a:r>
              <a:t> Browse &amp; Merch PM</a:t>
            </a:r>
          </a:p>
          <a:p>
            <a:pPr marL="397763" indent="-276225" defTabSz="397763">
              <a:lnSpc>
                <a:spcPct val="100000"/>
              </a:lnSpc>
              <a:spcBef>
                <a:spcPts val="1000"/>
              </a:spcBef>
              <a:buFont typeface="Times Roman"/>
              <a:defRPr sz="1131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A:</a:t>
            </a:r>
            <a:r>
              <a:t> CPO e-com</a:t>
            </a:r>
          </a:p>
          <a:p>
            <a:pPr marL="397763" indent="-276225" defTabSz="397763">
              <a:lnSpc>
                <a:spcPct val="100000"/>
              </a:lnSpc>
              <a:spcBef>
                <a:spcPts val="1000"/>
              </a:spcBef>
              <a:buFont typeface="Times Roman"/>
              <a:defRPr sz="1131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C:</a:t>
            </a:r>
            <a:r>
              <a:t> Data &amp; ML, Platform, CRM</a:t>
            </a:r>
          </a:p>
          <a:p>
            <a:pPr marL="397763" indent="-276225" defTabSz="397763">
              <a:lnSpc>
                <a:spcPct val="100000"/>
              </a:lnSpc>
              <a:spcBef>
                <a:spcPts val="1000"/>
              </a:spcBef>
              <a:buFont typeface="Times Roman"/>
              <a:defRPr sz="1131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I:</a:t>
            </a:r>
            <a:r>
              <a:t> Checkout, Support</a:t>
            </a:r>
          </a:p>
          <a:p>
            <a:pPr marL="0" indent="0" defTabSz="397763">
              <a:lnSpc>
                <a:spcPct val="100000"/>
              </a:lnSpc>
              <a:spcBef>
                <a:spcPts val="1000"/>
              </a:spcBef>
              <a:buSzTx/>
              <a:buNone/>
              <a:defRPr sz="1131">
                <a:latin typeface="PP Object Sans Heavy"/>
                <a:ea typeface="PP Object Sans Heavy"/>
                <a:cs typeface="PP Object Sans Heavy"/>
                <a:sym typeface="PP Object Sans Heavy"/>
              </a:defRPr>
            </a:pPr>
            <a:r>
              <a:t>Иниц.3 «Мост» для смешанных корзин</a:t>
            </a:r>
            <a:endParaRPr>
              <a:latin typeface="PP Object Sans Regular"/>
              <a:ea typeface="PP Object Sans Regular"/>
              <a:cs typeface="PP Object Sans Regular"/>
              <a:sym typeface="PP Object Sans Regular"/>
            </a:endParaRPr>
          </a:p>
          <a:p>
            <a:pPr marL="397763" indent="-276225" defTabSz="397763">
              <a:lnSpc>
                <a:spcPct val="100000"/>
              </a:lnSpc>
              <a:spcBef>
                <a:spcPts val="1000"/>
              </a:spcBef>
              <a:buFont typeface="Times Roman"/>
              <a:defRPr sz="1131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R:</a:t>
            </a:r>
            <a:r>
              <a:t> Checkout PM</a:t>
            </a:r>
          </a:p>
          <a:p>
            <a:pPr marL="397763" indent="-276225" defTabSz="397763">
              <a:lnSpc>
                <a:spcPct val="100000"/>
              </a:lnSpc>
              <a:spcBef>
                <a:spcPts val="1000"/>
              </a:spcBef>
              <a:buFont typeface="Times Roman"/>
              <a:defRPr sz="1131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A:</a:t>
            </a:r>
            <a:r>
              <a:t> CPO e-com</a:t>
            </a:r>
          </a:p>
          <a:p>
            <a:pPr marL="397763" indent="-276225" defTabSz="397763">
              <a:lnSpc>
                <a:spcPct val="100000"/>
              </a:lnSpc>
              <a:spcBef>
                <a:spcPts val="1000"/>
              </a:spcBef>
              <a:buFont typeface="Times Roman"/>
              <a:defRPr sz="1131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C:</a:t>
            </a:r>
            <a:r>
              <a:t> Platform (routing/кошелёк), Legal/InfoSec, Brand/Copy</a:t>
            </a:r>
          </a:p>
          <a:p>
            <a:pPr marL="397763" indent="-276225" defTabSz="397763">
              <a:lnSpc>
                <a:spcPct val="100000"/>
              </a:lnSpc>
              <a:spcBef>
                <a:spcPts val="1000"/>
              </a:spcBef>
              <a:buFont typeface="Times Roman"/>
              <a:defRPr sz="1131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I:</a:t>
            </a:r>
            <a:r>
              <a:t> Logistics &amp; Promise, Support</a:t>
            </a:r>
          </a:p>
          <a:p>
            <a:pPr marL="0" indent="0" defTabSz="397763">
              <a:lnSpc>
                <a:spcPct val="100000"/>
              </a:lnSpc>
              <a:spcBef>
                <a:spcPts val="1000"/>
              </a:spcBef>
              <a:buSzTx/>
              <a:buNone/>
              <a:defRPr sz="1131">
                <a:latin typeface="PP Object Sans Heavy"/>
                <a:ea typeface="PP Object Sans Heavy"/>
                <a:cs typeface="PP Object Sans Heavy"/>
                <a:sym typeface="PP Object Sans Heavy"/>
              </a:defRPr>
            </a:pPr>
            <a:r>
              <a:t>Иниц.4 Post-purchase прозрачность (SLA/ETA + 1-клик претензии)</a:t>
            </a:r>
            <a:endParaRPr>
              <a:latin typeface="PP Object Sans Regular"/>
              <a:ea typeface="PP Object Sans Regular"/>
              <a:cs typeface="PP Object Sans Regular"/>
              <a:sym typeface="PP Object Sans Regular"/>
            </a:endParaRPr>
          </a:p>
          <a:p>
            <a:pPr marL="397763" indent="-276225" defTabSz="397763">
              <a:lnSpc>
                <a:spcPct val="100000"/>
              </a:lnSpc>
              <a:spcBef>
                <a:spcPts val="1000"/>
              </a:spcBef>
              <a:buFont typeface="Times Roman"/>
              <a:defRPr sz="1131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R:</a:t>
            </a:r>
            <a:r>
              <a:t> Logistics &amp; Promise PM</a:t>
            </a:r>
          </a:p>
          <a:p>
            <a:pPr marL="397763" indent="-276225" defTabSz="397763">
              <a:lnSpc>
                <a:spcPct val="100000"/>
              </a:lnSpc>
              <a:spcBef>
                <a:spcPts val="1000"/>
              </a:spcBef>
              <a:buFont typeface="Times Roman"/>
              <a:defRPr sz="1131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A:</a:t>
            </a:r>
            <a:r>
              <a:t> COO e-com / CPO e-com</a:t>
            </a:r>
          </a:p>
          <a:p>
            <a:pPr marL="397763" indent="-276225" defTabSz="397763">
              <a:lnSpc>
                <a:spcPct val="100000"/>
              </a:lnSpc>
              <a:spcBef>
                <a:spcPts val="1000"/>
              </a:spcBef>
              <a:buFont typeface="Times Roman"/>
              <a:defRPr sz="1131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C:</a:t>
            </a:r>
            <a:r>
              <a:t> CX/Support, Platform (уведомления), CRM</a:t>
            </a:r>
          </a:p>
          <a:p>
            <a:pPr marL="397763" indent="-276225" defTabSz="397763">
              <a:lnSpc>
                <a:spcPct val="100000"/>
              </a:lnSpc>
              <a:spcBef>
                <a:spcPts val="1000"/>
              </a:spcBef>
              <a:buFont typeface="Times Roman"/>
              <a:defRPr sz="1131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I:</a:t>
            </a:r>
            <a:r>
              <a:t> Data &amp; ML</a:t>
            </a:r>
          </a:p>
        </p:txBody>
      </p:sp>
      <p:sp>
        <p:nvSpPr>
          <p:cNvPr id="229" name=".3. Ритмы управления (cadence) и артефакты…"/>
          <p:cNvSpPr txBox="1"/>
          <p:nvPr/>
        </p:nvSpPr>
        <p:spPr>
          <a:xfrm>
            <a:off x="10586285" y="2473289"/>
            <a:ext cx="13418672" cy="109443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defTabSz="457200">
              <a:lnSpc>
                <a:spcPct val="100000"/>
              </a:lnSpc>
              <a:spcBef>
                <a:spcPts val="1400"/>
              </a:spcBef>
              <a:defRPr sz="1300">
                <a:latin typeface="PP Object Sans Heavy"/>
                <a:ea typeface="PP Object Sans Heavy"/>
                <a:cs typeface="PP Object Sans Heavy"/>
                <a:sym typeface="PP Object Sans Heavy"/>
              </a:defRPr>
            </a:pPr>
            <a:r>
              <a:t>.3. Ритмы управления (cadence) и артефакты</a:t>
            </a:r>
          </a:p>
          <a:p>
            <a:pPr marL="457200" indent="-317500" defTabSz="457200">
              <a:lnSpc>
                <a:spcPct val="100000"/>
              </a:lnSpc>
              <a:spcBef>
                <a:spcPts val="1200"/>
              </a:spcBef>
              <a:buSzPct val="123000"/>
              <a:buFont typeface="Times Roman"/>
              <a:buChar char="•"/>
              <a:defRPr sz="130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Ежедневно (15 мин):</a:t>
            </a:r>
            <a:r>
              <a:t> </a:t>
            </a:r>
            <a:r>
              <a:rPr i="1"/>
              <a:t>CPO Daily</a:t>
            </a:r>
            <a:r>
              <a:t> — NSM (1/7/28), спарклайны 6 шагов, guardrails (On-time, CM2/order, Contact rate), инциденты.</a:t>
            </a:r>
            <a:br/>
            <a:r>
              <a:rPr i="1"/>
              <a:t>Артефакт:</a:t>
            </a:r>
            <a:r>
              <a:t> «C-level one-pager» с лампочками circuit breakers.</a:t>
            </a:r>
          </a:p>
          <a:p>
            <a:pPr marL="457200" indent="-317500" defTabSz="457200">
              <a:lnSpc>
                <a:spcPct val="100000"/>
              </a:lnSpc>
              <a:spcBef>
                <a:spcPts val="1200"/>
              </a:spcBef>
              <a:buSzPct val="123000"/>
              <a:buFont typeface="Times Roman"/>
              <a:buChar char="•"/>
              <a:defRPr sz="130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Еженедельно (60 мин):</a:t>
            </a:r>
            <a:r>
              <a:t> </a:t>
            </a:r>
            <a:r>
              <a:rPr i="1"/>
              <a:t>Growth Review</a:t>
            </a:r>
            <a:r>
              <a:t> — решения по A/B (go/hold/kill), MDE-факты, backlog приоритизация (RICE).</a:t>
            </a:r>
            <a:br/>
            <a:r>
              <a:rPr i="1"/>
              <a:t>Артефакт:</a:t>
            </a:r>
            <a:r>
              <a:t> реестр экспериментов, карта влияния на MBC.</a:t>
            </a:r>
          </a:p>
          <a:p>
            <a:pPr marL="457200" indent="-317500" defTabSz="457200">
              <a:lnSpc>
                <a:spcPct val="100000"/>
              </a:lnSpc>
              <a:spcBef>
                <a:spcPts val="1200"/>
              </a:spcBef>
              <a:buSzPct val="123000"/>
              <a:buFont typeface="Times Roman"/>
              <a:buChar char="•"/>
              <a:defRPr sz="130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Двухнедельно:</a:t>
            </a:r>
            <a:r>
              <a:t> </a:t>
            </a:r>
            <a:r>
              <a:rPr i="1"/>
              <a:t>Ops Sync</a:t>
            </a:r>
            <a:r>
              <a:t> — слоты/capacity, ETA, претензии, фрод.</a:t>
            </a:r>
          </a:p>
          <a:p>
            <a:pPr marL="457200" indent="-317500" defTabSz="457200">
              <a:lnSpc>
                <a:spcPct val="100000"/>
              </a:lnSpc>
              <a:spcBef>
                <a:spcPts val="1200"/>
              </a:spcBef>
              <a:buSzPct val="123000"/>
              <a:buFont typeface="Times Roman"/>
              <a:buChar char="•"/>
              <a:defRPr sz="130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Ежемесячно:</a:t>
            </a:r>
            <a:r>
              <a:t> </a:t>
            </a:r>
            <a:r>
              <a:rPr i="1"/>
              <a:t>P&amp;L Review</a:t>
            </a:r>
            <a:r>
              <a:t> — CM2/order (Delivery/C&amp;C), доля отрицательных UCM, LTV/CAC, каннибализация (geo-holdouts).</a:t>
            </a:r>
          </a:p>
          <a:p>
            <a:pPr marL="457200" indent="-317500" defTabSz="457200">
              <a:lnSpc>
                <a:spcPct val="100000"/>
              </a:lnSpc>
              <a:spcBef>
                <a:spcPts val="1200"/>
              </a:spcBef>
              <a:buSzPct val="123000"/>
              <a:buFont typeface="Times Roman"/>
              <a:buChar char="•"/>
              <a:defRPr sz="130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Ежеквартально:</a:t>
            </a:r>
            <a:r>
              <a:t> </a:t>
            </a:r>
            <a:r>
              <a:rPr i="1"/>
              <a:t>Architecture Board</a:t>
            </a:r>
            <a:r>
              <a:t> — интеграция OMNI×Market (единая корзина/поиск), техдолг событий.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1300">
                <a:solidFill>
                  <a:srgbClr val="808080"/>
                </a:solidFill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</a:p>
          <a:p>
            <a:pPr defTabSz="457200">
              <a:lnSpc>
                <a:spcPct val="100000"/>
              </a:lnSpc>
              <a:spcBef>
                <a:spcPts val="1400"/>
              </a:spcBef>
              <a:defRPr sz="1300">
                <a:latin typeface="PP Object Sans Heavy"/>
                <a:ea typeface="PP Object Sans Heavy"/>
                <a:cs typeface="PP Object Sans Heavy"/>
                <a:sym typeface="PP Object Sans Heavy"/>
              </a:defRPr>
            </a:pPr>
            <a:r>
              <a:t>8.4. Эксперименты и данные: контракты и правила</a:t>
            </a:r>
          </a:p>
          <a:p>
            <a:pPr marL="483658" indent="-343958" defTabSz="457200">
              <a:lnSpc>
                <a:spcPct val="100000"/>
              </a:lnSpc>
              <a:spcBef>
                <a:spcPts val="1200"/>
              </a:spcBef>
              <a:buSzPct val="123000"/>
              <a:buFont typeface="Times Roman"/>
              <a:buChar char="•"/>
              <a:defRPr sz="130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Единая схема событий:</a:t>
            </a:r>
            <a:r>
              <a:t> user_id, flow_id, order_id, source_badge, plp_quick_add, cart_mixed_flag, cta_split_checkout_click, order_status(ETA), claim_one_click(type).</a:t>
            </a:r>
          </a:p>
          <a:p>
            <a:pPr marL="457200" indent="-317500" defTabSz="457200">
              <a:lnSpc>
                <a:spcPct val="100000"/>
              </a:lnSpc>
              <a:spcBef>
                <a:spcPts val="1200"/>
              </a:spcBef>
              <a:buSzPct val="123000"/>
              <a:buFont typeface="Times Roman"/>
              <a:buChar char="•"/>
              <a:defRPr sz="130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Гейт качества:</a:t>
            </a:r>
            <a:r>
              <a:t> SRM=0; A/A перед крупными релизами; CUPED/diff-in-diff по кластерам.</a:t>
            </a:r>
          </a:p>
          <a:p>
            <a:pPr marL="457200" indent="-317500" defTabSz="457200">
              <a:lnSpc>
                <a:spcPct val="100000"/>
              </a:lnSpc>
              <a:spcBef>
                <a:spcPts val="1200"/>
              </a:spcBef>
              <a:buSzPct val="123000"/>
              <a:buFont typeface="Times Roman"/>
              <a:buChar char="•"/>
              <a:defRPr sz="130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Тест-реестр:</a:t>
            </a:r>
            <a:r>
              <a:t> owner, гипотеза, MDE, длительность, сегменты, guardrails, дата решения.</a:t>
            </a:r>
          </a:p>
          <a:p>
            <a:pPr marL="457200" indent="-317500" defTabSz="457200">
              <a:lnSpc>
                <a:spcPct val="100000"/>
              </a:lnSpc>
              <a:spcBef>
                <a:spcPts val="1200"/>
              </a:spcBef>
              <a:buSzPct val="123000"/>
              <a:buFont typeface="Times Roman"/>
              <a:buChar char="•"/>
              <a:defRPr sz="130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Атрибуция к NSM:</a:t>
            </a:r>
            <a:r>
              <a:t> вклад по шагам (Shapley-подобно), отдельно MDC/Repeat для Fulfillment.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1300">
                <a:solidFill>
                  <a:srgbClr val="808080"/>
                </a:solidFill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</a:p>
          <a:p>
            <a:pPr defTabSz="457200">
              <a:lnSpc>
                <a:spcPct val="100000"/>
              </a:lnSpc>
              <a:spcBef>
                <a:spcPts val="1400"/>
              </a:spcBef>
              <a:defRPr sz="1300">
                <a:latin typeface="PP Object Sans Heavy"/>
                <a:ea typeface="PP Object Sans Heavy"/>
                <a:cs typeface="PP Object Sans Heavy"/>
                <a:sym typeface="PP Object Sans Heavy"/>
              </a:defRPr>
            </a:pPr>
            <a:r>
              <a:t>8.5. Circuit Breakers (кто нажимает «стоп» и что происходит)</a:t>
            </a:r>
          </a:p>
          <a:p>
            <a:pPr marL="457200" indent="-317500" defTabSz="457200">
              <a:lnSpc>
                <a:spcPct val="100000"/>
              </a:lnSpc>
              <a:spcBef>
                <a:spcPts val="1200"/>
              </a:spcBef>
              <a:buSzPct val="123000"/>
              <a:buFont typeface="Times Roman"/>
              <a:buChar char="•"/>
              <a:defRPr sz="130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CM2/order &lt; 0 (канал/регион):</a:t>
            </a:r>
            <a:br/>
            <a:r>
              <a:t>—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Trigger:</a:t>
            </a:r>
            <a:r>
              <a:t> Data&amp;ML →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Owner action:</a:t>
            </a:r>
            <a:r>
              <a:t> Logistics/Checkout: поднять AOV* free, урезать инсентивы, сузить слоты;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Comms:</a:t>
            </a:r>
            <a:r>
              <a:t> CRM.</a:t>
            </a:r>
          </a:p>
          <a:p>
            <a:pPr marL="457200" indent="-317500" defTabSz="457200">
              <a:lnSpc>
                <a:spcPct val="100000"/>
              </a:lnSpc>
              <a:spcBef>
                <a:spcPts val="1200"/>
              </a:spcBef>
              <a:buSzPct val="123000"/>
              <a:buFont typeface="Times Roman"/>
              <a:buChar char="•"/>
              <a:defRPr sz="130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On-time &lt; Y% или Contact rate ↑:</a:t>
            </a:r>
            <a:br/>
            <a:r>
              <a:t>—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Trigger:</a:t>
            </a:r>
            <a:r>
              <a:t> Logistics →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Owner action:</a:t>
            </a:r>
            <a:r>
              <a:t> capacity-throttle слотов 24 ч, ETA-апдейт, приоритизация сборки;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Comms:</a:t>
            </a:r>
            <a:r>
              <a:t> CX/CRM.</a:t>
            </a:r>
          </a:p>
          <a:p>
            <a:pPr marL="457200" indent="-317500" defTabSz="457200">
              <a:lnSpc>
                <a:spcPct val="100000"/>
              </a:lnSpc>
              <a:spcBef>
                <a:spcPts val="1200"/>
              </a:spcBef>
              <a:buSzPct val="123000"/>
              <a:buFont typeface="Times Roman"/>
              <a:buChar char="•"/>
              <a:defRPr sz="130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Drop@Mixed-Cart ↑:</a:t>
            </a:r>
            <a:br/>
            <a:r>
              <a:t>—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Trigger:</a:t>
            </a:r>
            <a:r>
              <a:t> Checkout →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Owner action:</a:t>
            </a:r>
            <a:r>
              <a:t> включить «мост»/усилить copy/fee/ETA-ясность;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Comms:</a:t>
            </a:r>
            <a:r>
              <a:t> Platform.</a:t>
            </a:r>
          </a:p>
          <a:p>
            <a:pPr marL="457200" indent="-317500" defTabSz="457200">
              <a:lnSpc>
                <a:spcPct val="100000"/>
              </a:lnSpc>
              <a:spcBef>
                <a:spcPts val="1200"/>
              </a:spcBef>
              <a:buSzPct val="123000"/>
              <a:buFont typeface="Times Roman"/>
              <a:buChar char="•"/>
              <a:defRPr sz="130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SRM ≠ 0 / Crash-free ↓:</a:t>
            </a:r>
            <a:br/>
            <a:r>
              <a:t>—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Trigger:</a:t>
            </a:r>
            <a:r>
              <a:t> Data/Platform →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Owner action:</a:t>
            </a:r>
            <a:r>
              <a:t> немедленный rollback вариации, пересемплирование.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1300">
                <a:solidFill>
                  <a:srgbClr val="808080"/>
                </a:solidFill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</a:p>
          <a:p>
            <a:pPr defTabSz="457200">
              <a:lnSpc>
                <a:spcPct val="100000"/>
              </a:lnSpc>
              <a:spcBef>
                <a:spcPts val="1400"/>
              </a:spcBef>
              <a:defRPr sz="1300">
                <a:latin typeface="PP Object Sans Heavy"/>
                <a:ea typeface="PP Object Sans Heavy"/>
                <a:cs typeface="PP Object Sans Heavy"/>
                <a:sym typeface="PP Object Sans Heavy"/>
              </a:defRPr>
            </a:pPr>
            <a:r>
              <a:t>8.6. Интерфейсы между командами (как не терять скорость)</a:t>
            </a:r>
          </a:p>
          <a:p>
            <a:pPr marL="457200" indent="-317500" defTabSz="457200">
              <a:lnSpc>
                <a:spcPct val="100000"/>
              </a:lnSpc>
              <a:spcBef>
                <a:spcPts val="1200"/>
              </a:spcBef>
              <a:buSzPct val="123000"/>
              <a:buFont typeface="Times Roman"/>
              <a:buChar char="•"/>
              <a:defRPr sz="130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Backlog intake:</a:t>
            </a:r>
            <a:r>
              <a:t> единый шаблон (проблема → шаг воронки → метрика → MDE → экономический guardrail).</a:t>
            </a:r>
          </a:p>
          <a:p>
            <a:pPr marL="457200" indent="-317500" defTabSz="457200">
              <a:lnSpc>
                <a:spcPct val="100000"/>
              </a:lnSpc>
              <a:spcBef>
                <a:spcPts val="1200"/>
              </a:spcBef>
              <a:buSzPct val="123000"/>
              <a:buFont typeface="Times Roman"/>
              <a:buChar char="•"/>
              <a:defRPr sz="130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Design-to-Dev SLA:</a:t>
            </a:r>
            <a:r>
              <a:t> макеты/копира — ≤5 раб. дней до A/B; события — в том же спринте.</a:t>
            </a:r>
          </a:p>
          <a:p>
            <a:pPr marL="457200" indent="-317500" defTabSz="457200">
              <a:lnSpc>
                <a:spcPct val="100000"/>
              </a:lnSpc>
              <a:spcBef>
                <a:spcPts val="1200"/>
              </a:spcBef>
              <a:buSzPct val="123000"/>
              <a:buFont typeface="Times Roman"/>
              <a:buChar char="•"/>
              <a:defRPr sz="130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Ops escalation:</a:t>
            </a:r>
            <a:r>
              <a:t> претензии «недовложение/задержка» → CX triage за ≤2 ч, авто-апдейт ETA.</a:t>
            </a:r>
          </a:p>
          <a:p>
            <a:pPr marL="457200" indent="-317500" defTabSz="457200">
              <a:lnSpc>
                <a:spcPct val="100000"/>
              </a:lnSpc>
              <a:spcBef>
                <a:spcPts val="1200"/>
              </a:spcBef>
              <a:buSzPct val="123000"/>
              <a:buFont typeface="Times Roman"/>
              <a:buChar char="•"/>
              <a:defRPr sz="130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Knowledge loop:</a:t>
            </a:r>
            <a:r>
              <a:t> каждый закрытый тест → карточка «что попробовали/что сработало/что не сработало» в базе решений.</a:t>
            </a:r>
          </a:p>
          <a:p>
            <a:pPr defTabSz="457200">
              <a:lnSpc>
                <a:spcPct val="100000"/>
              </a:lnSpc>
              <a:spcBef>
                <a:spcPts val="1200"/>
              </a:spcBef>
              <a:defRPr sz="130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t>Этот опер.модуль гарантирует: у каждой инициативы есть DRI, у каждого шага — владелец метрик, у каждого риска — заранее описанная реакция. Следующий слайд —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Execution Playbooks</a:t>
            </a:r>
            <a:r>
              <a:t> (конкретные рычаги по шагам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Слайд 13. Сводная таблица KPI × Владельцы × MDE (чек-лист исполнения)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315468">
              <a:lnSpc>
                <a:spcPct val="100000"/>
              </a:lnSpc>
              <a:spcBef>
                <a:spcPts val="1100"/>
              </a:spcBef>
              <a:defRPr b="0" spc="0" sz="4485">
                <a:latin typeface="PP Object Sans Heavy"/>
                <a:ea typeface="PP Object Sans Heavy"/>
                <a:cs typeface="PP Object Sans Heavy"/>
                <a:sym typeface="PP Object Sans Heavy"/>
              </a:defRPr>
            </a:lvl1pPr>
          </a:lstStyle>
          <a:p>
            <a:pPr/>
            <a:r>
              <a:t>Слайд 13. Сводная таблица KPI × Владельцы × MDE (чек-лист исполнения)</a:t>
            </a:r>
          </a:p>
        </p:txBody>
      </p:sp>
      <p:graphicFrame>
        <p:nvGraphicFramePr>
          <p:cNvPr id="232" name="Table 1"/>
          <p:cNvGraphicFramePr/>
          <p:nvPr/>
        </p:nvGraphicFramePr>
        <p:xfrm>
          <a:off x="761829" y="2716986"/>
          <a:ext cx="22095722" cy="7796595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3047157"/>
                <a:gridCol w="5509915"/>
                <a:gridCol w="3204837"/>
                <a:gridCol w="5402003"/>
                <a:gridCol w="4919109"/>
              </a:tblGrid>
              <a:tr h="778389">
                <a:tc>
                  <a:txBody>
                    <a:bodyPr/>
                    <a:lstStyle/>
                    <a:p>
                      <a:pPr defTabSz="457200"/>
                      <a:r>
                        <a:rPr sz="2000">
                          <a:latin typeface="PP Object Sans Heavy"/>
                          <a:ea typeface="PP Object Sans Heavy"/>
                          <a:cs typeface="PP Object Sans Heavy"/>
                          <a:sym typeface="PP Object Sans Heavy"/>
                        </a:rPr>
                        <a:t>Блок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defTabSz="457200"/>
                      <a:r>
                        <a:rPr sz="2000">
                          <a:latin typeface="PP Object Sans Heavy"/>
                          <a:ea typeface="PP Object Sans Heavy"/>
                          <a:cs typeface="PP Object Sans Heavy"/>
                          <a:sym typeface="PP Object Sans Heavy"/>
                        </a:rPr>
                        <a:t>Метрика (ключевая)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2000">
                          <a:latin typeface="PP Object Sans Heavy"/>
                          <a:ea typeface="PP Object Sans Heavy"/>
                          <a:cs typeface="PP Object Sans Heavy"/>
                          <a:sym typeface="PP Object Sans Heavy"/>
                        </a:rPr>
                        <a:t>Цель/MDE H1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defTabSz="457200"/>
                      <a:r>
                        <a:rPr sz="2000">
                          <a:latin typeface="PP Object Sans Heavy"/>
                          <a:ea typeface="PP Object Sans Heavy"/>
                          <a:cs typeface="PP Object Sans Heavy"/>
                          <a:sym typeface="PP Object Sans Heavy"/>
                        </a:rPr>
                        <a:t>Guardrails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defTabSz="457200"/>
                      <a:r>
                        <a:rPr sz="2000">
                          <a:latin typeface="PP Object Sans Heavy"/>
                          <a:ea typeface="PP Object Sans Heavy"/>
                          <a:cs typeface="PP Object Sans Heavy"/>
                          <a:sym typeface="PP Object Sans Heavy"/>
                        </a:rPr>
                        <a:t>Владелец (DRI)</a:t>
                      </a:r>
                    </a:p>
                  </a:txBody>
                  <a:tcPr marL="12700" marR="12700" marT="12700" marB="12700" anchor="ctr" anchorCtr="0" horzOverflow="overflow"/>
                </a:tc>
              </a:tr>
              <a:tr h="778389">
                <a:tc>
                  <a:txBody>
                    <a:bodyPr/>
                    <a:lstStyle/>
                    <a:p>
                      <a:pPr algn="l" defTabSz="457200"/>
                      <a:r>
                        <a:rPr sz="2000">
                          <a:latin typeface="PP Object Sans Heavy"/>
                          <a:ea typeface="PP Object Sans Heavy"/>
                          <a:cs typeface="PP Object Sans Heavy"/>
                          <a:sym typeface="PP Object Sans Heavy"/>
                        </a:rPr>
                        <a:t>Exposure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defTabSz="457200"/>
                      <a:r>
                        <a:rPr sz="2000">
                          <a:latin typeface="PP Object Sans Regular"/>
                          <a:ea typeface="PP Object Sans Regular"/>
                          <a:cs typeface="PP Object Sans Regular"/>
                          <a:sym typeface="PP Object Sans Regular"/>
                        </a:rPr>
                        <a:t>Share_exposed (Views)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defTabSz="457200"/>
                      <a:r>
                        <a:rPr sz="2000">
                          <a:latin typeface="PP Object Sans Regular"/>
                          <a:ea typeface="PP Object Sans Regular"/>
                          <a:cs typeface="PP Object Sans Regular"/>
                          <a:sym typeface="PP Object Sans Regular"/>
                        </a:rPr>
                        <a:t>+15–20 п.п.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defTabSz="457200"/>
                      <a:r>
                        <a:rPr sz="2000">
                          <a:latin typeface="PP Object Sans Regular"/>
                          <a:ea typeface="PP Object Sans Regular"/>
                          <a:cs typeface="PP Object Sans Regular"/>
                          <a:sym typeface="PP Object Sans Regular"/>
                        </a:rPr>
                        <a:t>Crash-free/TTI ↔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defTabSz="457200"/>
                      <a:r>
                        <a:rPr sz="2000">
                          <a:latin typeface="PP Object Sans Regular"/>
                          <a:ea typeface="PP Object Sans Regular"/>
                          <a:cs typeface="PP Object Sans Regular"/>
                          <a:sym typeface="PP Object Sans Regular"/>
                        </a:rPr>
                        <a:t>Platform &amp; CX</a:t>
                      </a:r>
                    </a:p>
                  </a:txBody>
                  <a:tcPr marL="12700" marR="12700" marT="12700" marB="12700" anchor="ctr" anchorCtr="0" horzOverflow="overflow"/>
                </a:tc>
              </a:tr>
              <a:tr h="778389">
                <a:tc>
                  <a:txBody>
                    <a:bodyPr/>
                    <a:lstStyle/>
                    <a:p>
                      <a:pPr algn="l" defTabSz="457200"/>
                      <a:r>
                        <a:rPr sz="2000">
                          <a:latin typeface="PP Object Sans Heavy"/>
                          <a:ea typeface="PP Object Sans Heavy"/>
                          <a:cs typeface="PP Object Sans Heavy"/>
                          <a:sym typeface="PP Object Sans Heavy"/>
                        </a:rPr>
                        <a:t>CTR входов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defTabSz="457200"/>
                      <a:r>
                        <a:rPr sz="2000">
                          <a:latin typeface="PP Object Sans Regular"/>
                          <a:ea typeface="PP Object Sans Regular"/>
                          <a:cs typeface="PP Object Sans Regular"/>
                          <a:sym typeface="PP Object Sans Regular"/>
                        </a:rPr>
                        <a:t>CTR «Покупки»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defTabSz="457200"/>
                      <a:r>
                        <a:rPr sz="2000">
                          <a:latin typeface="PP Object Sans Regular"/>
                          <a:ea typeface="PP Object Sans Regular"/>
                          <a:cs typeface="PP Object Sans Regular"/>
                          <a:sym typeface="PP Object Sans Regular"/>
                        </a:rPr>
                        <a:t>+0.3–0.5 п.п.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defTabSz="457200"/>
                      <a:r>
                        <a:rPr sz="2000">
                          <a:latin typeface="PP Object Sans Regular"/>
                          <a:ea typeface="PP Object Sans Regular"/>
                          <a:cs typeface="PP Object Sans Regular"/>
                          <a:sym typeface="PP Object Sans Regular"/>
                        </a:rPr>
                        <a:t>Mixed-cart rate ↔/↓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defTabSz="457200"/>
                      <a:r>
                        <a:rPr sz="2000">
                          <a:latin typeface="PP Object Sans Regular"/>
                          <a:ea typeface="PP Object Sans Regular"/>
                          <a:cs typeface="PP Object Sans Regular"/>
                          <a:sym typeface="PP Object Sans Regular"/>
                        </a:rPr>
                        <a:t>Platform &amp; CX / CRM</a:t>
                      </a:r>
                    </a:p>
                  </a:txBody>
                  <a:tcPr marL="12700" marR="12700" marT="12700" marB="12700" anchor="ctr" anchorCtr="0" horzOverflow="overflow"/>
                </a:tc>
              </a:tr>
              <a:tr h="778389">
                <a:tc>
                  <a:txBody>
                    <a:bodyPr/>
                    <a:lstStyle/>
                    <a:p>
                      <a:pPr algn="l" defTabSz="457200"/>
                      <a:r>
                        <a:rPr sz="2000">
                          <a:latin typeface="PP Object Sans Heavy"/>
                          <a:ea typeface="PP Object Sans Heavy"/>
                          <a:cs typeface="PP Object Sans Heavy"/>
                          <a:sym typeface="PP Object Sans Heavy"/>
                        </a:rPr>
                        <a:t>ATC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defTabSz="457200"/>
                      <a:r>
                        <a:rPr sz="2000">
                          <a:latin typeface="PP Object Sans Regular"/>
                          <a:ea typeface="PP Object Sans Regular"/>
                          <a:cs typeface="PP Object Sans Regular"/>
                          <a:sym typeface="PP Object Sans Regular"/>
                        </a:rPr>
                        <a:t>ATC CVR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defTabSz="457200"/>
                      <a:r>
                        <a:rPr sz="2000">
                          <a:latin typeface="PP Object Sans Regular"/>
                          <a:ea typeface="PP Object Sans Regular"/>
                          <a:cs typeface="PP Object Sans Regular"/>
                          <a:sym typeface="PP Object Sans Regular"/>
                        </a:rPr>
                        <a:t>+1–2 п.п.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defTabSz="457200"/>
                      <a:r>
                        <a:rPr sz="2000">
                          <a:latin typeface="PP Object Sans Regular"/>
                          <a:ea typeface="PP Object Sans Regular"/>
                          <a:cs typeface="PP Object Sans Regular"/>
                          <a:sym typeface="PP Object Sans Regular"/>
                        </a:rPr>
                        <a:t>Edit/Undo ≤ U%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defTabSz="457200"/>
                      <a:r>
                        <a:rPr sz="2000">
                          <a:latin typeface="PP Object Sans Regular"/>
                          <a:ea typeface="PP Object Sans Regular"/>
                          <a:cs typeface="PP Object Sans Regular"/>
                          <a:sym typeface="PP Object Sans Regular"/>
                        </a:rPr>
                        <a:t>Browse &amp; Merch</a:t>
                      </a:r>
                    </a:p>
                  </a:txBody>
                  <a:tcPr marL="12700" marR="12700" marT="12700" marB="12700" anchor="ctr" anchorCtr="0" horzOverflow="overflow"/>
                </a:tc>
              </a:tr>
              <a:tr h="778389">
                <a:tc>
                  <a:txBody>
                    <a:bodyPr/>
                    <a:lstStyle/>
                    <a:p>
                      <a:pPr algn="l" defTabSz="457200"/>
                      <a:r>
                        <a:rPr sz="2000">
                          <a:latin typeface="PP Object Sans Heavy"/>
                          <a:ea typeface="PP Object Sans Heavy"/>
                          <a:cs typeface="PP Object Sans Heavy"/>
                          <a:sym typeface="PP Object Sans Heavy"/>
                        </a:rPr>
                        <a:t>AOV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defTabSz="457200"/>
                      <a:r>
                        <a:rPr sz="2000">
                          <a:latin typeface="PP Object Sans Regular"/>
                          <a:ea typeface="PP Object Sans Regular"/>
                          <a:cs typeface="PP Object Sans Regular"/>
                          <a:sym typeface="PP Object Sans Regular"/>
                        </a:rPr>
                        <a:t>Средний чек (веса по категориям)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defTabSz="457200"/>
                      <a:r>
                        <a:rPr sz="2000">
                          <a:latin typeface="PP Object Sans Regular"/>
                          <a:ea typeface="PP Object Sans Regular"/>
                          <a:cs typeface="PP Object Sans Regular"/>
                          <a:sym typeface="PP Object Sans Regular"/>
                        </a:rPr>
                        <a:t>+8–12%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defTabSz="457200"/>
                      <a:r>
                        <a:rPr sz="2000">
                          <a:latin typeface="PP Object Sans Heavy"/>
                          <a:ea typeface="PP Object Sans Heavy"/>
                          <a:cs typeface="PP Object Sans Heavy"/>
                          <a:sym typeface="PP Object Sans Heavy"/>
                        </a:rPr>
                        <a:t>CM2/order ≥ 0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defTabSz="457200"/>
                      <a:r>
                        <a:rPr sz="2000">
                          <a:latin typeface="PP Object Sans Regular"/>
                          <a:ea typeface="PP Object Sans Regular"/>
                          <a:cs typeface="PP Object Sans Regular"/>
                          <a:sym typeface="PP Object Sans Regular"/>
                        </a:rPr>
                        <a:t>Browse &amp; Merch / Finance Ops</a:t>
                      </a:r>
                    </a:p>
                  </a:txBody>
                  <a:tcPr marL="12700" marR="12700" marT="12700" marB="12700" anchor="ctr" anchorCtr="0" horzOverflow="overflow"/>
                </a:tc>
              </a:tr>
              <a:tr h="778389">
                <a:tc>
                  <a:txBody>
                    <a:bodyPr/>
                    <a:lstStyle/>
                    <a:p>
                      <a:pPr algn="l" defTabSz="457200"/>
                      <a:r>
                        <a:rPr sz="2000">
                          <a:latin typeface="PP Object Sans Heavy"/>
                          <a:ea typeface="PP Object Sans Heavy"/>
                          <a:cs typeface="PP Object Sans Heavy"/>
                          <a:sym typeface="PP Object Sans Heavy"/>
                        </a:rPr>
                        <a:t>Checkout (mixed)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defTabSz="457200"/>
                      <a:r>
                        <a:rPr sz="2000">
                          <a:latin typeface="PP Object Sans Regular"/>
                          <a:ea typeface="PP Object Sans Regular"/>
                          <a:cs typeface="PP Object Sans Regular"/>
                          <a:sym typeface="PP Object Sans Regular"/>
                        </a:rPr>
                        <a:t>Checkout CVR (mixed)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defTabSz="457200"/>
                      <a:r>
                        <a:rPr sz="2000">
                          <a:latin typeface="PP Object Sans Regular"/>
                          <a:ea typeface="PP Object Sans Regular"/>
                          <a:cs typeface="PP Object Sans Regular"/>
                          <a:sym typeface="PP Object Sans Regular"/>
                        </a:rPr>
                        <a:t>+3–5 п.п.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defTabSz="457200"/>
                      <a:r>
                        <a:rPr sz="2000">
                          <a:latin typeface="PP Object Sans Regular"/>
                          <a:ea typeface="PP Object Sans Regular"/>
                          <a:cs typeface="PP Object Sans Regular"/>
                          <a:sym typeface="PP Object Sans Regular"/>
                        </a:rPr>
                        <a:t>Pay-success ↔; Cancel/Contact ↔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defTabSz="457200"/>
                      <a:r>
                        <a:rPr sz="2000">
                          <a:latin typeface="PP Object Sans Regular"/>
                          <a:ea typeface="PP Object Sans Regular"/>
                          <a:cs typeface="PP Object Sans Regular"/>
                          <a:sym typeface="PP Object Sans Regular"/>
                        </a:rPr>
                        <a:t>Checkout</a:t>
                      </a:r>
                    </a:p>
                  </a:txBody>
                  <a:tcPr marL="12700" marR="12700" marT="12700" marB="12700" anchor="ctr" anchorCtr="0" horzOverflow="overflow"/>
                </a:tc>
              </a:tr>
              <a:tr h="778389">
                <a:tc>
                  <a:txBody>
                    <a:bodyPr/>
                    <a:lstStyle/>
                    <a:p>
                      <a:pPr algn="l" defTabSz="457200"/>
                      <a:r>
                        <a:rPr sz="2000">
                          <a:latin typeface="PP Object Sans Heavy"/>
                          <a:ea typeface="PP Object Sans Heavy"/>
                          <a:cs typeface="PP Object Sans Heavy"/>
                          <a:sym typeface="PP Object Sans Heavy"/>
                        </a:rPr>
                        <a:t>Fulfillment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defTabSz="457200"/>
                      <a:r>
                        <a:rPr sz="2000">
                          <a:latin typeface="PP Object Sans Regular"/>
                          <a:ea typeface="PP Object Sans Regular"/>
                          <a:cs typeface="PP Object Sans Regular"/>
                          <a:sym typeface="PP Object Sans Regular"/>
                        </a:rPr>
                        <a:t>Delivered-success, On-time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defTabSz="457200"/>
                      <a:r>
                        <a:rPr sz="2000">
                          <a:latin typeface="PP Object Sans Regular"/>
                          <a:ea typeface="PP Object Sans Regular"/>
                          <a:cs typeface="PP Object Sans Regular"/>
                          <a:sym typeface="PP Object Sans Regular"/>
                        </a:rPr>
                        <a:t>+2–3 п.п.; +Y п.п.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defTabSz="457200"/>
                      <a:r>
                        <a:rPr sz="2000">
                          <a:latin typeface="PP Object Sans Regular"/>
                          <a:ea typeface="PP Object Sans Regular"/>
                          <a:cs typeface="PP Object Sans Regular"/>
                          <a:sym typeface="PP Object Sans Regular"/>
                        </a:rPr>
                        <a:t>Contact rate −X%; NPS/CSAT ↔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defTabSz="457200"/>
                      <a:r>
                        <a:rPr sz="2000">
                          <a:latin typeface="PP Object Sans Regular"/>
                          <a:ea typeface="PP Object Sans Regular"/>
                          <a:cs typeface="PP Object Sans Regular"/>
                          <a:sym typeface="PP Object Sans Regular"/>
                        </a:rPr>
                        <a:t>Logistics &amp; Promise</a:t>
                      </a:r>
                    </a:p>
                  </a:txBody>
                  <a:tcPr marL="12700" marR="12700" marT="12700" marB="12700" anchor="ctr" anchorCtr="0" horzOverflow="overflow"/>
                </a:tc>
              </a:tr>
              <a:tr h="778389">
                <a:tc>
                  <a:txBody>
                    <a:bodyPr/>
                    <a:lstStyle/>
                    <a:p>
                      <a:pPr algn="l" defTabSz="457200"/>
                      <a:r>
                        <a:rPr sz="2000">
                          <a:latin typeface="PP Object Sans Heavy"/>
                          <a:ea typeface="PP Object Sans Heavy"/>
                          <a:cs typeface="PP Object Sans Heavy"/>
                          <a:sym typeface="PP Object Sans Heavy"/>
                        </a:rPr>
                        <a:t>Поведение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defTabSz="457200"/>
                      <a:r>
                        <a:rPr sz="2000">
                          <a:latin typeface="PP Object Sans Regular"/>
                          <a:ea typeface="PP Object Sans Regular"/>
                          <a:cs typeface="PP Object Sans Regular"/>
                          <a:sym typeface="PP Object Sans Regular"/>
                        </a:rPr>
                        <a:t>Repeat 30/90d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defTabSz="457200"/>
                      <a:r>
                        <a:rPr sz="2000">
                          <a:latin typeface="PP Object Sans Regular"/>
                          <a:ea typeface="PP Object Sans Regular"/>
                          <a:cs typeface="PP Object Sans Regular"/>
                          <a:sym typeface="PP Object Sans Regular"/>
                        </a:rPr>
                        <a:t>+3–5 п.п. (лаг)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defTabSz="457200"/>
                      <a:r>
                        <a:rPr sz="2000">
                          <a:latin typeface="PP Object Sans Regular"/>
                          <a:ea typeface="PP Object Sans Regular"/>
                          <a:cs typeface="PP Object Sans Regular"/>
                          <a:sym typeface="PP Object Sans Regular"/>
                        </a:rPr>
                        <a:t>LTV/CAC ≥ 3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defTabSz="457200"/>
                      <a:r>
                        <a:rPr sz="2000">
                          <a:latin typeface="PP Object Sans Regular"/>
                          <a:ea typeface="PP Object Sans Regular"/>
                          <a:cs typeface="PP Object Sans Regular"/>
                          <a:sym typeface="PP Object Sans Regular"/>
                        </a:rPr>
                        <a:t>CRM &amp; Growth</a:t>
                      </a:r>
                    </a:p>
                  </a:txBody>
                  <a:tcPr marL="12700" marR="12700" marT="12700" marB="12700" anchor="ctr" anchorCtr="0" horzOverflow="overflow"/>
                </a:tc>
              </a:tr>
              <a:tr h="778389">
                <a:tc>
                  <a:txBody>
                    <a:bodyPr/>
                    <a:lstStyle/>
                    <a:p>
                      <a:pPr algn="l" defTabSz="457200"/>
                      <a:r>
                        <a:rPr sz="2000">
                          <a:latin typeface="PP Object Sans Heavy"/>
                          <a:ea typeface="PP Object Sans Heavy"/>
                          <a:cs typeface="PP Object Sans Heavy"/>
                          <a:sym typeface="PP Object Sans Heavy"/>
                        </a:rPr>
                        <a:t>Экономика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defTabSz="457200"/>
                      <a:r>
                        <a:rPr sz="2000">
                          <a:latin typeface="PP Object Sans Regular"/>
                          <a:ea typeface="PP Object Sans Regular"/>
                          <a:cs typeface="PP Object Sans Regular"/>
                          <a:sym typeface="PP Object Sans Regular"/>
                        </a:rPr>
                        <a:t>CM2/order (Del/C&amp;C)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defTabSz="457200"/>
                      <a:r>
                        <a:rPr sz="2000">
                          <a:latin typeface="PP Object Sans Regular"/>
                          <a:ea typeface="PP Object Sans Regular"/>
                          <a:cs typeface="PP Object Sans Regular"/>
                          <a:sym typeface="PP Object Sans Regular"/>
                        </a:rPr>
                        <a:t>≥ 0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defTabSz="457200"/>
                      <a:r>
                        <a:rPr sz="2000">
                          <a:latin typeface="PP Object Sans Regular"/>
                          <a:ea typeface="PP Object Sans Regular"/>
                          <a:cs typeface="PP Object Sans Regular"/>
                          <a:sym typeface="PP Object Sans Regular"/>
                        </a:rPr>
                        <a:t>Share negative UCM ≤ Sₙ%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defTabSz="457200"/>
                      <a:r>
                        <a:rPr sz="2000">
                          <a:latin typeface="PP Object Sans Regular"/>
                          <a:ea typeface="PP Object Sans Regular"/>
                          <a:cs typeface="PP Object Sans Regular"/>
                          <a:sym typeface="PP Object Sans Regular"/>
                        </a:rPr>
                        <a:t>Finance Ops + Data</a:t>
                      </a:r>
                    </a:p>
                  </a:txBody>
                  <a:tcPr marL="12700" marR="12700" marT="12700" marB="12700" anchor="ctr" anchorCtr="0" horzOverflow="overflow"/>
                </a:tc>
              </a:tr>
              <a:tr h="778389">
                <a:tc>
                  <a:txBody>
                    <a:bodyPr/>
                    <a:lstStyle/>
                    <a:p>
                      <a:pPr algn="l" defTabSz="457200"/>
                      <a:r>
                        <a:rPr sz="2000">
                          <a:latin typeface="PP Object Sans Heavy"/>
                          <a:ea typeface="PP Object Sans Heavy"/>
                          <a:cs typeface="PP Object Sans Heavy"/>
                          <a:sym typeface="PP Object Sans Heavy"/>
                        </a:rPr>
                        <a:t>Качество данных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defTabSz="457200"/>
                      <a:r>
                        <a:rPr sz="2000">
                          <a:latin typeface="PP Object Sans Regular"/>
                          <a:ea typeface="PP Object Sans Regular"/>
                          <a:cs typeface="PP Object Sans Regular"/>
                          <a:sym typeface="PP Object Sans Regular"/>
                        </a:rPr>
                        <a:t>SRM, лаг событий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defTabSz="457200"/>
                      <a:r>
                        <a:rPr sz="2000">
                          <a:latin typeface="PP Object Sans Regular"/>
                          <a:ea typeface="PP Object Sans Regular"/>
                          <a:cs typeface="PP Object Sans Regular"/>
                          <a:sym typeface="PP Object Sans Regular"/>
                        </a:rPr>
                        <a:t>SRM=0; лаг ≤5 мин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defTabSz="457200"/>
                      <a:r>
                        <a:rPr sz="2000">
                          <a:latin typeface="PP Object Sans Regular"/>
                          <a:ea typeface="PP Object Sans Regular"/>
                          <a:cs typeface="PP Object Sans Regular"/>
                          <a:sym typeface="PP Object Sans Regular"/>
                        </a:rPr>
                        <a:t>—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defTabSz="457200"/>
                      <a:r>
                        <a:rPr sz="2000">
                          <a:latin typeface="PP Object Sans Regular"/>
                          <a:ea typeface="PP Object Sans Regular"/>
                          <a:cs typeface="PP Object Sans Regular"/>
                          <a:sym typeface="PP Object Sans Regular"/>
                        </a:rPr>
                        <a:t>Data &amp; ML</a:t>
                      </a:r>
                    </a:p>
                  </a:txBody>
                  <a:tcPr marL="12700" marR="12700" marT="12700" marB="12700" anchor="ctr" anchorCtr="0" horzOverflow="overflow"/>
                </a:tc>
              </a:tr>
            </a:tbl>
          </a:graphicData>
        </a:graphic>
      </p:graphicFrame>
      <p:sp>
        <p:nvSpPr>
          <p:cNvPr id="233" name="Примечания: — NSM = MBC (оформлено из OMNI); MDC — контроль разрыва «оплачено → доставлено/выдано». — Пороговые Y, X, S, Sₙ, K — подставляются из политики компании (слайд 12). — Все эксперименты — с обязательной атрибуцией вклада к NSM и связью с P&amp;L."/>
          <p:cNvSpPr txBox="1"/>
          <p:nvPr/>
        </p:nvSpPr>
        <p:spPr>
          <a:xfrm>
            <a:off x="759105" y="10950344"/>
            <a:ext cx="12738609" cy="190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457200">
              <a:lnSpc>
                <a:spcPct val="100000"/>
              </a:lnSpc>
              <a:spcBef>
                <a:spcPts val="1200"/>
              </a:spcBef>
              <a:defRPr sz="200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Примечания:</a:t>
            </a:r>
            <a:br/>
            <a:r>
              <a:t>— NSM =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MBC</a:t>
            </a:r>
            <a:r>
              <a:t> (оформлено из OMNI);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MDC</a:t>
            </a:r>
            <a:r>
              <a:t> — контроль разрыва «оплачено → доставлено/выдано».</a:t>
            </a:r>
            <a:br/>
            <a:r>
              <a:t>— Пороговые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Y, X, S, Sₙ, K</a:t>
            </a:r>
            <a:r>
              <a:t> — подставляются из политики компании (слайд 12).</a:t>
            </a:r>
            <a:br/>
            <a:r>
              <a:t>— Все эксперименты — с обязательной атрибуцией вклада к NSM и связью с P&amp;L.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Execution Playbooks (по шагам воронки) — что делаем, как меряем, когда считаем «готово»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83463">
              <a:lnSpc>
                <a:spcPct val="100000"/>
              </a:lnSpc>
              <a:spcBef>
                <a:spcPts val="900"/>
              </a:spcBef>
              <a:defRPr b="0" spc="0" sz="4030">
                <a:latin typeface="PP Object Sans Heavy"/>
                <a:ea typeface="PP Object Sans Heavy"/>
                <a:cs typeface="PP Object Sans Heavy"/>
                <a:sym typeface="PP Object Sans Heavy"/>
              </a:defRPr>
            </a:lvl1pPr>
          </a:lstStyle>
          <a:p>
            <a:pPr/>
            <a:r>
              <a:t>Execution Playbooks (по шагам воронки) — что делаем, как меряем, когда считаем «готово»</a:t>
            </a:r>
          </a:p>
        </p:txBody>
      </p:sp>
      <p:sp>
        <p:nvSpPr>
          <p:cNvPr id="236" name="9.1. Exposure → CTR — «Единый вход в покупки» + ясность источника…"/>
          <p:cNvSpPr txBox="1"/>
          <p:nvPr>
            <p:ph type="body" sz="half" idx="1"/>
          </p:nvPr>
        </p:nvSpPr>
        <p:spPr>
          <a:xfrm>
            <a:off x="1030417" y="2838656"/>
            <a:ext cx="10770838" cy="11075707"/>
          </a:xfrm>
          <a:prstGeom prst="rect">
            <a:avLst/>
          </a:prstGeom>
        </p:spPr>
        <p:txBody>
          <a:bodyPr/>
          <a:lstStyle/>
          <a:p>
            <a:pPr marL="0" indent="0" defTabSz="402336">
              <a:lnSpc>
                <a:spcPct val="100000"/>
              </a:lnSpc>
              <a:spcBef>
                <a:spcPts val="1300"/>
              </a:spcBef>
              <a:buSzTx/>
              <a:buNone/>
              <a:defRPr sz="1320">
                <a:latin typeface="PP Object Sans Heavy"/>
                <a:ea typeface="PP Object Sans Heavy"/>
                <a:cs typeface="PP Object Sans Heavy"/>
                <a:sym typeface="PP Object Sans Heavy"/>
              </a:defRPr>
            </a:pPr>
            <a:r>
              <a:t>9.1. Exposure → CTR — «Единый вход в покупки» + ясность источника</a:t>
            </a:r>
          </a:p>
          <a:p>
            <a:pPr marL="0" indent="0" defTabSz="402336">
              <a:lnSpc>
                <a:spcPct val="100000"/>
              </a:lnSpc>
              <a:spcBef>
                <a:spcPts val="1000"/>
              </a:spcBef>
              <a:buSzTx/>
              <a:buNone/>
              <a:defRPr sz="132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Гипотеза.</a:t>
            </a:r>
            <a:r>
              <a:t> Снятие когнитивного выбора «куда идти» и ранняя ясность источника снижают ложные заходы и повышают переход в шопинг.</a:t>
            </a:r>
            <a:br/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UX-спека (MVP):</a:t>
            </a:r>
          </a:p>
          <a:p>
            <a:pPr marL="402336" indent="-279400" defTabSz="402336">
              <a:lnSpc>
                <a:spcPct val="100000"/>
              </a:lnSpc>
              <a:spcBef>
                <a:spcPts val="1000"/>
              </a:spcBef>
              <a:buFont typeface="Times Roman"/>
              <a:defRPr sz="132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t>Главная: один крупный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CTA «Покупки»</a:t>
            </a:r>
            <a:r>
              <a:t> → экран с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2 табами</a:t>
            </a:r>
            <a:r>
              <a:t>: «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Из магазина</a:t>
            </a:r>
            <a:r>
              <a:t> (доставка/C&amp;C)» и «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Маркет</a:t>
            </a:r>
            <a:r>
              <a:t>».</a:t>
            </a:r>
          </a:p>
          <a:p>
            <a:pPr marL="402336" indent="-279400" defTabSz="402336">
              <a:lnSpc>
                <a:spcPct val="100000"/>
              </a:lnSpc>
              <a:spcBef>
                <a:spcPts val="1000"/>
              </a:spcBef>
              <a:buFont typeface="Times Roman"/>
              <a:defRPr sz="132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t>PLP/PDP: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бейдж источника</a:t>
            </a:r>
            <a:r>
              <a:t> (Из магазина/Маркет) + подсказка при переключении.</a:t>
            </a:r>
          </a:p>
          <a:p>
            <a:pPr marL="402336" indent="-279400" defTabSz="402336">
              <a:lnSpc>
                <a:spcPct val="100000"/>
              </a:lnSpc>
              <a:spcBef>
                <a:spcPts val="1000"/>
              </a:spcBef>
              <a:buFont typeface="Times Roman"/>
              <a:defRPr sz="132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t>Главная: Market-витрины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выше сгиба</a:t>
            </a:r>
            <a:r>
              <a:t> (Top-категории, «Мои 20», «Покупай снова»).</a:t>
            </a:r>
            <a:br/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Теле-метрия (новые события):</a:t>
            </a:r>
            <a:r>
              <a:t> view_shop_entry, click_shop_entry, source_badge_shown, source_switch_hint_view.</a:t>
            </a:r>
            <a:br/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Эксперимент:</a:t>
            </a:r>
            <a:r>
              <a:t> 50/50, 14 дней;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Primary:</a:t>
            </a:r>
            <a:r>
              <a:t> Views +15–20 п.п., CTR +0.3–0.5 п.п.;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Guardrails:</a:t>
            </a:r>
            <a:r>
              <a:t> crash-free/TTI не хуже.</a:t>
            </a:r>
            <a:br/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DoD:</a:t>
            </a:r>
            <a:r>
              <a:t> ≥MDE в обоих Primary; Mixed-cart rate не растёт из-за путаницы.</a:t>
            </a:r>
            <a:br/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Риски → меры:</a:t>
            </a:r>
            <a:r>
              <a:t> перегруз главной → частотный кэп виджетов; CTR не растёт при росте Views → тест позиций/копира (A/B).</a:t>
            </a:r>
          </a:p>
          <a:p>
            <a:pPr marL="0" indent="0" defTabSz="402336">
              <a:lnSpc>
                <a:spcPct val="100000"/>
              </a:lnSpc>
              <a:spcBef>
                <a:spcPts val="0"/>
              </a:spcBef>
              <a:buSzTx/>
              <a:buNone/>
              <a:defRPr sz="1320">
                <a:solidFill>
                  <a:srgbClr val="808080"/>
                </a:solidFill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</a:p>
          <a:p>
            <a:pPr marL="0" indent="0" defTabSz="402336">
              <a:lnSpc>
                <a:spcPct val="100000"/>
              </a:lnSpc>
              <a:spcBef>
                <a:spcPts val="1300"/>
              </a:spcBef>
              <a:buSzTx/>
              <a:buNone/>
              <a:defRPr sz="1320">
                <a:latin typeface="PP Object Sans Heavy"/>
                <a:ea typeface="PP Object Sans Heavy"/>
                <a:cs typeface="PP Object Sans Heavy"/>
                <a:sym typeface="PP Object Sans Heavy"/>
              </a:defRPr>
            </a:pPr>
            <a:r>
              <a:t>9.2. ATC — быстрый «+» на PLP, мультивыбор, «Мои 20/Покупай снова» сверху</a:t>
            </a:r>
          </a:p>
          <a:p>
            <a:pPr marL="0" indent="0" defTabSz="402336">
              <a:lnSpc>
                <a:spcPct val="100000"/>
              </a:lnSpc>
              <a:spcBef>
                <a:spcPts val="1000"/>
              </a:spcBef>
              <a:buSzTx/>
              <a:buNone/>
              <a:defRPr sz="132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Гипотеза.</a:t>
            </a:r>
            <a:r>
              <a:t> Сокращение действий до первого добавления и усиление повтора увеличивают ATC и AOV без давления скидками.</a:t>
            </a:r>
            <a:br/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UX-спека (MVP):</a:t>
            </a:r>
          </a:p>
          <a:p>
            <a:pPr marL="402336" indent="-279400" defTabSz="402336">
              <a:lnSpc>
                <a:spcPct val="100000"/>
              </a:lnSpc>
              <a:spcBef>
                <a:spcPts val="1000"/>
              </a:spcBef>
              <a:buFont typeface="Times Roman"/>
              <a:defRPr sz="132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Quick-add</a:t>
            </a:r>
            <a:r>
              <a:t> на PLP для безатрибутных SKU (инкремент, undo-тост, мини-редактор корзины).</a:t>
            </a:r>
          </a:p>
          <a:p>
            <a:pPr marL="402336" indent="-279400" defTabSz="402336">
              <a:lnSpc>
                <a:spcPct val="100000"/>
              </a:lnSpc>
              <a:spcBef>
                <a:spcPts val="1000"/>
              </a:spcBef>
              <a:buFont typeface="Times Roman"/>
              <a:defRPr sz="132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t>Для вариативных SKU: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компактный селектор</a:t>
            </a:r>
            <a:r>
              <a:t> прямо из PLP (размер/цвет/вкус).</a:t>
            </a:r>
          </a:p>
          <a:p>
            <a:pPr marL="402336" indent="-279400" defTabSz="402336">
              <a:lnSpc>
                <a:spcPct val="100000"/>
              </a:lnSpc>
              <a:spcBef>
                <a:spcPts val="1000"/>
              </a:spcBef>
              <a:buFont typeface="Times Roman"/>
              <a:defRPr sz="132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Мультивыбор</a:t>
            </a:r>
            <a:r>
              <a:t> на PLP («добавить выбранные»).</a:t>
            </a:r>
          </a:p>
          <a:p>
            <a:pPr marL="402336" indent="-279400" defTabSz="402336">
              <a:lnSpc>
                <a:spcPct val="100000"/>
              </a:lnSpc>
              <a:spcBef>
                <a:spcPts val="1000"/>
              </a:spcBef>
              <a:buFont typeface="Times Roman"/>
              <a:defRPr sz="132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t>Блоки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«Мои 20 / Покупай снова»</a:t>
            </a:r>
            <a:r>
              <a:t> — первым экраном.</a:t>
            </a:r>
            <a:br/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Теле-метрия:</a:t>
            </a:r>
            <a:r>
              <a:t> plp_quick_add, plp_variant_select, atc_latency_ms, multiadd_click.</a:t>
            </a:r>
            <a:br/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Эксперимент:</a:t>
            </a:r>
            <a:r>
              <a:t> 50/50, 21 день;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Primary:</a:t>
            </a:r>
            <a:r>
              <a:t> ATC +1–2 п.п., AOV +8–12%;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Guardrails:</a:t>
            </a:r>
            <a:r>
              <a:t> CM2/order по затронутым категориям ≥0, Edit/Undo-rate в норме.</a:t>
            </a:r>
            <a:br/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DoD:</a:t>
            </a:r>
            <a:r>
              <a:t> ≥MDE и экономика ок в ≥80% затронутых категорий.</a:t>
            </a:r>
            <a:br/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Риски → меры:</a:t>
            </a:r>
            <a:r>
              <a:t> случайные добавления → задержка тоста undo, мини-редактор; AOV не растёт → включить автодобор до порога free.</a:t>
            </a:r>
          </a:p>
          <a:p>
            <a:pPr marL="0" indent="0" defTabSz="402336">
              <a:lnSpc>
                <a:spcPct val="100000"/>
              </a:lnSpc>
              <a:spcBef>
                <a:spcPts val="0"/>
              </a:spcBef>
              <a:buSzTx/>
              <a:buNone/>
              <a:defRPr sz="1320">
                <a:solidFill>
                  <a:srgbClr val="808080"/>
                </a:solidFill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</a:p>
          <a:p>
            <a:pPr marL="0" indent="0" defTabSz="402336">
              <a:lnSpc>
                <a:spcPct val="100000"/>
              </a:lnSpc>
              <a:spcBef>
                <a:spcPts val="1300"/>
              </a:spcBef>
              <a:buSzTx/>
              <a:buNone/>
              <a:defRPr sz="1320">
                <a:latin typeface="PP Object Sans Heavy"/>
                <a:ea typeface="PP Object Sans Heavy"/>
                <a:cs typeface="PP Object Sans Heavy"/>
                <a:sym typeface="PP Object Sans Heavy"/>
              </a:defRPr>
            </a:pPr>
            <a:r>
              <a:t>9.3. Checkout (mixed) — «Мост между корзинами»</a:t>
            </a:r>
          </a:p>
          <a:p>
            <a:pPr marL="0" indent="0" defTabSz="402336">
              <a:lnSpc>
                <a:spcPct val="100000"/>
              </a:lnSpc>
              <a:spcBef>
                <a:spcPts val="1000"/>
              </a:spcBef>
              <a:buSzTx/>
              <a:buNone/>
              <a:defRPr sz="132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Гипотеза.</a:t>
            </a:r>
            <a:r>
              <a:t> Явная коммуникация «2 источника» и 1-клик раздельного оформления снижают дроп при смешанных корзинах.</a:t>
            </a:r>
            <a:br/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UX-спека (MVP):</a:t>
            </a:r>
          </a:p>
          <a:p>
            <a:pPr marL="402336" indent="-279400" defTabSz="402336">
              <a:lnSpc>
                <a:spcPct val="100000"/>
              </a:lnSpc>
              <a:spcBef>
                <a:spcPts val="1000"/>
              </a:spcBef>
              <a:buFont typeface="Times Roman"/>
              <a:defRPr sz="132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t>Если корзина смешанная →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инфо-бар</a:t>
            </a:r>
            <a:r>
              <a:t>: «В корзине товары из двух источников. Оформим по очереди.»</a:t>
            </a:r>
          </a:p>
          <a:p>
            <a:pPr marL="402336" indent="-279400" defTabSz="402336">
              <a:lnSpc>
                <a:spcPct val="100000"/>
              </a:lnSpc>
              <a:spcBef>
                <a:spcPts val="1000"/>
              </a:spcBef>
              <a:buFont typeface="Times Roman"/>
              <a:defRPr sz="132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t>Кнопка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«Оформить отдельно»</a:t>
            </a:r>
            <a:r>
              <a:t> → две транзакции подряд, общий прогресс бонусов, единая идентичность.</a:t>
            </a:r>
          </a:p>
          <a:p>
            <a:pPr marL="402336" indent="-279400" defTabSz="402336">
              <a:lnSpc>
                <a:spcPct val="100000"/>
              </a:lnSpc>
              <a:spcBef>
                <a:spcPts val="1000"/>
              </a:spcBef>
              <a:buFont typeface="Times Roman"/>
              <a:defRPr sz="132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t>На каждом подпотоке — явные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ETA/стоимость</a:t>
            </a:r>
            <a:r>
              <a:t> и бейдж источника.</a:t>
            </a:r>
            <a:br/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Теле-метрия:</a:t>
            </a:r>
            <a:r>
              <a:t> cart_mixed_flag, mixed_info_bar_view, cta_split_checkout_click, checkout_flow_id.</a:t>
            </a:r>
            <a:br/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Эксперимент:</a:t>
            </a:r>
            <a:r>
              <a:t> 50/50, 21–28 дней;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Primary:</a:t>
            </a:r>
            <a:r>
              <a:t> Checkout CVR (mixed) +3–5 п.п.;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Guardrails:</a:t>
            </a:r>
            <a:r>
              <a:t> Pay-success не хуже, Cancel/Contact rate не выше, CM2/order ≥0.</a:t>
            </a:r>
            <a:br/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DoD:</a:t>
            </a:r>
            <a:r>
              <a:t> ≥MDE при неизменной оплате/сервисе.</a:t>
            </a:r>
            <a:br/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Риски → меры:</a:t>
            </a:r>
            <a:r>
              <a:t> непонимание цены/ETA → продублировать в обоих потоках; отказ на второй оплате → кэшировать метод/сессию.</a:t>
            </a:r>
          </a:p>
        </p:txBody>
      </p:sp>
      <p:sp>
        <p:nvSpPr>
          <p:cNvPr id="237" name=".4. Fulfillment/Post-purchase (Маркет) — SLA/ETA + 1-клик претензии…"/>
          <p:cNvSpPr txBox="1"/>
          <p:nvPr/>
        </p:nvSpPr>
        <p:spPr>
          <a:xfrm>
            <a:off x="12782045" y="2936459"/>
            <a:ext cx="10621404" cy="100180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defTabSz="457200">
              <a:lnSpc>
                <a:spcPct val="100000"/>
              </a:lnSpc>
              <a:spcBef>
                <a:spcPts val="1400"/>
              </a:spcBef>
              <a:defRPr sz="1500">
                <a:latin typeface="PP Object Sans Heavy"/>
                <a:ea typeface="PP Object Sans Heavy"/>
                <a:cs typeface="PP Object Sans Heavy"/>
                <a:sym typeface="PP Object Sans Heavy"/>
              </a:defRPr>
            </a:pPr>
            <a:r>
              <a:t>.4. Fulfillment/Post-purchase (Маркет) — SLA/ETA + 1-клик претензии</a:t>
            </a:r>
          </a:p>
          <a:p>
            <a:pPr defTabSz="457200">
              <a:lnSpc>
                <a:spcPct val="100000"/>
              </a:lnSpc>
              <a:spcBef>
                <a:spcPts val="1200"/>
              </a:spcBef>
              <a:defRPr sz="150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Гипотеза.</a:t>
            </a:r>
            <a:r>
              <a:t> Прозрачные статусы и быстрые претензии сокращают контакт-рейт, повышают Delivered-success/On-time и повтор.</a:t>
            </a:r>
            <a:br/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UX-спека (MVP):</a:t>
            </a:r>
          </a:p>
          <a:p>
            <a:pPr marL="457200" indent="-317500" defTabSz="457200">
              <a:lnSpc>
                <a:spcPct val="100000"/>
              </a:lnSpc>
              <a:spcBef>
                <a:spcPts val="1200"/>
              </a:spcBef>
              <a:buSzPct val="123000"/>
              <a:buFont typeface="Times Roman"/>
              <a:buChar char="•"/>
              <a:defRPr sz="150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SLA-виджет</a:t>
            </a:r>
            <a:r>
              <a:t> в заказе: статус, ETA, «готово к выдаче/в пути».</a:t>
            </a:r>
          </a:p>
          <a:p>
            <a:pPr marL="457200" indent="-317500" defTabSz="457200">
              <a:lnSpc>
                <a:spcPct val="100000"/>
              </a:lnSpc>
              <a:spcBef>
                <a:spcPts val="1200"/>
              </a:spcBef>
              <a:buSzPct val="123000"/>
              <a:buFont typeface="Times Roman"/>
              <a:buChar char="•"/>
              <a:defRPr sz="150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1-клик претензия/возврат</a:t>
            </a:r>
            <a:r>
              <a:t> (типизация: недовложение, задержка, повреждение), авто-тикет и трекинг закрытия.</a:t>
            </a:r>
          </a:p>
          <a:p>
            <a:pPr marL="457200" indent="-317500" defTabSz="457200">
              <a:lnSpc>
                <a:spcPct val="100000"/>
              </a:lnSpc>
              <a:spcBef>
                <a:spcPts val="1200"/>
              </a:spcBef>
              <a:buSzPct val="123000"/>
              <a:buFont typeface="Times Roman"/>
              <a:buChar char="•"/>
              <a:defRPr sz="150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t>Шаблоны пуш/SMS по ключевым статусам.</a:t>
            </a:r>
            <a:br/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Теле-метрия:</a:t>
            </a:r>
            <a:r>
              <a:t> order_status_update(ETA), claim_one_click(type), contact_reason.</a:t>
            </a:r>
            <a:br/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Эксперимент:</a:t>
            </a:r>
            <a:r>
              <a:t> кластерный (регионы/СЦ), 28–42 дня, diff-in-diff;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Primary:</a:t>
            </a:r>
            <a:r>
              <a:t> Delivered-success +2–3 п.п., On-time +Y п.п.;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Secondary:</a:t>
            </a:r>
            <a:r>
              <a:t> Contact rate −X%, Repeat 30/90d +3–5 п.п.</a:t>
            </a:r>
            <a:br/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DoD:</a:t>
            </a:r>
            <a:r>
              <a:t> обе Primary ≥MDE; контакт-рейт не растёт; NPS/CSAT не хуже.</a:t>
            </a:r>
            <a:br/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Риски → меры:</a:t>
            </a:r>
            <a:r>
              <a:t> всплеск обращений → авто-категоризация, SLA саппорта, приоритизация кейсов.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1500">
                <a:solidFill>
                  <a:srgbClr val="808080"/>
                </a:solidFill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</a:p>
          <a:p>
            <a:pPr defTabSz="457200">
              <a:lnSpc>
                <a:spcPct val="100000"/>
              </a:lnSpc>
              <a:spcBef>
                <a:spcPts val="1400"/>
              </a:spcBef>
              <a:defRPr sz="1500">
                <a:latin typeface="PP Object Sans Heavy"/>
                <a:ea typeface="PP Object Sans Heavy"/>
                <a:cs typeface="PP Object Sans Heavy"/>
                <a:sym typeface="PP Object Sans Heavy"/>
              </a:defRPr>
            </a:pPr>
            <a:r>
              <a:t>9.5. QA-чек-лист перед выкатом (для всех плейбуков)</a:t>
            </a:r>
          </a:p>
          <a:p>
            <a:pPr marL="457200" indent="-317500" defTabSz="457200">
              <a:lnSpc>
                <a:spcPct val="100000"/>
              </a:lnSpc>
              <a:spcBef>
                <a:spcPts val="1200"/>
              </a:spcBef>
              <a:buSzPct val="123000"/>
              <a:buFont typeface="Times Roman"/>
              <a:buChar char="•"/>
              <a:defRPr sz="150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События в проде:</a:t>
            </a:r>
            <a:r>
              <a:t> все новые события бьют в один даталейер; user_id/flow_id/order_id сквозные.</a:t>
            </a:r>
          </a:p>
          <a:p>
            <a:pPr marL="457200" indent="-317500" defTabSz="457200">
              <a:lnSpc>
                <a:spcPct val="100000"/>
              </a:lnSpc>
              <a:spcBef>
                <a:spcPts val="1200"/>
              </a:spcBef>
              <a:buSzPct val="123000"/>
              <a:buFont typeface="Times Roman"/>
              <a:buChar char="•"/>
              <a:defRPr sz="150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SRM-старт:</a:t>
            </a:r>
            <a:r>
              <a:t> A/A-прогон 48 ч → SRM=0; латентность событий ≤5 мин.</a:t>
            </a:r>
          </a:p>
          <a:p>
            <a:pPr marL="457200" indent="-317500" defTabSz="457200">
              <a:lnSpc>
                <a:spcPct val="100000"/>
              </a:lnSpc>
              <a:spcBef>
                <a:spcPts val="1200"/>
              </a:spcBef>
              <a:buSzPct val="123000"/>
              <a:buFont typeface="Times Roman"/>
              <a:buChar char="•"/>
              <a:defRPr sz="150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Копирайт/юридические формулировки:</a:t>
            </a:r>
            <a:r>
              <a:t> проверены (особенно для претензий/возвратов).</a:t>
            </a:r>
          </a:p>
          <a:p>
            <a:pPr marL="457200" indent="-317500" defTabSz="457200">
              <a:lnSpc>
                <a:spcPct val="100000"/>
              </a:lnSpc>
              <a:spcBef>
                <a:spcPts val="1200"/>
              </a:spcBef>
              <a:buSzPct val="123000"/>
              <a:buFont typeface="Times Roman"/>
              <a:buChar char="•"/>
              <a:defRPr sz="150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Фолбэки:</a:t>
            </a:r>
            <a:r>
              <a:t> при деградации crash-free/TTI — авто-rollback варианта; при CM2/order&lt;0 — авто-кэп инсентивов/порог free.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1500">
                <a:solidFill>
                  <a:srgbClr val="808080"/>
                </a:solidFill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</a:p>
          <a:p>
            <a:pPr defTabSz="457200">
              <a:lnSpc>
                <a:spcPct val="100000"/>
              </a:lnSpc>
              <a:spcBef>
                <a:spcPts val="1400"/>
              </a:spcBef>
              <a:defRPr sz="1500">
                <a:latin typeface="PP Object Sans Heavy"/>
                <a:ea typeface="PP Object Sans Heavy"/>
                <a:cs typeface="PP Object Sans Heavy"/>
                <a:sym typeface="PP Object Sans Heavy"/>
              </a:defRPr>
            </a:pPr>
            <a:r>
              <a:t>9.6. Как эти плейбуки складываются в рост NSM</a:t>
            </a:r>
          </a:p>
          <a:p>
            <a:pPr marL="457200" indent="-317500" defTabSz="457200">
              <a:lnSpc>
                <a:spcPct val="100000"/>
              </a:lnSpc>
              <a:spcBef>
                <a:spcPts val="1200"/>
              </a:spcBef>
              <a:buSzPct val="100000"/>
              <a:buFont typeface="Times Roman"/>
              <a:buAutoNum type="arabicPeriod" startAt="1"/>
              <a:defRPr sz="150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Exposure/CTR ↑</a:t>
            </a:r>
            <a:r>
              <a:t> (Единый вход/бейдж) → больше пользователей вступают в шопинг-флоу.</a:t>
            </a:r>
          </a:p>
          <a:p>
            <a:pPr marL="457200" indent="-317500" defTabSz="457200">
              <a:lnSpc>
                <a:spcPct val="100000"/>
              </a:lnSpc>
              <a:spcBef>
                <a:spcPts val="1200"/>
              </a:spcBef>
              <a:buSzPct val="100000"/>
              <a:buFont typeface="Times Roman"/>
              <a:buAutoNum type="arabicPeriod" startAt="1"/>
              <a:defRPr sz="150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ATC/AOV ↑</a:t>
            </a:r>
            <a:r>
              <a:t> (Quick-add/мультивыбор/повтор) → больше корзин и выше чек.</a:t>
            </a:r>
          </a:p>
          <a:p>
            <a:pPr marL="457200" indent="-317500" defTabSz="457200">
              <a:lnSpc>
                <a:spcPct val="100000"/>
              </a:lnSpc>
              <a:spcBef>
                <a:spcPts val="1200"/>
              </a:spcBef>
              <a:buSzPct val="100000"/>
              <a:buFont typeface="Times Roman"/>
              <a:buAutoNum type="arabicPeriod" startAt="1"/>
              <a:defRPr sz="150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Checkout CVR ↑</a:t>
            </a:r>
            <a:r>
              <a:t> на смешанных → меньше потерь в финале.</a:t>
            </a:r>
          </a:p>
          <a:p>
            <a:pPr marL="457200" indent="-317500" defTabSz="457200">
              <a:lnSpc>
                <a:spcPct val="100000"/>
              </a:lnSpc>
              <a:spcBef>
                <a:spcPts val="1200"/>
              </a:spcBef>
              <a:buSzPct val="100000"/>
              <a:buFont typeface="Times Roman"/>
              <a:buAutoNum type="arabicPeriod" startAt="1"/>
              <a:defRPr sz="150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Fulfillment ↑</a:t>
            </a:r>
            <a:r>
              <a:t> →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MDC</a:t>
            </a:r>
            <a:r>
              <a:t> подтягивается к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MBC</a:t>
            </a:r>
            <a:r>
              <a:t>, растёт Repeat → закрепляется прирост NSM.</a:t>
            </a:r>
          </a:p>
          <a:p>
            <a:pPr defTabSz="457200">
              <a:lnSpc>
                <a:spcPct val="100000"/>
              </a:lnSpc>
              <a:spcBef>
                <a:spcPts val="1200"/>
              </a:spcBef>
              <a:defRPr sz="150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t>Следующий слайд —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C-level дашборд</a:t>
            </a:r>
            <a:r>
              <a:t>: как ежедневно видеть NSM, вклад каждого плейбука и guardrails экономики/сервиса.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C-level дашборд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spcBef>
                <a:spcPts val="1600"/>
              </a:spcBef>
              <a:defRPr b="0" spc="0" sz="6500">
                <a:latin typeface="PP Object Sans Heavy"/>
                <a:ea typeface="PP Object Sans Heavy"/>
                <a:cs typeface="PP Object Sans Heavy"/>
                <a:sym typeface="PP Object Sans Heavy"/>
              </a:defRPr>
            </a:lvl1pPr>
          </a:lstStyle>
          <a:p>
            <a:pPr/>
            <a:r>
              <a:t>C-level дашборд</a:t>
            </a:r>
          </a:p>
        </p:txBody>
      </p:sp>
      <p:sp>
        <p:nvSpPr>
          <p:cNvPr id="240" name="Задача дашборда: позволять CPO/Exec за 5 минут видеть тренд NSM = MBC, вклад инициатив, состояние воронки, экономику (CM2/UCM) и сервис (On-time/Delivered/NPS) — с мгновенными «стоп-линиями».…"/>
          <p:cNvSpPr txBox="1"/>
          <p:nvPr>
            <p:ph type="body" sz="half" idx="1"/>
          </p:nvPr>
        </p:nvSpPr>
        <p:spPr>
          <a:xfrm>
            <a:off x="1030417" y="2838656"/>
            <a:ext cx="10770838" cy="11075707"/>
          </a:xfrm>
          <a:prstGeom prst="rect">
            <a:avLst/>
          </a:prstGeom>
        </p:spPr>
        <p:txBody>
          <a:bodyPr/>
          <a:lstStyle/>
          <a:p>
            <a:pPr marL="0" indent="0" defTabSz="388620">
              <a:lnSpc>
                <a:spcPct val="100000"/>
              </a:lnSpc>
              <a:spcBef>
                <a:spcPts val="1000"/>
              </a:spcBef>
              <a:buSzTx/>
              <a:buNone/>
              <a:defRPr sz="170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Задача дашборда:</a:t>
            </a:r>
            <a:r>
              <a:t> позволять CPO/Exec за 5 минут видеть тренд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NSM = MBC</a:t>
            </a:r>
            <a:r>
              <a:t>, вклад инициатив, состояние воронки, экономику (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CM2/UCM</a:t>
            </a:r>
            <a:r>
              <a:t>) и сервис (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On-time/Delivered/NPS</a:t>
            </a:r>
            <a:r>
              <a:t>) — с мгновенными «стоп-линиями».</a:t>
            </a:r>
          </a:p>
          <a:p>
            <a:pPr marL="0" indent="0" defTabSz="388620">
              <a:lnSpc>
                <a:spcPct val="100000"/>
              </a:lnSpc>
              <a:spcBef>
                <a:spcPts val="0"/>
              </a:spcBef>
              <a:buSzTx/>
              <a:buNone/>
              <a:defRPr sz="1700">
                <a:solidFill>
                  <a:srgbClr val="808080"/>
                </a:solidFill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</a:p>
          <a:p>
            <a:pPr marL="0" indent="0" defTabSz="388620">
              <a:lnSpc>
                <a:spcPct val="100000"/>
              </a:lnSpc>
              <a:spcBef>
                <a:spcPts val="1200"/>
              </a:spcBef>
              <a:buSzTx/>
              <a:buNone/>
              <a:defRPr sz="1700">
                <a:latin typeface="PP Object Sans Heavy"/>
                <a:ea typeface="PP Object Sans Heavy"/>
                <a:cs typeface="PP Object Sans Heavy"/>
                <a:sym typeface="PP Object Sans Heavy"/>
              </a:defRPr>
            </a:pPr>
            <a:r>
              <a:t>10.1. Макет (5 блоков)</a:t>
            </a:r>
          </a:p>
          <a:p>
            <a:pPr marL="0" indent="0" defTabSz="388620">
              <a:lnSpc>
                <a:spcPct val="100000"/>
              </a:lnSpc>
              <a:spcBef>
                <a:spcPts val="1000"/>
              </a:spcBef>
              <a:buSzTx/>
              <a:buNone/>
              <a:defRPr sz="1700">
                <a:latin typeface="PP Object Sans Heavy"/>
                <a:ea typeface="PP Object Sans Heavy"/>
                <a:cs typeface="PP Object Sans Heavy"/>
                <a:sym typeface="PP Object Sans Heavy"/>
              </a:defRPr>
            </a:pPr>
            <a:r>
              <a:t>(A) NSM &amp; вклад инициатив</a:t>
            </a:r>
            <a:endParaRPr>
              <a:latin typeface="PP Object Sans Regular"/>
              <a:ea typeface="PP Object Sans Regular"/>
              <a:cs typeface="PP Object Sans Regular"/>
              <a:sym typeface="PP Object Sans Regular"/>
            </a:endParaRPr>
          </a:p>
          <a:p>
            <a:pPr marL="388620" indent="-269875" defTabSz="388620">
              <a:lnSpc>
                <a:spcPct val="100000"/>
              </a:lnSpc>
              <a:spcBef>
                <a:spcPts val="1000"/>
              </a:spcBef>
              <a:buFont typeface="Times Roman"/>
              <a:defRPr sz="170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MBC 1/7/28</a:t>
            </a:r>
            <a:r>
              <a:t> (текущее, Δ vs базис, цель).</a:t>
            </a:r>
          </a:p>
          <a:p>
            <a:pPr marL="388620" indent="-269875" defTabSz="388620">
              <a:lnSpc>
                <a:spcPct val="100000"/>
              </a:lnSpc>
              <a:spcBef>
                <a:spcPts val="1000"/>
              </a:spcBef>
              <a:buFont typeface="Times Roman"/>
              <a:defRPr sz="1700">
                <a:latin typeface="PP Object Sans Heavy"/>
                <a:ea typeface="PP Object Sans Heavy"/>
                <a:cs typeface="PP Object Sans Heavy"/>
                <a:sym typeface="PP Object Sans Heavy"/>
              </a:defRPr>
            </a:pPr>
            <a:r>
              <a:t>MDC = MBC × Fulfillment</a:t>
            </a:r>
            <a:r>
              <a:rPr>
                <a:latin typeface="PP Object Sans Regular"/>
                <a:ea typeface="PP Object Sans Regular"/>
                <a:cs typeface="PP Object Sans Regular"/>
                <a:sym typeface="PP Object Sans Regular"/>
              </a:rPr>
              <a:t> (разрыв MBC→MDC).</a:t>
            </a:r>
            <a:endParaRPr>
              <a:latin typeface="PP Object Sans Regular"/>
              <a:ea typeface="PP Object Sans Regular"/>
              <a:cs typeface="PP Object Sans Regular"/>
              <a:sym typeface="PP Object Sans Regular"/>
            </a:endParaRPr>
          </a:p>
          <a:p>
            <a:pPr marL="388620" indent="-269875" defTabSz="388620">
              <a:lnSpc>
                <a:spcPct val="100000"/>
              </a:lnSpc>
              <a:spcBef>
                <a:spcPts val="1000"/>
              </a:spcBef>
              <a:buFont typeface="Times Roman"/>
              <a:defRPr sz="170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aMAU</a:t>
            </a:r>
            <a:r>
              <a:t> (адресуемая аудитория) и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Exposure_seen</a:t>
            </a:r>
            <a:r>
              <a:t>.</a:t>
            </a:r>
          </a:p>
          <a:p>
            <a:pPr marL="388620" indent="-269875" defTabSz="388620">
              <a:lnSpc>
                <a:spcPct val="100000"/>
              </a:lnSpc>
              <a:spcBef>
                <a:spcPts val="1000"/>
              </a:spcBef>
              <a:buFont typeface="Times Roman"/>
              <a:defRPr sz="170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Contrib-bar:</a:t>
            </a:r>
            <a:r>
              <a:t> доли uplift от 4 инициатив (Навигация / ATC / Мост / Post-purchase).</a:t>
            </a:r>
          </a:p>
          <a:p>
            <a:pPr marL="388620" indent="-269875" defTabSz="388620">
              <a:lnSpc>
                <a:spcPct val="100000"/>
              </a:lnSpc>
              <a:spcBef>
                <a:spcPts val="1000"/>
              </a:spcBef>
              <a:buFont typeface="Times Roman"/>
              <a:defRPr sz="170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Цвета:</a:t>
            </a:r>
            <a:r>
              <a:t> зелёный — ≥ цели, жёлтый — в коридоре, красный — ниже MDE.</a:t>
            </a:r>
          </a:p>
          <a:p>
            <a:pPr marL="0" indent="0" defTabSz="388620">
              <a:lnSpc>
                <a:spcPct val="100000"/>
              </a:lnSpc>
              <a:spcBef>
                <a:spcPts val="1000"/>
              </a:spcBef>
              <a:buSzTx/>
              <a:buNone/>
              <a:defRPr sz="170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(B) Воронка 6 шагов (leading)</a:t>
            </a:r>
            <a:br/>
            <a:r>
              <a:t>Views → CTR → Intent → ATC → Checkout →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Fulfillment</a:t>
            </a:r>
          </a:p>
          <a:p>
            <a:pPr marL="388620" indent="-269875" defTabSz="388620">
              <a:lnSpc>
                <a:spcPct val="100000"/>
              </a:lnSpc>
              <a:spcBef>
                <a:spcPts val="1000"/>
              </a:spcBef>
              <a:buFont typeface="Times Roman"/>
              <a:defRPr sz="170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t>Для каждого: текущее значение, Δ нед/нед, активные тесты,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SRM-индикатор</a:t>
            </a:r>
            <a:r>
              <a:t>.</a:t>
            </a:r>
          </a:p>
          <a:p>
            <a:pPr marL="388620" indent="-269875" defTabSz="388620">
              <a:lnSpc>
                <a:spcPct val="100000"/>
              </a:lnSpc>
              <a:spcBef>
                <a:spcPts val="1000"/>
              </a:spcBef>
              <a:buFont typeface="Times Roman"/>
              <a:defRPr sz="1700">
                <a:latin typeface="PP Object Sans Heavy"/>
                <a:ea typeface="PP Object Sans Heavy"/>
                <a:cs typeface="PP Object Sans Heavy"/>
                <a:sym typeface="PP Object Sans Heavy"/>
              </a:defRPr>
            </a:pPr>
            <a:r>
              <a:rPr>
                <a:latin typeface="PP Object Sans Regular"/>
                <a:ea typeface="PP Object Sans Regular"/>
                <a:cs typeface="PP Object Sans Regular"/>
                <a:sym typeface="PP Object Sans Regular"/>
              </a:rPr>
              <a:t>Отдельно: </a:t>
            </a:r>
            <a:r>
              <a:t>Mixed-cart rate</a:t>
            </a:r>
            <a:r>
              <a:rPr>
                <a:latin typeface="PP Object Sans Regular"/>
                <a:ea typeface="PP Object Sans Regular"/>
                <a:cs typeface="PP Object Sans Regular"/>
                <a:sym typeface="PP Object Sans Regular"/>
              </a:rPr>
              <a:t> и </a:t>
            </a:r>
            <a:r>
              <a:t>Drop@Mixed-Cart</a:t>
            </a:r>
            <a:r>
              <a:rPr>
                <a:latin typeface="PP Object Sans Regular"/>
                <a:ea typeface="PP Object Sans Regular"/>
                <a:cs typeface="PP Object Sans Regular"/>
                <a:sym typeface="PP Object Sans Regular"/>
              </a:rPr>
              <a:t>.</a:t>
            </a:r>
            <a:endParaRPr>
              <a:latin typeface="PP Object Sans Regular"/>
              <a:ea typeface="PP Object Sans Regular"/>
              <a:cs typeface="PP Object Sans Regular"/>
              <a:sym typeface="PP Object Sans Regular"/>
            </a:endParaRPr>
          </a:p>
          <a:p>
            <a:pPr marL="0" indent="0" defTabSz="388620">
              <a:lnSpc>
                <a:spcPct val="100000"/>
              </a:lnSpc>
              <a:spcBef>
                <a:spcPts val="1000"/>
              </a:spcBef>
              <a:buSzTx/>
              <a:buNone/>
              <a:defRPr sz="1700">
                <a:latin typeface="PP Object Sans Heavy"/>
                <a:ea typeface="PP Object Sans Heavy"/>
                <a:cs typeface="PP Object Sans Heavy"/>
                <a:sym typeface="PP Object Sans Heavy"/>
              </a:defRPr>
            </a:pPr>
            <a:r>
              <a:t>(C) Экономика (P&amp;L guardrails)</a:t>
            </a:r>
            <a:endParaRPr>
              <a:latin typeface="PP Object Sans Regular"/>
              <a:ea typeface="PP Object Sans Regular"/>
              <a:cs typeface="PP Object Sans Regular"/>
              <a:sym typeface="PP Object Sans Regular"/>
            </a:endParaRPr>
          </a:p>
          <a:p>
            <a:pPr marL="388620" indent="-269875" defTabSz="388620">
              <a:lnSpc>
                <a:spcPct val="100000"/>
              </a:lnSpc>
              <a:spcBef>
                <a:spcPts val="1000"/>
              </a:spcBef>
              <a:buFont typeface="Times Roman"/>
              <a:defRPr sz="170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CM2/order</a:t>
            </a:r>
            <a:r>
              <a:t>: Delivery и C&amp;C (медиана, p25/p75).</a:t>
            </a:r>
          </a:p>
          <a:p>
            <a:pPr marL="388620" indent="-269875" defTabSz="388620">
              <a:lnSpc>
                <a:spcPct val="100000"/>
              </a:lnSpc>
              <a:spcBef>
                <a:spcPts val="1000"/>
              </a:spcBef>
              <a:buFont typeface="Times Roman"/>
              <a:defRPr sz="170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AOV vs AOV*</a:t>
            </a:r>
            <a:r>
              <a:t> (порог free-delivery), доля заказов ≥ AOV*.</a:t>
            </a:r>
          </a:p>
          <a:p>
            <a:pPr marL="388620" indent="-269875" defTabSz="388620">
              <a:lnSpc>
                <a:spcPct val="100000"/>
              </a:lnSpc>
              <a:spcBef>
                <a:spcPts val="1000"/>
              </a:spcBef>
              <a:buFont typeface="Times Roman"/>
              <a:defRPr sz="1700">
                <a:latin typeface="PP Object Sans Heavy"/>
                <a:ea typeface="PP Object Sans Heavy"/>
                <a:cs typeface="PP Object Sans Heavy"/>
                <a:sym typeface="PP Object Sans Heavy"/>
              </a:defRPr>
            </a:pPr>
            <a:r>
              <a:t>Share of negative UCM</a:t>
            </a:r>
            <a:r>
              <a:rPr>
                <a:latin typeface="PP Object Sans Regular"/>
                <a:ea typeface="PP Object Sans Regular"/>
                <a:cs typeface="PP Object Sans Regular"/>
                <a:sym typeface="PP Object Sans Regular"/>
              </a:rPr>
              <a:t> (по категориям).</a:t>
            </a:r>
            <a:endParaRPr>
              <a:latin typeface="PP Object Sans Regular"/>
              <a:ea typeface="PP Object Sans Regular"/>
              <a:cs typeface="PP Object Sans Regular"/>
              <a:sym typeface="PP Object Sans Regular"/>
            </a:endParaRPr>
          </a:p>
          <a:p>
            <a:pPr marL="388620" indent="-269875" defTabSz="388620">
              <a:lnSpc>
                <a:spcPct val="100000"/>
              </a:lnSpc>
              <a:spcBef>
                <a:spcPts val="1000"/>
              </a:spcBef>
              <a:buFont typeface="Times Roman"/>
              <a:defRPr sz="170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t>Доля скидки, Gross margin,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Pay-mix</a:t>
            </a:r>
            <a:r>
              <a:t> (карта/СБП/Мир Pay).</a:t>
            </a:r>
          </a:p>
          <a:p>
            <a:pPr marL="0" indent="0" defTabSz="388620">
              <a:lnSpc>
                <a:spcPct val="100000"/>
              </a:lnSpc>
              <a:spcBef>
                <a:spcPts val="1000"/>
              </a:spcBef>
              <a:buSzTx/>
              <a:buNone/>
              <a:defRPr sz="1700">
                <a:latin typeface="PP Object Sans Heavy"/>
                <a:ea typeface="PP Object Sans Heavy"/>
                <a:cs typeface="PP Object Sans Heavy"/>
                <a:sym typeface="PP Object Sans Heavy"/>
              </a:defRPr>
            </a:pPr>
            <a:r>
              <a:t>(D) Сервис и пост-покупка</a:t>
            </a:r>
            <a:endParaRPr>
              <a:latin typeface="PP Object Sans Regular"/>
              <a:ea typeface="PP Object Sans Regular"/>
              <a:cs typeface="PP Object Sans Regular"/>
              <a:sym typeface="PP Object Sans Regular"/>
            </a:endParaRPr>
          </a:p>
          <a:p>
            <a:pPr marL="388620" indent="-269875" defTabSz="388620">
              <a:lnSpc>
                <a:spcPct val="100000"/>
              </a:lnSpc>
              <a:spcBef>
                <a:spcPts val="1000"/>
              </a:spcBef>
              <a:buFont typeface="Times Roman"/>
              <a:defRPr sz="1700">
                <a:latin typeface="PP Object Sans Heavy"/>
                <a:ea typeface="PP Object Sans Heavy"/>
                <a:cs typeface="PP Object Sans Heavy"/>
                <a:sym typeface="PP Object Sans Heavy"/>
              </a:defRPr>
            </a:pPr>
            <a:r>
              <a:t>On-time %, Delivered-success %</a:t>
            </a:r>
            <a:r>
              <a:rPr>
                <a:latin typeface="PP Object Sans Regular"/>
                <a:ea typeface="PP Object Sans Regular"/>
                <a:cs typeface="PP Object Sans Regular"/>
                <a:sym typeface="PP Object Sans Regular"/>
              </a:rPr>
              <a:t>, Cancel/Returns %, </a:t>
            </a:r>
            <a:r>
              <a:t>Contact rate</a:t>
            </a:r>
            <a:r>
              <a:rPr>
                <a:latin typeface="PP Object Sans Regular"/>
                <a:ea typeface="PP Object Sans Regular"/>
                <a:cs typeface="PP Object Sans Regular"/>
                <a:sym typeface="PP Object Sans Regular"/>
              </a:rPr>
              <a:t>, </a:t>
            </a:r>
            <a:r>
              <a:t>NPS/CSAT</a:t>
            </a:r>
            <a:r>
              <a:rPr>
                <a:latin typeface="PP Object Sans Regular"/>
                <a:ea typeface="PP Object Sans Regular"/>
                <a:cs typeface="PP Object Sans Regular"/>
                <a:sym typeface="PP Object Sans Regular"/>
              </a:rPr>
              <a:t>.</a:t>
            </a:r>
            <a:endParaRPr>
              <a:latin typeface="PP Object Sans Regular"/>
              <a:ea typeface="PP Object Sans Regular"/>
              <a:cs typeface="PP Object Sans Regular"/>
              <a:sym typeface="PP Object Sans Regular"/>
            </a:endParaRPr>
          </a:p>
          <a:p>
            <a:pPr marL="388620" indent="-269875" defTabSz="388620">
              <a:lnSpc>
                <a:spcPct val="100000"/>
              </a:lnSpc>
              <a:spcBef>
                <a:spcPts val="1000"/>
              </a:spcBef>
              <a:buFont typeface="Times Roman"/>
              <a:defRPr sz="170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t>«Очередь претензий»: новые / в работе / просроченные (SLA-aging).</a:t>
            </a:r>
          </a:p>
          <a:p>
            <a:pPr marL="0" indent="0" defTabSz="388620">
              <a:lnSpc>
                <a:spcPct val="100000"/>
              </a:lnSpc>
              <a:spcBef>
                <a:spcPts val="1000"/>
              </a:spcBef>
              <a:buSzTx/>
              <a:buNone/>
              <a:defRPr sz="1700">
                <a:latin typeface="PP Object Sans Heavy"/>
                <a:ea typeface="PP Object Sans Heavy"/>
                <a:cs typeface="PP Object Sans Heavy"/>
                <a:sym typeface="PP Object Sans Heavy"/>
              </a:defRPr>
            </a:pPr>
            <a:r>
              <a:t>(E) Эксперименты &amp; риски</a:t>
            </a:r>
            <a:endParaRPr>
              <a:latin typeface="PP Object Sans Regular"/>
              <a:ea typeface="PP Object Sans Regular"/>
              <a:cs typeface="PP Object Sans Regular"/>
              <a:sym typeface="PP Object Sans Regular"/>
            </a:endParaRPr>
          </a:p>
          <a:p>
            <a:pPr marL="388620" indent="-269875" defTabSz="388620">
              <a:lnSpc>
                <a:spcPct val="100000"/>
              </a:lnSpc>
              <a:spcBef>
                <a:spcPts val="1000"/>
              </a:spcBef>
              <a:buFont typeface="Times Roman"/>
              <a:defRPr sz="170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t>Список активных A/B: гипотеза,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Primary/MDE</a:t>
            </a:r>
            <a:r>
              <a:t>, D-date, статус (go/hold/kill).</a:t>
            </a:r>
          </a:p>
          <a:p>
            <a:pPr marL="388620" indent="-269875" defTabSz="388620">
              <a:lnSpc>
                <a:spcPct val="100000"/>
              </a:lnSpc>
              <a:spcBef>
                <a:spcPts val="1000"/>
              </a:spcBef>
              <a:buFont typeface="Times Roman"/>
              <a:defRPr sz="170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Circuit breakers:</a:t>
            </a:r>
            <a:r>
              <a:t> CM2&lt;0 (канал/регион), On-time&lt;Y%, SRM≠0, Crash-free↓ — с авто-экшенами.</a:t>
            </a:r>
          </a:p>
          <a:p>
            <a:pPr marL="388620" indent="-269875" defTabSz="388620">
              <a:lnSpc>
                <a:spcPct val="100000"/>
              </a:lnSpc>
              <a:spcBef>
                <a:spcPts val="1000"/>
              </a:spcBef>
              <a:buFont typeface="Times Roman"/>
              <a:defRPr sz="170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Data health:</a:t>
            </a:r>
            <a:r>
              <a:t> лаг событий, % пропусков, консистентность user_id/flow_id/order_id.</a:t>
            </a:r>
          </a:p>
        </p:txBody>
      </p:sp>
      <p:sp>
        <p:nvSpPr>
          <p:cNvPr id="241" name="10.2. Сегменты для drill-down (1 клик)…"/>
          <p:cNvSpPr txBox="1"/>
          <p:nvPr/>
        </p:nvSpPr>
        <p:spPr>
          <a:xfrm>
            <a:off x="13150377" y="2838656"/>
            <a:ext cx="10770838" cy="110757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 defTabSz="411479">
              <a:lnSpc>
                <a:spcPct val="100000"/>
              </a:lnSpc>
              <a:spcBef>
                <a:spcPts val="1300"/>
              </a:spcBef>
              <a:defRPr sz="1800">
                <a:latin typeface="PP Object Sans Heavy"/>
                <a:ea typeface="PP Object Sans Heavy"/>
                <a:cs typeface="PP Object Sans Heavy"/>
                <a:sym typeface="PP Object Sans Heavy"/>
              </a:defRPr>
            </a:pPr>
            <a:r>
              <a:t>10.2. Сегменты для drill-down (1 клик)</a:t>
            </a:r>
          </a:p>
          <a:p>
            <a:pPr defTabSz="411479">
              <a:lnSpc>
                <a:spcPct val="100000"/>
              </a:lnSpc>
              <a:spcBef>
                <a:spcPts val="1000"/>
              </a:spcBef>
              <a:defRPr sz="180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t>Новичок/повтор · Delivery/C&amp;C · Регион/кластер · Категория ·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Mixed vs Non-mixed</a:t>
            </a:r>
            <a:r>
              <a:t> · Устройство (iOS/Android/low-end).</a:t>
            </a:r>
          </a:p>
          <a:p>
            <a:pPr defTabSz="411479">
              <a:lnSpc>
                <a:spcPct val="100000"/>
              </a:lnSpc>
              <a:spcBef>
                <a:spcPts val="0"/>
              </a:spcBef>
              <a:defRPr sz="1800">
                <a:solidFill>
                  <a:srgbClr val="808080"/>
                </a:solidFill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</a:p>
          <a:p>
            <a:pPr defTabSz="411479">
              <a:lnSpc>
                <a:spcPct val="100000"/>
              </a:lnSpc>
              <a:spcBef>
                <a:spcPts val="1300"/>
              </a:spcBef>
              <a:defRPr sz="1800">
                <a:latin typeface="PP Object Sans Heavy"/>
                <a:ea typeface="PP Object Sans Heavy"/>
                <a:cs typeface="PP Object Sans Heavy"/>
                <a:sym typeface="PP Object Sans Heavy"/>
              </a:defRPr>
            </a:pPr>
            <a:r>
              <a:t>10.3. Пороговые значения (цветовая логика)</a:t>
            </a:r>
          </a:p>
          <a:p>
            <a:pPr marL="411479" indent="-285750" defTabSz="411479">
              <a:lnSpc>
                <a:spcPct val="100000"/>
              </a:lnSpc>
              <a:spcBef>
                <a:spcPts val="1000"/>
              </a:spcBef>
              <a:buSzPct val="123000"/>
              <a:buFont typeface="Times Roman"/>
              <a:buChar char="•"/>
              <a:defRPr sz="180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MBC</a:t>
            </a:r>
            <a:r>
              <a:t>: зелёный ≥ цели фазы; жёлтый в коридоре [цель−Δ, цель); красный &lt; цель−Δ.</a:t>
            </a:r>
          </a:p>
          <a:p>
            <a:pPr marL="411479" indent="-285750" defTabSz="411479">
              <a:lnSpc>
                <a:spcPct val="100000"/>
              </a:lnSpc>
              <a:spcBef>
                <a:spcPts val="1000"/>
              </a:spcBef>
              <a:buSzPct val="123000"/>
              <a:buFont typeface="Times Roman"/>
              <a:buChar char="•"/>
              <a:defRPr sz="180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CM2/order (Delivery, C&amp;C):</a:t>
            </a:r>
            <a:r>
              <a:t> красный при &lt;0 (включает авто-правило).</a:t>
            </a:r>
          </a:p>
          <a:p>
            <a:pPr marL="411479" indent="-285750" defTabSz="411479">
              <a:lnSpc>
                <a:spcPct val="100000"/>
              </a:lnSpc>
              <a:spcBef>
                <a:spcPts val="1000"/>
              </a:spcBef>
              <a:buSzPct val="123000"/>
              <a:buFont typeface="Times Roman"/>
              <a:buChar char="•"/>
              <a:defRPr sz="180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Share negative UCM:</a:t>
            </a:r>
            <a:r>
              <a:t> красный при &gt; Sₙ% в любой категории.</a:t>
            </a:r>
          </a:p>
          <a:p>
            <a:pPr marL="411479" indent="-285750" defTabSz="411479">
              <a:lnSpc>
                <a:spcPct val="100000"/>
              </a:lnSpc>
              <a:spcBef>
                <a:spcPts val="1000"/>
              </a:spcBef>
              <a:buSzPct val="123000"/>
              <a:buFont typeface="Times Roman"/>
              <a:buChar char="•"/>
              <a:defRPr sz="180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On-time:</a:t>
            </a:r>
            <a:r>
              <a:t> красный при &lt; Y%;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Contact rate</a:t>
            </a:r>
            <a:r>
              <a:t> — красный при &gt; X%.</a:t>
            </a:r>
          </a:p>
          <a:p>
            <a:pPr marL="411479" indent="-285750" defTabSz="411479">
              <a:lnSpc>
                <a:spcPct val="100000"/>
              </a:lnSpc>
              <a:spcBef>
                <a:spcPts val="1000"/>
              </a:spcBef>
              <a:buSzPct val="123000"/>
              <a:buFont typeface="Times Roman"/>
              <a:buChar char="•"/>
              <a:defRPr sz="180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SRM/Crash-free:</a:t>
            </a:r>
            <a:r>
              <a:t> любой красный — авто-rollback варианта.</a:t>
            </a:r>
          </a:p>
          <a:p>
            <a:pPr defTabSz="411479">
              <a:lnSpc>
                <a:spcPct val="100000"/>
              </a:lnSpc>
              <a:spcBef>
                <a:spcPts val="0"/>
              </a:spcBef>
              <a:defRPr sz="1800">
                <a:solidFill>
                  <a:srgbClr val="808080"/>
                </a:solidFill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</a:p>
          <a:p>
            <a:pPr defTabSz="411479">
              <a:lnSpc>
                <a:spcPct val="100000"/>
              </a:lnSpc>
              <a:spcBef>
                <a:spcPts val="1300"/>
              </a:spcBef>
              <a:defRPr sz="1800">
                <a:latin typeface="PP Object Sans Heavy"/>
                <a:ea typeface="PP Object Sans Heavy"/>
                <a:cs typeface="PP Object Sans Heavy"/>
                <a:sym typeface="PP Object Sans Heavy"/>
              </a:defRPr>
            </a:pPr>
            <a:r>
              <a:t>10.4. Примеры «если-то» (авто-правила на дашборде)</a:t>
            </a:r>
          </a:p>
          <a:p>
            <a:pPr marL="411479" indent="-285750" defTabSz="411479">
              <a:lnSpc>
                <a:spcPct val="100000"/>
              </a:lnSpc>
              <a:spcBef>
                <a:spcPts val="1000"/>
              </a:spcBef>
              <a:buSzPct val="123000"/>
              <a:buFont typeface="Times Roman"/>
              <a:buChar char="•"/>
              <a:defRPr sz="180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Если</a:t>
            </a:r>
            <a:r>
              <a:t> CM2/order(Delivery, Регион R) &lt; 0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то</a:t>
            </a:r>
            <a:r>
              <a:t> поднять AOV* на +Δ, сузить слоты, капнуть инсентивы; показать «Перейти в C&amp;C» на checkout.</a:t>
            </a:r>
          </a:p>
          <a:p>
            <a:pPr marL="411479" indent="-285750" defTabSz="411479">
              <a:lnSpc>
                <a:spcPct val="100000"/>
              </a:lnSpc>
              <a:spcBef>
                <a:spcPts val="1000"/>
              </a:spcBef>
              <a:buSzPct val="123000"/>
              <a:buFont typeface="Times Roman"/>
              <a:buChar char="•"/>
              <a:defRPr sz="180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Если</a:t>
            </a:r>
            <a:r>
              <a:t> Drop@Mixed-Cart ↑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то</a:t>
            </a:r>
            <a:r>
              <a:t> принудительно включить «Мост», усилить копирайт fee/ETA.</a:t>
            </a:r>
          </a:p>
          <a:p>
            <a:pPr marL="411479" indent="-285750" defTabSz="411479">
              <a:lnSpc>
                <a:spcPct val="100000"/>
              </a:lnSpc>
              <a:spcBef>
                <a:spcPts val="1000"/>
              </a:spcBef>
              <a:buSzPct val="123000"/>
              <a:buFont typeface="Times Roman"/>
              <a:buChar char="•"/>
              <a:defRPr sz="180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Если</a:t>
            </a:r>
            <a:r>
              <a:t> On-time&lt;Y%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то</a:t>
            </a:r>
            <a:r>
              <a:t> авто-throttle слотов + честный ETA-апдейт всем активным заказам.</a:t>
            </a:r>
          </a:p>
          <a:p>
            <a:pPr marL="411479" indent="-285750" defTabSz="411479">
              <a:lnSpc>
                <a:spcPct val="100000"/>
              </a:lnSpc>
              <a:spcBef>
                <a:spcPts val="1000"/>
              </a:spcBef>
              <a:buSzPct val="123000"/>
              <a:buFont typeface="Times Roman"/>
              <a:buChar char="•"/>
              <a:defRPr sz="180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Если</a:t>
            </a:r>
            <a:r>
              <a:t> SRM≠0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то</a:t>
            </a:r>
            <a:r>
              <a:t> остановка теста, re-seed, алерт Data/Platform.</a:t>
            </a:r>
          </a:p>
          <a:p>
            <a:pPr defTabSz="411479">
              <a:lnSpc>
                <a:spcPct val="100000"/>
              </a:lnSpc>
              <a:spcBef>
                <a:spcPts val="0"/>
              </a:spcBef>
              <a:defRPr sz="1800">
                <a:solidFill>
                  <a:srgbClr val="808080"/>
                </a:solidFill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</a:p>
          <a:p>
            <a:pPr defTabSz="411479">
              <a:lnSpc>
                <a:spcPct val="100000"/>
              </a:lnSpc>
              <a:spcBef>
                <a:spcPts val="1300"/>
              </a:spcBef>
              <a:defRPr sz="1800">
                <a:latin typeface="PP Object Sans Heavy"/>
                <a:ea typeface="PP Object Sans Heavy"/>
                <a:cs typeface="PP Object Sans Heavy"/>
                <a:sym typeface="PP Object Sans Heavy"/>
              </a:defRPr>
            </a:pPr>
            <a:r>
              <a:t>10.5. Ритм и владение</a:t>
            </a:r>
          </a:p>
          <a:p>
            <a:pPr marL="411479" indent="-285750" defTabSz="411479">
              <a:lnSpc>
                <a:spcPct val="100000"/>
              </a:lnSpc>
              <a:spcBef>
                <a:spcPts val="1000"/>
              </a:spcBef>
              <a:buSzPct val="123000"/>
              <a:buFont typeface="Times Roman"/>
              <a:buChar char="•"/>
              <a:defRPr sz="180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Обновление:</a:t>
            </a:r>
            <a:r>
              <a:t> realtime для событий, агрегаты — каждый час; срез 1/7/28 — ежедневно к 09:00.</a:t>
            </a:r>
          </a:p>
          <a:p>
            <a:pPr marL="411479" indent="-285750" defTabSz="411479">
              <a:lnSpc>
                <a:spcPct val="100000"/>
              </a:lnSpc>
              <a:spcBef>
                <a:spcPts val="1000"/>
              </a:spcBef>
              <a:buSzPct val="123000"/>
              <a:buFont typeface="Times Roman"/>
              <a:buChar char="•"/>
              <a:defRPr sz="180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Владельцы блоков:</a:t>
            </a:r>
            <a:r>
              <a:t> (A) CPO, (B) Platform/Browse/Checkout/Promise, (C) Finance Ops, (D) CX/Promise, (E) Data/ML.</a:t>
            </a:r>
          </a:p>
          <a:p>
            <a:pPr marL="411479" indent="-285750" defTabSz="411479">
              <a:lnSpc>
                <a:spcPct val="100000"/>
              </a:lnSpc>
              <a:spcBef>
                <a:spcPts val="1000"/>
              </a:spcBef>
              <a:buSzPct val="123000"/>
              <a:buFont typeface="Times Roman"/>
              <a:buChar char="•"/>
              <a:defRPr sz="180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Еженедельный Growth Review:</a:t>
            </a:r>
            <a:r>
              <a:t> решение по тестам и раскатке; фиксация влияния на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MBC</a:t>
            </a:r>
            <a:r>
              <a:t> и guardrails.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Риски, зависимости, Plan B (decision-grade)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457200">
              <a:lnSpc>
                <a:spcPct val="100000"/>
              </a:lnSpc>
              <a:spcBef>
                <a:spcPts val="1600"/>
              </a:spcBef>
              <a:defRPr b="0" spc="0" sz="6500">
                <a:latin typeface="PP Object Sans Heavy"/>
                <a:ea typeface="PP Object Sans Heavy"/>
                <a:cs typeface="PP Object Sans Heavy"/>
                <a:sym typeface="PP Object Sans Heavy"/>
              </a:defRPr>
            </a:lvl1pPr>
          </a:lstStyle>
          <a:p>
            <a:pPr/>
            <a:r>
              <a:t>Риски, зависимости, Plan B (decision-grade)</a:t>
            </a:r>
          </a:p>
        </p:txBody>
      </p:sp>
      <p:sp>
        <p:nvSpPr>
          <p:cNvPr id="244" name="Цель: заранее зафиксировать, что именно может сломаться в H1–H3, как это заметить (триггеры/метрики) и что делаем дальше (авточеки, откаты, коммуникация).…"/>
          <p:cNvSpPr txBox="1"/>
          <p:nvPr>
            <p:ph type="body" sz="half" idx="1"/>
          </p:nvPr>
        </p:nvSpPr>
        <p:spPr>
          <a:xfrm>
            <a:off x="1367692" y="2625640"/>
            <a:ext cx="10770838" cy="10821823"/>
          </a:xfrm>
          <a:prstGeom prst="rect">
            <a:avLst/>
          </a:prstGeom>
        </p:spPr>
        <p:txBody>
          <a:bodyPr/>
          <a:lstStyle/>
          <a:p>
            <a:pPr marL="0" indent="0" defTabSz="438911">
              <a:lnSpc>
                <a:spcPct val="100000"/>
              </a:lnSpc>
              <a:spcBef>
                <a:spcPts val="1100"/>
              </a:spcBef>
              <a:buSzTx/>
              <a:buNone/>
              <a:defRPr sz="768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Цель:</a:t>
            </a:r>
            <a:r>
              <a:t> заранее зафиксировать, </a:t>
            </a:r>
            <a:r>
              <a:rPr i="1"/>
              <a:t>что именно</a:t>
            </a:r>
            <a:r>
              <a:t> может сломаться в H1–H3, </a:t>
            </a:r>
            <a:r>
              <a:rPr i="1"/>
              <a:t>как это заметить</a:t>
            </a:r>
            <a:r>
              <a:t> (триггеры/метрики) и </a:t>
            </a:r>
            <a:r>
              <a:rPr i="1"/>
              <a:t>что делаем дальше</a:t>
            </a:r>
            <a:r>
              <a:t> (авточеки, откаты, коммуникация).</a:t>
            </a:r>
          </a:p>
          <a:p>
            <a:pPr marL="0" indent="0" defTabSz="438911">
              <a:lnSpc>
                <a:spcPct val="100000"/>
              </a:lnSpc>
              <a:spcBef>
                <a:spcPts val="0"/>
              </a:spcBef>
              <a:buSzTx/>
              <a:buNone/>
              <a:defRPr sz="768">
                <a:solidFill>
                  <a:srgbClr val="808080"/>
                </a:solidFill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</a:p>
          <a:p>
            <a:pPr marL="0" indent="0" defTabSz="438911">
              <a:lnSpc>
                <a:spcPct val="100000"/>
              </a:lnSpc>
              <a:spcBef>
                <a:spcPts val="1400"/>
              </a:spcBef>
              <a:buSzTx/>
              <a:buNone/>
              <a:defRPr sz="768">
                <a:latin typeface="PP Object Sans Heavy"/>
                <a:ea typeface="PP Object Sans Heavy"/>
                <a:cs typeface="PP Object Sans Heavy"/>
                <a:sym typeface="PP Object Sans Heavy"/>
              </a:defRPr>
            </a:pPr>
            <a:r>
              <a:t>11.1. Ключевые риски (по доменам) — триггер → эффект → владелец</a:t>
            </a:r>
          </a:p>
          <a:p>
            <a:pPr marL="0" indent="0" defTabSz="438911">
              <a:lnSpc>
                <a:spcPct val="100000"/>
              </a:lnSpc>
              <a:spcBef>
                <a:spcPts val="1100"/>
              </a:spcBef>
              <a:buSzTx/>
              <a:buNone/>
              <a:defRPr sz="768">
                <a:latin typeface="PP Object Sans Heavy"/>
                <a:ea typeface="PP Object Sans Heavy"/>
                <a:cs typeface="PP Object Sans Heavy"/>
                <a:sym typeface="PP Object Sans Heavy"/>
              </a:defRPr>
            </a:pPr>
            <a:r>
              <a:t>A. Product/UX (навигация, «мост», PLP-“+”)</a:t>
            </a:r>
            <a:endParaRPr>
              <a:latin typeface="PP Object Sans Regular"/>
              <a:ea typeface="PP Object Sans Regular"/>
              <a:cs typeface="PP Object Sans Regular"/>
              <a:sym typeface="PP Object Sans Regular"/>
            </a:endParaRPr>
          </a:p>
          <a:p>
            <a:pPr marL="438911" indent="-304800" defTabSz="438911">
              <a:lnSpc>
                <a:spcPct val="100000"/>
              </a:lnSpc>
              <a:spcBef>
                <a:spcPts val="1100"/>
              </a:spcBef>
              <a:buFont typeface="Times Roman"/>
              <a:defRPr sz="768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 i="1"/>
              <a:t>Триггер:</a:t>
            </a:r>
            <a:r>
              <a:t> Views растут,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CTR не растёт</a:t>
            </a:r>
            <a:r>
              <a:t> ≥ 0.2 п.п. от базы, Mixed-cart rate ↑.</a:t>
            </a:r>
            <a:br/>
            <a:r>
              <a:rPr i="1"/>
              <a:t>Эффект:</a:t>
            </a:r>
            <a:r>
              <a:t> перегруз главной/путаница пути → MBC не растёт.</a:t>
            </a:r>
            <a:br/>
            <a:r>
              <a:rPr i="1"/>
              <a:t>Владелец:</a:t>
            </a:r>
            <a:r>
              <a:t> Platform &amp; CX.</a:t>
            </a:r>
          </a:p>
          <a:p>
            <a:pPr marL="438911" indent="-304800" defTabSz="438911">
              <a:lnSpc>
                <a:spcPct val="100000"/>
              </a:lnSpc>
              <a:spcBef>
                <a:spcPts val="1100"/>
              </a:spcBef>
              <a:buFont typeface="Times Roman"/>
              <a:defRPr sz="768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 i="1"/>
              <a:t>Триггер:</a:t>
            </a:r>
            <a:r>
              <a:t>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Undo/Edit-rate</a:t>
            </a:r>
            <a:r>
              <a:t> на quick-add &gt; порога U% или ATC latency не снижается.</a:t>
            </a:r>
            <a:br/>
            <a:r>
              <a:rPr i="1"/>
              <a:t>Эффект:</a:t>
            </a:r>
            <a:r>
              <a:t> шумные добавления → нет прироста ATC/AOV.</a:t>
            </a:r>
            <a:br/>
            <a:r>
              <a:rPr i="1"/>
              <a:t>Владелец:</a:t>
            </a:r>
            <a:r>
              <a:t> Browse &amp; Merch.</a:t>
            </a:r>
          </a:p>
          <a:p>
            <a:pPr marL="0" indent="0" defTabSz="438911">
              <a:lnSpc>
                <a:spcPct val="100000"/>
              </a:lnSpc>
              <a:spcBef>
                <a:spcPts val="1100"/>
              </a:spcBef>
              <a:buSzTx/>
              <a:buNone/>
              <a:defRPr sz="768">
                <a:latin typeface="PP Object Sans Heavy"/>
                <a:ea typeface="PP Object Sans Heavy"/>
                <a:cs typeface="PP Object Sans Heavy"/>
                <a:sym typeface="PP Object Sans Heavy"/>
              </a:defRPr>
            </a:pPr>
            <a:r>
              <a:t>B. Data/Experimentation</a:t>
            </a:r>
            <a:endParaRPr>
              <a:latin typeface="PP Object Sans Regular"/>
              <a:ea typeface="PP Object Sans Regular"/>
              <a:cs typeface="PP Object Sans Regular"/>
              <a:sym typeface="PP Object Sans Regular"/>
            </a:endParaRPr>
          </a:p>
          <a:p>
            <a:pPr marL="438911" indent="-304800" defTabSz="438911">
              <a:lnSpc>
                <a:spcPct val="100000"/>
              </a:lnSpc>
              <a:spcBef>
                <a:spcPts val="1100"/>
              </a:spcBef>
              <a:buFont typeface="Times Roman"/>
              <a:defRPr sz="768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 i="1"/>
              <a:t>Триггер:</a:t>
            </a:r>
            <a:r>
              <a:t>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SRM ≠ 0</a:t>
            </a:r>
            <a:r>
              <a:t>; лаг событий &gt; 5 мин; mismatch user_id/flow_id/order_id.</a:t>
            </a:r>
            <a:br/>
            <a:r>
              <a:rPr i="1"/>
              <a:t>Эффект:</a:t>
            </a:r>
            <a:r>
              <a:t> результаты теста недоверяльны → риск неверных решений.</a:t>
            </a:r>
            <a:br/>
            <a:r>
              <a:rPr i="1"/>
              <a:t>Владелец:</a:t>
            </a:r>
            <a:r>
              <a:t> Data &amp; ML + Platform.</a:t>
            </a:r>
          </a:p>
          <a:p>
            <a:pPr marL="0" indent="0" defTabSz="438911">
              <a:lnSpc>
                <a:spcPct val="100000"/>
              </a:lnSpc>
              <a:spcBef>
                <a:spcPts val="1100"/>
              </a:spcBef>
              <a:buSzTx/>
              <a:buNone/>
              <a:defRPr sz="768">
                <a:latin typeface="PP Object Sans Heavy"/>
                <a:ea typeface="PP Object Sans Heavy"/>
                <a:cs typeface="PP Object Sans Heavy"/>
                <a:sym typeface="PP Object Sans Heavy"/>
              </a:defRPr>
            </a:pPr>
            <a:r>
              <a:t>C. Logistics/Promise (Fulfillment)</a:t>
            </a:r>
            <a:endParaRPr>
              <a:latin typeface="PP Object Sans Regular"/>
              <a:ea typeface="PP Object Sans Regular"/>
              <a:cs typeface="PP Object Sans Regular"/>
              <a:sym typeface="PP Object Sans Regular"/>
            </a:endParaRPr>
          </a:p>
          <a:p>
            <a:pPr marL="438911" indent="-304800" defTabSz="438911">
              <a:lnSpc>
                <a:spcPct val="100000"/>
              </a:lnSpc>
              <a:spcBef>
                <a:spcPts val="1100"/>
              </a:spcBef>
              <a:buFont typeface="Times Roman"/>
              <a:defRPr sz="768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 i="1"/>
              <a:t>Триггер:</a:t>
            </a:r>
            <a:r>
              <a:t>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On-time &lt; Y%</a:t>
            </a:r>
            <a:r>
              <a:t> 2 дня подряд или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Delivered-success −2–3 п.п.</a:t>
            </a:r>
            <a:br/>
            <a:r>
              <a:rPr i="1"/>
              <a:t>Эффект:</a:t>
            </a:r>
            <a:r>
              <a:t> MDC отстаёт от MBC → падение Repeat/NPS.</a:t>
            </a:r>
            <a:br/>
            <a:r>
              <a:rPr i="1"/>
              <a:t>Владелец:</a:t>
            </a:r>
            <a:r>
              <a:t> Logistics &amp; Promise.</a:t>
            </a:r>
          </a:p>
          <a:p>
            <a:pPr marL="0" indent="0" defTabSz="438911">
              <a:lnSpc>
                <a:spcPct val="100000"/>
              </a:lnSpc>
              <a:spcBef>
                <a:spcPts val="1100"/>
              </a:spcBef>
              <a:buSzTx/>
              <a:buNone/>
              <a:defRPr sz="768">
                <a:latin typeface="PP Object Sans Heavy"/>
                <a:ea typeface="PP Object Sans Heavy"/>
                <a:cs typeface="PP Object Sans Heavy"/>
                <a:sym typeface="PP Object Sans Heavy"/>
              </a:defRPr>
            </a:pPr>
            <a:r>
              <a:t>D. Finance/P&amp;L</a:t>
            </a:r>
            <a:endParaRPr>
              <a:latin typeface="PP Object Sans Regular"/>
              <a:ea typeface="PP Object Sans Regular"/>
              <a:cs typeface="PP Object Sans Regular"/>
              <a:sym typeface="PP Object Sans Regular"/>
            </a:endParaRPr>
          </a:p>
          <a:p>
            <a:pPr marL="438911" indent="-304800" defTabSz="438911">
              <a:lnSpc>
                <a:spcPct val="100000"/>
              </a:lnSpc>
              <a:spcBef>
                <a:spcPts val="1100"/>
              </a:spcBef>
              <a:buFont typeface="Times Roman"/>
              <a:defRPr sz="768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 i="1"/>
              <a:t>Триггер:</a:t>
            </a:r>
            <a:r>
              <a:t>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CM2/order &lt; 0</a:t>
            </a:r>
            <a:r>
              <a:t> (Delivery или C&amp;C) по региону/категории;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Share negative UCM &gt; Sₙ%</a:t>
            </a:r>
            <a:r>
              <a:t>.</a:t>
            </a:r>
            <a:br/>
            <a:r>
              <a:rPr i="1"/>
              <a:t>Эффект:</a:t>
            </a:r>
            <a:r>
              <a:t> рост трат при росте MBC → подрыв P&amp;L.</a:t>
            </a:r>
            <a:br/>
            <a:r>
              <a:rPr i="1"/>
              <a:t>Владелец:</a:t>
            </a:r>
            <a:r>
              <a:t> Finance Ops + Checkout/Promise.</a:t>
            </a:r>
          </a:p>
          <a:p>
            <a:pPr marL="0" indent="0" defTabSz="438911">
              <a:lnSpc>
                <a:spcPct val="100000"/>
              </a:lnSpc>
              <a:spcBef>
                <a:spcPts val="1100"/>
              </a:spcBef>
              <a:buSzTx/>
              <a:buNone/>
              <a:defRPr sz="768">
                <a:latin typeface="PP Object Sans Heavy"/>
                <a:ea typeface="PP Object Sans Heavy"/>
                <a:cs typeface="PP Object Sans Heavy"/>
                <a:sym typeface="PP Object Sans Heavy"/>
              </a:defRPr>
            </a:pPr>
            <a:r>
              <a:t>E. Support/Trust</a:t>
            </a:r>
            <a:endParaRPr>
              <a:latin typeface="PP Object Sans Regular"/>
              <a:ea typeface="PP Object Sans Regular"/>
              <a:cs typeface="PP Object Sans Regular"/>
              <a:sym typeface="PP Object Sans Regular"/>
            </a:endParaRPr>
          </a:p>
          <a:p>
            <a:pPr marL="438911" indent="-304800" defTabSz="438911">
              <a:lnSpc>
                <a:spcPct val="100000"/>
              </a:lnSpc>
              <a:spcBef>
                <a:spcPts val="1100"/>
              </a:spcBef>
              <a:buFont typeface="Times Roman"/>
              <a:defRPr sz="768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 i="1"/>
              <a:t>Триггер:</a:t>
            </a:r>
            <a:r>
              <a:t>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Contact rate +X%</a:t>
            </a:r>
            <a:r>
              <a:t>, spike по «возвраты/недовложения»; NPS/CSAT ↓.</a:t>
            </a:r>
            <a:br/>
            <a:r>
              <a:rPr i="1"/>
              <a:t>Эффект:</a:t>
            </a:r>
            <a:r>
              <a:t> репутационный ущерб, повтор ломается.</a:t>
            </a:r>
            <a:br/>
            <a:r>
              <a:rPr i="1"/>
              <a:t>Владелец:</a:t>
            </a:r>
            <a:r>
              <a:t> CX/Support.</a:t>
            </a:r>
          </a:p>
          <a:p>
            <a:pPr marL="0" indent="0" defTabSz="438911">
              <a:lnSpc>
                <a:spcPct val="100000"/>
              </a:lnSpc>
              <a:spcBef>
                <a:spcPts val="1100"/>
              </a:spcBef>
              <a:buSzTx/>
              <a:buNone/>
              <a:defRPr sz="768">
                <a:latin typeface="PP Object Sans Heavy"/>
                <a:ea typeface="PP Object Sans Heavy"/>
                <a:cs typeface="PP Object Sans Heavy"/>
                <a:sym typeface="PP Object Sans Heavy"/>
              </a:defRPr>
            </a:pPr>
            <a:r>
              <a:t>F. Legal/Compliance</a:t>
            </a:r>
            <a:endParaRPr>
              <a:latin typeface="PP Object Sans Regular"/>
              <a:ea typeface="PP Object Sans Regular"/>
              <a:cs typeface="PP Object Sans Regular"/>
              <a:sym typeface="PP Object Sans Regular"/>
            </a:endParaRPr>
          </a:p>
          <a:p>
            <a:pPr marL="438911" indent="-304800" defTabSz="438911">
              <a:lnSpc>
                <a:spcPct val="100000"/>
              </a:lnSpc>
              <a:spcBef>
                <a:spcPts val="1100"/>
              </a:spcBef>
              <a:buFont typeface="Times Roman"/>
              <a:defRPr sz="768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 i="1"/>
              <a:t>Триггер:</a:t>
            </a:r>
            <a:r>
              <a:t> жалобы на копирайт «стоимость/ETA/возврат»; некорректные статусы претензий.</a:t>
            </a:r>
            <a:br/>
            <a:r>
              <a:rPr i="1"/>
              <a:t>Эффект:</a:t>
            </a:r>
            <a:r>
              <a:t> регуляторные риски/штрафы.</a:t>
            </a:r>
            <a:br/>
            <a:r>
              <a:rPr i="1"/>
              <a:t>Владелец:</a:t>
            </a:r>
            <a:r>
              <a:t> Legal + CX.</a:t>
            </a:r>
          </a:p>
          <a:p>
            <a:pPr marL="0" indent="0" defTabSz="438911">
              <a:lnSpc>
                <a:spcPct val="100000"/>
              </a:lnSpc>
              <a:spcBef>
                <a:spcPts val="0"/>
              </a:spcBef>
              <a:buSzTx/>
              <a:buNone/>
              <a:defRPr sz="768">
                <a:solidFill>
                  <a:srgbClr val="808080"/>
                </a:solidFill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</a:p>
          <a:p>
            <a:pPr marL="0" indent="0" defTabSz="438911">
              <a:lnSpc>
                <a:spcPct val="100000"/>
              </a:lnSpc>
              <a:spcBef>
                <a:spcPts val="1400"/>
              </a:spcBef>
              <a:buSzTx/>
              <a:buNone/>
              <a:defRPr sz="768">
                <a:latin typeface="PP Object Sans Heavy"/>
                <a:ea typeface="PP Object Sans Heavy"/>
                <a:cs typeface="PP Object Sans Heavy"/>
                <a:sym typeface="PP Object Sans Heavy"/>
              </a:defRPr>
            </a:pPr>
            <a:r>
              <a:t>11.2. План B / «авто-правила» (что делаем сразу)</a:t>
            </a:r>
          </a:p>
          <a:p>
            <a:pPr marL="0" indent="0" defTabSz="438911">
              <a:lnSpc>
                <a:spcPct val="100000"/>
              </a:lnSpc>
              <a:spcBef>
                <a:spcPts val="1100"/>
              </a:spcBef>
              <a:buSzTx/>
              <a:buNone/>
              <a:defRPr sz="768">
                <a:latin typeface="PP Object Sans Heavy"/>
                <a:ea typeface="PP Object Sans Heavy"/>
                <a:cs typeface="PP Object Sans Heavy"/>
                <a:sym typeface="PP Object Sans Heavy"/>
              </a:defRPr>
            </a:pPr>
            <a:r>
              <a:t>Навигация/CTR</a:t>
            </a:r>
            <a:endParaRPr>
              <a:latin typeface="PP Object Sans Regular"/>
              <a:ea typeface="PP Object Sans Regular"/>
              <a:cs typeface="PP Object Sans Regular"/>
              <a:sym typeface="PP Object Sans Regular"/>
            </a:endParaRPr>
          </a:p>
          <a:p>
            <a:pPr marL="438911" indent="-304800" defTabSz="438911">
              <a:lnSpc>
                <a:spcPct val="100000"/>
              </a:lnSpc>
              <a:spcBef>
                <a:spcPts val="1100"/>
              </a:spcBef>
              <a:buFont typeface="Times Roman"/>
              <a:defRPr sz="768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t>Если Views↑, а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CTR ≤ MDE</a:t>
            </a:r>
            <a:r>
              <a:t>, тогда: (1) A/B позиции/копира (варианты B1–B3), (2) скрыть второстепенные виджеты (frequency cap), (3) вынести подсказку «чем отличается Маркет/Из магазина».</a:t>
            </a:r>
          </a:p>
          <a:p>
            <a:pPr marL="0" indent="0" defTabSz="438911">
              <a:lnSpc>
                <a:spcPct val="100000"/>
              </a:lnSpc>
              <a:spcBef>
                <a:spcPts val="1100"/>
              </a:spcBef>
              <a:buSzTx/>
              <a:buNone/>
              <a:defRPr sz="768">
                <a:latin typeface="PP Object Sans Heavy"/>
                <a:ea typeface="PP Object Sans Heavy"/>
                <a:cs typeface="PP Object Sans Heavy"/>
                <a:sym typeface="PP Object Sans Heavy"/>
              </a:defRPr>
            </a:pPr>
            <a:r>
              <a:t>Quick-add/ATC</a:t>
            </a:r>
            <a:endParaRPr>
              <a:latin typeface="PP Object Sans Regular"/>
              <a:ea typeface="PP Object Sans Regular"/>
              <a:cs typeface="PP Object Sans Regular"/>
              <a:sym typeface="PP Object Sans Regular"/>
            </a:endParaRPr>
          </a:p>
          <a:p>
            <a:pPr marL="438911" indent="-304800" defTabSz="438911">
              <a:lnSpc>
                <a:spcPct val="100000"/>
              </a:lnSpc>
              <a:spcBef>
                <a:spcPts val="1100"/>
              </a:spcBef>
              <a:buFont typeface="Times Roman"/>
              <a:defRPr sz="768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t>Если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Undo/Edit-rate &gt; U%</a:t>
            </a:r>
            <a:r>
              <a:t>: увеличить задержку тоста, явно показать мини-редактор корзины, отключить quick-add для SKU с высокой долей возвратов.</a:t>
            </a:r>
          </a:p>
          <a:p>
            <a:pPr marL="438911" indent="-304800" defTabSz="438911">
              <a:lnSpc>
                <a:spcPct val="100000"/>
              </a:lnSpc>
              <a:spcBef>
                <a:spcPts val="1100"/>
              </a:spcBef>
              <a:buFont typeface="Times Roman"/>
              <a:defRPr sz="768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t>Если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AOV не растёт</a:t>
            </a:r>
            <a:r>
              <a:t> при росте ATC: включить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автодобор до порога free</a:t>
            </a:r>
            <a:r>
              <a:t>, бандлы миссий.</a:t>
            </a:r>
          </a:p>
          <a:p>
            <a:pPr marL="0" indent="0" defTabSz="438911">
              <a:lnSpc>
                <a:spcPct val="100000"/>
              </a:lnSpc>
              <a:spcBef>
                <a:spcPts val="1100"/>
              </a:spcBef>
              <a:buSzTx/>
              <a:buNone/>
              <a:defRPr sz="768">
                <a:latin typeface="PP Object Sans Heavy"/>
                <a:ea typeface="PP Object Sans Heavy"/>
                <a:cs typeface="PP Object Sans Heavy"/>
                <a:sym typeface="PP Object Sans Heavy"/>
              </a:defRPr>
            </a:pPr>
            <a:r>
              <a:t>Мост (mixed)</a:t>
            </a:r>
            <a:endParaRPr>
              <a:latin typeface="PP Object Sans Regular"/>
              <a:ea typeface="PP Object Sans Regular"/>
              <a:cs typeface="PP Object Sans Regular"/>
              <a:sym typeface="PP Object Sans Regular"/>
            </a:endParaRPr>
          </a:p>
          <a:p>
            <a:pPr marL="438911" indent="-304800" defTabSz="438911">
              <a:lnSpc>
                <a:spcPct val="100000"/>
              </a:lnSpc>
              <a:spcBef>
                <a:spcPts val="1100"/>
              </a:spcBef>
              <a:buFont typeface="Times Roman"/>
              <a:defRPr sz="768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t>Если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Drop@Mixed-Cart ↑</a:t>
            </a:r>
            <a:r>
              <a:t>: усилить copy/fee/ETA, включить «мост» принудительно для high-mix сегментов; кэшировать метод оплаты для второй транзакции.</a:t>
            </a:r>
          </a:p>
          <a:p>
            <a:pPr marL="0" indent="0" defTabSz="438911">
              <a:lnSpc>
                <a:spcPct val="100000"/>
              </a:lnSpc>
              <a:spcBef>
                <a:spcPts val="1100"/>
              </a:spcBef>
              <a:buSzTx/>
              <a:buNone/>
              <a:defRPr sz="768">
                <a:latin typeface="PP Object Sans Heavy"/>
                <a:ea typeface="PP Object Sans Heavy"/>
                <a:cs typeface="PP Object Sans Heavy"/>
                <a:sym typeface="PP Object Sans Heavy"/>
              </a:defRPr>
            </a:pPr>
            <a:r>
              <a:t>Fulfillment</a:t>
            </a:r>
            <a:endParaRPr>
              <a:latin typeface="PP Object Sans Regular"/>
              <a:ea typeface="PP Object Sans Regular"/>
              <a:cs typeface="PP Object Sans Regular"/>
              <a:sym typeface="PP Object Sans Regular"/>
            </a:endParaRPr>
          </a:p>
          <a:p>
            <a:pPr marL="438911" indent="-304800" defTabSz="438911">
              <a:lnSpc>
                <a:spcPct val="100000"/>
              </a:lnSpc>
              <a:spcBef>
                <a:spcPts val="1100"/>
              </a:spcBef>
              <a:buFont typeface="Times Roman"/>
              <a:defRPr sz="768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t>Если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On-time &lt; Y%</a:t>
            </a:r>
            <a:r>
              <a:t>: на 24 ч сузить слоты (capacity throttle), поднять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AOV*</a:t>
            </a:r>
            <a:r>
              <a:t> free, отдать честный ETA-апдейт активным заказам; приоритизировать сборку «скоропорт/детское».</a:t>
            </a:r>
          </a:p>
          <a:p>
            <a:pPr marL="0" indent="0" defTabSz="438911">
              <a:lnSpc>
                <a:spcPct val="100000"/>
              </a:lnSpc>
              <a:spcBef>
                <a:spcPts val="1100"/>
              </a:spcBef>
              <a:buSzTx/>
              <a:buNone/>
              <a:defRPr sz="768">
                <a:latin typeface="PP Object Sans Heavy"/>
                <a:ea typeface="PP Object Sans Heavy"/>
                <a:cs typeface="PP Object Sans Heavy"/>
                <a:sym typeface="PP Object Sans Heavy"/>
              </a:defRPr>
            </a:pPr>
            <a:r>
              <a:t>P&amp;L</a:t>
            </a:r>
            <a:endParaRPr>
              <a:latin typeface="PP Object Sans Regular"/>
              <a:ea typeface="PP Object Sans Regular"/>
              <a:cs typeface="PP Object Sans Regular"/>
              <a:sym typeface="PP Object Sans Regular"/>
            </a:endParaRPr>
          </a:p>
          <a:p>
            <a:pPr marL="438911" indent="-304800" defTabSz="438911">
              <a:lnSpc>
                <a:spcPct val="100000"/>
              </a:lnSpc>
              <a:spcBef>
                <a:spcPts val="1100"/>
              </a:spcBef>
              <a:buFont typeface="Times Roman"/>
              <a:defRPr sz="768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t>Если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CM2/order &lt; 0</a:t>
            </a:r>
            <a:r>
              <a:t>: авто-кэп инсентивов, поднять порог free (+Δ), скрыть «минусовые SKU» из Delivery → пушить C&amp;C; перерасчёт fee в checkout.</a:t>
            </a:r>
          </a:p>
          <a:p>
            <a:pPr marL="438911" indent="-304800" defTabSz="438911">
              <a:lnSpc>
                <a:spcPct val="100000"/>
              </a:lnSpc>
              <a:spcBef>
                <a:spcPts val="1100"/>
              </a:spcBef>
              <a:buFont typeface="Times Roman"/>
              <a:defRPr sz="768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t>Если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Share negative UCM &gt; Sₙ%</a:t>
            </a:r>
            <a:r>
              <a:t>: выключить SKU-промо, бандлить с «плюсовыми», опустить выдачу в рекомендациях.</a:t>
            </a:r>
          </a:p>
          <a:p>
            <a:pPr marL="0" indent="0" defTabSz="438911">
              <a:lnSpc>
                <a:spcPct val="100000"/>
              </a:lnSpc>
              <a:spcBef>
                <a:spcPts val="1100"/>
              </a:spcBef>
              <a:buSzTx/>
              <a:buNone/>
              <a:defRPr sz="768">
                <a:latin typeface="PP Object Sans Heavy"/>
                <a:ea typeface="PP Object Sans Heavy"/>
                <a:cs typeface="PP Object Sans Heavy"/>
                <a:sym typeface="PP Object Sans Heavy"/>
              </a:defRPr>
            </a:pPr>
            <a:r>
              <a:t>Support/Trust</a:t>
            </a:r>
            <a:endParaRPr>
              <a:latin typeface="PP Object Sans Regular"/>
              <a:ea typeface="PP Object Sans Regular"/>
              <a:cs typeface="PP Object Sans Regular"/>
              <a:sym typeface="PP Object Sans Regular"/>
            </a:endParaRPr>
          </a:p>
          <a:p>
            <a:pPr marL="438911" indent="-304800" defTabSz="438911">
              <a:lnSpc>
                <a:spcPct val="100000"/>
              </a:lnSpc>
              <a:spcBef>
                <a:spcPts val="1100"/>
              </a:spcBef>
              <a:buFont typeface="Times Roman"/>
              <a:defRPr sz="768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t>Если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Contact rate ↑</a:t>
            </a:r>
            <a:r>
              <a:t> по «недовложению/задержке»: авто-категоризация тикета, SLA эскалации, проактивный пуш с ETA/компенсацией в пределах cap.</a:t>
            </a:r>
          </a:p>
        </p:txBody>
      </p:sp>
      <p:sp>
        <p:nvSpPr>
          <p:cNvPr id="245" name="11.3. Зависимости (что должно быть готово до H1)…"/>
          <p:cNvSpPr txBox="1"/>
          <p:nvPr/>
        </p:nvSpPr>
        <p:spPr>
          <a:xfrm>
            <a:off x="13150377" y="2838656"/>
            <a:ext cx="10770838" cy="110757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 defTabSz="457200">
              <a:lnSpc>
                <a:spcPct val="100000"/>
              </a:lnSpc>
              <a:spcBef>
                <a:spcPts val="1400"/>
              </a:spcBef>
              <a:defRPr sz="1400">
                <a:latin typeface="PP Object Sans Heavy"/>
                <a:ea typeface="PP Object Sans Heavy"/>
                <a:cs typeface="PP Object Sans Heavy"/>
                <a:sym typeface="PP Object Sans Heavy"/>
              </a:defRPr>
            </a:pPr>
            <a:r>
              <a:t>11.3. Зависимости (что должно быть готово до H1)</a:t>
            </a:r>
          </a:p>
          <a:p>
            <a:pPr marL="483658" indent="-343958" defTabSz="457200">
              <a:lnSpc>
                <a:spcPct val="100000"/>
              </a:lnSpc>
              <a:spcBef>
                <a:spcPts val="1200"/>
              </a:spcBef>
              <a:buSzPct val="100000"/>
              <a:buFont typeface="Times Roman"/>
              <a:buAutoNum type="arabicPeriod" startAt="1"/>
              <a:defRPr sz="140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События и даталейер:</a:t>
            </a:r>
            <a:r>
              <a:t> view/click_shop_entry, source_badge_shown, plp_quick_add/variant_select, cart_mixed_flag, cta_split_checkout_click, order_status(ETA), claim_one_click(type), contact_reason.</a:t>
            </a:r>
          </a:p>
          <a:p>
            <a:pPr marL="457200" indent="-317500" defTabSz="457200">
              <a:lnSpc>
                <a:spcPct val="100000"/>
              </a:lnSpc>
              <a:spcBef>
                <a:spcPts val="1200"/>
              </a:spcBef>
              <a:buSzPct val="100000"/>
              <a:buFont typeface="Times Roman"/>
              <a:buAutoNum type="arabicPeriod" startAt="1"/>
              <a:defRPr sz="140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A/B-платформа:</a:t>
            </a:r>
            <a:r>
              <a:t> SRM-алерты, CUPED, сегментация (новичок/повтор; Delivery/C&amp;C; FMCG/GM).</a:t>
            </a:r>
          </a:p>
          <a:p>
            <a:pPr marL="457200" indent="-317500" defTabSz="457200">
              <a:lnSpc>
                <a:spcPct val="100000"/>
              </a:lnSpc>
              <a:spcBef>
                <a:spcPts val="1200"/>
              </a:spcBef>
              <a:buSzPct val="100000"/>
              <a:buFont typeface="Times Roman"/>
              <a:buAutoNum type="arabicPeriod" startAt="1"/>
              <a:defRPr sz="140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OMS/ETA:</a:t>
            </a:r>
            <a:r>
              <a:t> статусы «в сборке/в пути/готово к выдаче», SLA по СЦ.</a:t>
            </a:r>
          </a:p>
          <a:p>
            <a:pPr marL="457200" indent="-317500" defTabSz="457200">
              <a:lnSpc>
                <a:spcPct val="100000"/>
              </a:lnSpc>
              <a:spcBef>
                <a:spcPts val="1200"/>
              </a:spcBef>
              <a:buSzPct val="100000"/>
              <a:buFont typeface="Times Roman"/>
              <a:buAutoNum type="arabicPeriod" startAt="1"/>
              <a:defRPr sz="140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Платежи:</a:t>
            </a:r>
            <a:r>
              <a:t> сохранённые методы (СБП/Мир Pay) на повторы, кэширование между транзакциями.</a:t>
            </a:r>
          </a:p>
          <a:p>
            <a:pPr marL="457200" indent="-317500" defTabSz="457200">
              <a:lnSpc>
                <a:spcPct val="100000"/>
              </a:lnSpc>
              <a:spcBef>
                <a:spcPts val="1200"/>
              </a:spcBef>
              <a:buSzPct val="100000"/>
              <a:buFont typeface="Times Roman"/>
              <a:buAutoNum type="arabicPeriod" startAt="1"/>
              <a:defRPr sz="140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CRM:</a:t>
            </a:r>
            <a:r>
              <a:t> шаблоны пуш/SMS (статусы/ETA/претензии), кассир-промпт, e-чек.</a:t>
            </a:r>
          </a:p>
          <a:p>
            <a:pPr marL="457200" indent="-317500" defTabSz="457200">
              <a:lnSpc>
                <a:spcPct val="100000"/>
              </a:lnSpc>
              <a:spcBef>
                <a:spcPts val="1200"/>
              </a:spcBef>
              <a:buSzPct val="100000"/>
              <a:buFont typeface="Times Roman"/>
              <a:buAutoNum type="arabicPeriod" startAt="1"/>
              <a:defRPr sz="140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P&amp;L-витрины:</a:t>
            </a:r>
            <a:r>
              <a:t> логистика по СЦ/слотам, комиссии, нормы пикинга, ExpReturns.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1400">
                <a:solidFill>
                  <a:srgbClr val="808080"/>
                </a:solidFill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</a:p>
          <a:p>
            <a:pPr defTabSz="457200">
              <a:lnSpc>
                <a:spcPct val="100000"/>
              </a:lnSpc>
              <a:spcBef>
                <a:spcPts val="1400"/>
              </a:spcBef>
              <a:defRPr sz="1400">
                <a:latin typeface="PP Object Sans Heavy"/>
                <a:ea typeface="PP Object Sans Heavy"/>
                <a:cs typeface="PP Object Sans Heavy"/>
                <a:sym typeface="PP Object Sans Heavy"/>
              </a:defRPr>
            </a:pPr>
            <a:r>
              <a:t>11.4. Эскалация и коммуникации</a:t>
            </a:r>
          </a:p>
          <a:p>
            <a:pPr marL="457200" indent="-317500" defTabSz="457200">
              <a:lnSpc>
                <a:spcPct val="100000"/>
              </a:lnSpc>
              <a:spcBef>
                <a:spcPts val="1200"/>
              </a:spcBef>
              <a:buSzPct val="123000"/>
              <a:buFont typeface="Times Roman"/>
              <a:buChar char="•"/>
              <a:defRPr sz="140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«Красная лампа» в дашборде</a:t>
            </a:r>
            <a:r>
              <a:t> → владелец домена инициирует </a:t>
            </a:r>
            <a:r>
              <a:rPr i="1"/>
              <a:t>Stop &amp; Fix</a:t>
            </a:r>
            <a:r>
              <a:t> в течение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2 ч</a:t>
            </a:r>
            <a:r>
              <a:t> (рабочее),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6 ч</a:t>
            </a:r>
            <a:r>
              <a:t> (off-hours).</a:t>
            </a:r>
          </a:p>
          <a:p>
            <a:pPr marL="457200" indent="-317500" defTabSz="457200">
              <a:lnSpc>
                <a:spcPct val="100000"/>
              </a:lnSpc>
              <a:spcBef>
                <a:spcPts val="1200"/>
              </a:spcBef>
              <a:buSzPct val="123000"/>
              <a:buFont typeface="Times Roman"/>
              <a:buChar char="•"/>
              <a:defRPr sz="140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Комм-пакеты для клиентов:</a:t>
            </a:r>
            <a:r>
              <a:t> шаблоны честных сообщений (ETA, причины задержки, пути возврата/компенсации) + самообслуживание «1-клик претензия».</a:t>
            </a:r>
          </a:p>
          <a:p>
            <a:pPr marL="457200" indent="-317500" defTabSz="457200">
              <a:lnSpc>
                <a:spcPct val="100000"/>
              </a:lnSpc>
              <a:spcBef>
                <a:spcPts val="1200"/>
              </a:spcBef>
              <a:buSzPct val="123000"/>
              <a:buFont typeface="Times Roman"/>
              <a:buChar char="•"/>
              <a:defRPr sz="140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Внешняя репутация:</a:t>
            </a:r>
            <a:r>
              <a:t> при спайках — централизованная позиция (CX+PR+Legal), единая справка в саппорт.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1400">
                <a:solidFill>
                  <a:srgbClr val="808080"/>
                </a:solidFill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</a:p>
          <a:p>
            <a:pPr defTabSz="457200">
              <a:lnSpc>
                <a:spcPct val="100000"/>
              </a:lnSpc>
              <a:spcBef>
                <a:spcPts val="1400"/>
              </a:spcBef>
              <a:defRPr sz="1400">
                <a:latin typeface="PP Object Sans Heavy"/>
                <a:ea typeface="PP Object Sans Heavy"/>
                <a:cs typeface="PP Object Sans Heavy"/>
                <a:sym typeface="PP Object Sans Heavy"/>
              </a:defRPr>
            </a:pPr>
            <a:r>
              <a:t>11.5. Go/No-Go чек-лист перед релизом H1</a:t>
            </a:r>
          </a:p>
          <a:p>
            <a:pPr marL="457200" indent="-317500" defTabSz="457200">
              <a:lnSpc>
                <a:spcPct val="100000"/>
              </a:lnSpc>
              <a:spcBef>
                <a:spcPts val="1200"/>
              </a:spcBef>
              <a:buSzPct val="123000"/>
              <a:buFont typeface="Times Roman"/>
              <a:buChar char="•"/>
              <a:defRPr sz="140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t>A/A-прогон 48 ч: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SRM=0</a:t>
            </a:r>
            <a:r>
              <a:t>, лаг событий ≤ 5 мин.</a:t>
            </a:r>
          </a:p>
          <a:p>
            <a:pPr marL="457200" indent="-317500" defTabSz="457200">
              <a:lnSpc>
                <a:spcPct val="100000"/>
              </a:lnSpc>
              <a:spcBef>
                <a:spcPts val="1200"/>
              </a:spcBef>
              <a:buSzPct val="123000"/>
              <a:buFont typeface="Times Roman"/>
              <a:buChar char="•"/>
              <a:defRPr sz="140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t>Все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guardrails</a:t>
            </a:r>
            <a:r>
              <a:t> подключены на дашборде: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CM2/order</a:t>
            </a:r>
            <a:r>
              <a:t>,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On-time/Delivered</a:t>
            </a:r>
            <a:r>
              <a:t>,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Contact rate</a:t>
            </a:r>
            <a:r>
              <a:t>,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Share negative UCM</a:t>
            </a:r>
            <a:r>
              <a:t>,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Crash-free/TTI</a:t>
            </a:r>
            <a:r>
              <a:t>.</a:t>
            </a:r>
          </a:p>
          <a:p>
            <a:pPr marL="457200" indent="-317500" defTabSz="457200">
              <a:lnSpc>
                <a:spcPct val="100000"/>
              </a:lnSpc>
              <a:spcBef>
                <a:spcPts val="1200"/>
              </a:spcBef>
              <a:buSzPct val="123000"/>
              <a:buFont typeface="Times Roman"/>
              <a:buChar char="•"/>
              <a:defRPr sz="140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t>«Circuit breakers» активны и проверены на sandbox.</a:t>
            </a:r>
          </a:p>
          <a:p>
            <a:pPr marL="457200" indent="-317500" defTabSz="457200">
              <a:lnSpc>
                <a:spcPct val="100000"/>
              </a:lnSpc>
              <a:spcBef>
                <a:spcPts val="1200"/>
              </a:spcBef>
              <a:buSzPct val="123000"/>
              <a:buFont typeface="Times Roman"/>
              <a:buChar char="•"/>
              <a:defRPr sz="140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t>Копирайт/Legal для стоимость/ETA/возврата — согласованы.</a:t>
            </a:r>
          </a:p>
          <a:p>
            <a:pPr marL="457200" indent="-317500" defTabSz="457200">
              <a:lnSpc>
                <a:spcPct val="100000"/>
              </a:lnSpc>
              <a:spcBef>
                <a:spcPts val="1200"/>
              </a:spcBef>
              <a:buSzPct val="123000"/>
              <a:buFont typeface="Times Roman"/>
              <a:buChar char="•"/>
              <a:defRPr sz="140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t>Runbook rollback — протестирован.</a:t>
            </a:r>
          </a:p>
          <a:p>
            <a:pPr defTabSz="457200">
              <a:lnSpc>
                <a:spcPct val="100000"/>
              </a:lnSpc>
              <a:spcBef>
                <a:spcPts val="1200"/>
              </a:spcBef>
              <a:defRPr sz="140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Что нужно от компании: данные, решения, доступы и next step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361188">
              <a:lnSpc>
                <a:spcPct val="100000"/>
              </a:lnSpc>
              <a:spcBef>
                <a:spcPts val="1200"/>
              </a:spcBef>
              <a:defRPr b="0" spc="0" sz="5135">
                <a:latin typeface="PP Object Sans Heavy"/>
                <a:ea typeface="PP Object Sans Heavy"/>
                <a:cs typeface="PP Object Sans Heavy"/>
                <a:sym typeface="PP Object Sans Heavy"/>
              </a:defRPr>
            </a:lvl1pPr>
          </a:lstStyle>
          <a:p>
            <a:pPr/>
            <a:r>
              <a:t>Что нужно от компании: данные, решения, доступы и next steps</a:t>
            </a:r>
          </a:p>
        </p:txBody>
      </p:sp>
      <p:sp>
        <p:nvSpPr>
          <p:cNvPr id="248" name="Цель: зафиксировать, что именно нужно, чтобы запустить H1-инициативы (0–8 недель) без «додумываний», и как мы двигаемся по неделям.…"/>
          <p:cNvSpPr txBox="1"/>
          <p:nvPr>
            <p:ph type="body" sz="half" idx="1"/>
          </p:nvPr>
        </p:nvSpPr>
        <p:spPr>
          <a:xfrm>
            <a:off x="1030417" y="2838656"/>
            <a:ext cx="10770838" cy="11075707"/>
          </a:xfrm>
          <a:prstGeom prst="rect">
            <a:avLst/>
          </a:prstGeom>
        </p:spPr>
        <p:txBody>
          <a:bodyPr/>
          <a:lstStyle/>
          <a:p>
            <a:pPr marL="0" indent="0" defTabSz="315468">
              <a:lnSpc>
                <a:spcPct val="100000"/>
              </a:lnSpc>
              <a:spcBef>
                <a:spcPts val="800"/>
              </a:spcBef>
              <a:buSzTx/>
              <a:buNone/>
              <a:defRPr sz="138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Цель:</a:t>
            </a:r>
            <a:r>
              <a:t> зафиксировать, </a:t>
            </a:r>
            <a:r>
              <a:rPr i="1"/>
              <a:t>что именно</a:t>
            </a:r>
            <a:r>
              <a:t> нужно, чтобы запустить H1-инициативы (0–8 недель) без «додумываний», и как мы двигаемся по неделям.</a:t>
            </a:r>
          </a:p>
          <a:p>
            <a:pPr marL="0" indent="0" defTabSz="315468">
              <a:lnSpc>
                <a:spcPct val="100000"/>
              </a:lnSpc>
              <a:spcBef>
                <a:spcPts val="0"/>
              </a:spcBef>
              <a:buSzTx/>
              <a:buNone/>
              <a:defRPr sz="1380">
                <a:solidFill>
                  <a:srgbClr val="80808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 marL="0" indent="0" defTabSz="315468">
              <a:lnSpc>
                <a:spcPct val="100000"/>
              </a:lnSpc>
              <a:spcBef>
                <a:spcPts val="1000"/>
              </a:spcBef>
              <a:buSzTx/>
              <a:buNone/>
              <a:defRPr b="1" sz="138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12.1. Данные и доступы (Definition of Data Ready)</a:t>
            </a:r>
          </a:p>
          <a:p>
            <a:pPr marL="0" indent="0" defTabSz="315468">
              <a:lnSpc>
                <a:spcPct val="100000"/>
              </a:lnSpc>
              <a:spcBef>
                <a:spcPts val="800"/>
              </a:spcBef>
              <a:buSzTx/>
              <a:buNone/>
              <a:defRPr b="1" sz="138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Аналитика и продукт:</a:t>
            </a:r>
            <a:endParaRPr b="0"/>
          </a:p>
          <a:p>
            <a:pPr marL="333724" indent="-237331" defTabSz="315468">
              <a:lnSpc>
                <a:spcPct val="100000"/>
              </a:lnSpc>
              <a:spcBef>
                <a:spcPts val="800"/>
              </a:spcBef>
              <a:buFont typeface="Times Roman"/>
              <a:defRPr sz="1380">
                <a:latin typeface="Courier"/>
                <a:ea typeface="Courier"/>
                <a:cs typeface="Courier"/>
                <a:sym typeface="Courier"/>
              </a:defRPr>
            </a:pPr>
            <a:r>
              <a:rPr b="1">
                <a:latin typeface="Times Roman"/>
                <a:ea typeface="Times Roman"/>
                <a:cs typeface="Times Roman"/>
                <a:sym typeface="Times Roman"/>
              </a:rPr>
              <a:t>События (в прод):</a:t>
            </a:r>
            <a:r>
              <a:rPr>
                <a:latin typeface="Times Roman"/>
                <a:ea typeface="Times Roman"/>
                <a:cs typeface="Times Roman"/>
                <a:sym typeface="Times Roman"/>
              </a:rPr>
              <a:t> </a:t>
            </a:r>
            <a:r>
              <a:t>view_shop_entry</a:t>
            </a:r>
            <a:r>
              <a:rPr>
                <a:latin typeface="Times Roman"/>
                <a:ea typeface="Times Roman"/>
                <a:cs typeface="Times Roman"/>
                <a:sym typeface="Times Roman"/>
              </a:rPr>
              <a:t>, </a:t>
            </a:r>
            <a:r>
              <a:t>click_shop_entry</a:t>
            </a:r>
            <a:r>
              <a:rPr>
                <a:latin typeface="Times Roman"/>
                <a:ea typeface="Times Roman"/>
                <a:cs typeface="Times Roman"/>
                <a:sym typeface="Times Roman"/>
              </a:rPr>
              <a:t>, </a:t>
            </a:r>
            <a:r>
              <a:t>source_badge_shown</a:t>
            </a:r>
            <a:r>
              <a:rPr>
                <a:latin typeface="Times Roman"/>
                <a:ea typeface="Times Roman"/>
                <a:cs typeface="Times Roman"/>
                <a:sym typeface="Times Roman"/>
              </a:rPr>
              <a:t>, </a:t>
            </a:r>
            <a:r>
              <a:t>plp_quick_add</a:t>
            </a:r>
            <a:r>
              <a:rPr>
                <a:latin typeface="Times Roman"/>
                <a:ea typeface="Times Roman"/>
                <a:cs typeface="Times Roman"/>
                <a:sym typeface="Times Roman"/>
              </a:rPr>
              <a:t>, </a:t>
            </a:r>
            <a:r>
              <a:t>plp_variant_select</a:t>
            </a:r>
            <a:r>
              <a:rPr>
                <a:latin typeface="Times Roman"/>
                <a:ea typeface="Times Roman"/>
                <a:cs typeface="Times Roman"/>
                <a:sym typeface="Times Roman"/>
              </a:rPr>
              <a:t>, </a:t>
            </a:r>
            <a:r>
              <a:t>cart_mixed_flag</a:t>
            </a:r>
            <a:r>
              <a:rPr>
                <a:latin typeface="Times Roman"/>
                <a:ea typeface="Times Roman"/>
                <a:cs typeface="Times Roman"/>
                <a:sym typeface="Times Roman"/>
              </a:rPr>
              <a:t>, </a:t>
            </a:r>
            <a:r>
              <a:t>cta_split_checkout_click</a:t>
            </a:r>
            <a:r>
              <a:rPr>
                <a:latin typeface="Times Roman"/>
                <a:ea typeface="Times Roman"/>
                <a:cs typeface="Times Roman"/>
                <a:sym typeface="Times Roman"/>
              </a:rPr>
              <a:t>, </a:t>
            </a:r>
            <a:r>
              <a:t>checkout_flow_id</a:t>
            </a:r>
            <a:r>
              <a:rPr>
                <a:latin typeface="Times Roman"/>
                <a:ea typeface="Times Roman"/>
                <a:cs typeface="Times Roman"/>
                <a:sym typeface="Times Roman"/>
              </a:rPr>
              <a:t>, </a:t>
            </a:r>
            <a:r>
              <a:t>order_status_update(ETA)</a:t>
            </a:r>
            <a:r>
              <a:rPr>
                <a:latin typeface="Times Roman"/>
                <a:ea typeface="Times Roman"/>
                <a:cs typeface="Times Roman"/>
                <a:sym typeface="Times Roman"/>
              </a:rPr>
              <a:t>, </a:t>
            </a:r>
            <a:r>
              <a:t>claim_one_click(type)</a:t>
            </a:r>
            <a:r>
              <a:rPr>
                <a:latin typeface="Times Roman"/>
                <a:ea typeface="Times Roman"/>
                <a:cs typeface="Times Roman"/>
                <a:sym typeface="Times Roman"/>
              </a:rPr>
              <a:t>, </a:t>
            </a:r>
            <a:r>
              <a:t>contact_reason)</a:t>
            </a:r>
            <a:r>
              <a:rPr>
                <a:latin typeface="Times Roman"/>
                <a:ea typeface="Times Roman"/>
                <a:cs typeface="Times Roman"/>
                <a:sym typeface="Times Roman"/>
              </a:rPr>
              <a:t>.</a:t>
            </a:r>
            <a:endParaRPr>
              <a:latin typeface="Times Roman"/>
              <a:ea typeface="Times Roman"/>
              <a:cs typeface="Times Roman"/>
              <a:sym typeface="Times Roman"/>
            </a:endParaRPr>
          </a:p>
          <a:p>
            <a:pPr marL="315468" indent="-219075" defTabSz="315468">
              <a:lnSpc>
                <a:spcPct val="100000"/>
              </a:lnSpc>
              <a:spcBef>
                <a:spcPts val="800"/>
              </a:spcBef>
              <a:buFont typeface="Times Roman"/>
              <a:defRPr sz="138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Идентичность:</a:t>
            </a:r>
            <a:r>
              <a:t> единые </a:t>
            </a:r>
            <a:r>
              <a:rPr>
                <a:latin typeface="Courier"/>
                <a:ea typeface="Courier"/>
                <a:cs typeface="Courier"/>
                <a:sym typeface="Courier"/>
              </a:rPr>
              <a:t>user_id ↔ order_id ↔ flow_id</a:t>
            </a:r>
            <a:r>
              <a:t> (OMNI×Market), доступ в витрины событий (стрим + суточные срезы).</a:t>
            </a:r>
          </a:p>
          <a:p>
            <a:pPr marL="315468" indent="-219075" defTabSz="315468">
              <a:lnSpc>
                <a:spcPct val="100000"/>
              </a:lnSpc>
              <a:spcBef>
                <a:spcPts val="800"/>
              </a:spcBef>
              <a:buFont typeface="Times Roman"/>
              <a:defRPr sz="138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aMAU-компоненты:</a:t>
            </a:r>
            <a:r>
              <a:t> Availability (модули/гео), Eligibility (KYC/оплата), фактический </a:t>
            </a:r>
            <a:r>
              <a:rPr b="1"/>
              <a:t>Exposure_seen</a:t>
            </a:r>
            <a:r>
              <a:t>.</a:t>
            </a:r>
          </a:p>
          <a:p>
            <a:pPr marL="0" indent="0" defTabSz="315468">
              <a:lnSpc>
                <a:spcPct val="100000"/>
              </a:lnSpc>
              <a:spcBef>
                <a:spcPts val="800"/>
              </a:spcBef>
              <a:buSzTx/>
              <a:buNone/>
              <a:defRPr b="1" sz="138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Коммерция и категории:</a:t>
            </a:r>
            <a:endParaRPr b="0"/>
          </a:p>
          <a:p>
            <a:pPr marL="315468" indent="-219075" defTabSz="315468">
              <a:lnSpc>
                <a:spcPct val="100000"/>
              </a:lnSpc>
              <a:spcBef>
                <a:spcPts val="800"/>
              </a:spcBef>
              <a:buFont typeface="Times Roman"/>
              <a:defRPr sz="138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AOV_cat, share_cat</a:t>
            </a:r>
            <a:r>
              <a:t> отдельно для </a:t>
            </a:r>
            <a:r>
              <a:rPr b="1"/>
              <a:t>Delivery</a:t>
            </a:r>
            <a:r>
              <a:t> и </a:t>
            </a:r>
            <a:r>
              <a:rPr b="1"/>
              <a:t>C&amp;C</a:t>
            </a:r>
            <a:r>
              <a:t> (FMCG, GM, Питомцы, Красота/Фарма*, Хозтовары; *с учётом ограничений).</a:t>
            </a:r>
          </a:p>
          <a:p>
            <a:pPr marL="315468" indent="-219075" defTabSz="315468">
              <a:lnSpc>
                <a:spcPct val="100000"/>
              </a:lnSpc>
              <a:spcBef>
                <a:spcPts val="800"/>
              </a:spcBef>
              <a:buFont typeface="Times Roman"/>
              <a:defRPr sz="138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Маржинальность</a:t>
            </a:r>
            <a:r>
              <a:t> по категориям и правила промо/инсентивов (caps).</a:t>
            </a:r>
          </a:p>
          <a:p>
            <a:pPr marL="0" indent="0" defTabSz="315468">
              <a:lnSpc>
                <a:spcPct val="100000"/>
              </a:lnSpc>
              <a:spcBef>
                <a:spcPts val="800"/>
              </a:spcBef>
              <a:buSzTx/>
              <a:buNone/>
              <a:defRPr b="1" sz="138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Fulfillment/операции:</a:t>
            </a:r>
            <a:endParaRPr b="0"/>
          </a:p>
          <a:p>
            <a:pPr marL="315468" indent="-219075" defTabSz="315468">
              <a:lnSpc>
                <a:spcPct val="100000"/>
              </a:lnSpc>
              <a:spcBef>
                <a:spcPts val="800"/>
              </a:spcBef>
              <a:buFont typeface="Times Roman"/>
              <a:defRPr sz="138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OMS/ETA:</a:t>
            </a:r>
            <a:r>
              <a:t> статусы «в сборке/в пути/готово к выдаче», SLA по СЦ и регионам; фактический </a:t>
            </a:r>
            <a:r>
              <a:rPr b="1"/>
              <a:t>On-time</a:t>
            </a:r>
            <a:r>
              <a:t>, </a:t>
            </a:r>
            <a:r>
              <a:rPr b="1"/>
              <a:t>Delivered-success</a:t>
            </a:r>
            <a:r>
              <a:t>.</a:t>
            </a:r>
          </a:p>
          <a:p>
            <a:pPr marL="315468" indent="-219075" defTabSz="315468">
              <a:lnSpc>
                <a:spcPct val="100000"/>
              </a:lnSpc>
              <a:spcBef>
                <a:spcPts val="800"/>
              </a:spcBef>
              <a:buFont typeface="Times Roman"/>
              <a:defRPr sz="138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Контакт-центр:</a:t>
            </a:r>
            <a:r>
              <a:t> разметка обращений и претензий (причина/исход), </a:t>
            </a:r>
            <a:r>
              <a:rPr b="1"/>
              <a:t>Contact rate</a:t>
            </a:r>
            <a:r>
              <a:t>.</a:t>
            </a:r>
          </a:p>
          <a:p>
            <a:pPr marL="0" indent="0" defTabSz="315468">
              <a:lnSpc>
                <a:spcPct val="100000"/>
              </a:lnSpc>
              <a:spcBef>
                <a:spcPts val="800"/>
              </a:spcBef>
              <a:buSzTx/>
              <a:buNone/>
              <a:defRPr b="1" sz="138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P&amp;L/юнит-экономика:</a:t>
            </a:r>
            <a:endParaRPr b="0"/>
          </a:p>
          <a:p>
            <a:pPr marL="315468" indent="-219075" defTabSz="315468">
              <a:lnSpc>
                <a:spcPct val="100000"/>
              </a:lnSpc>
              <a:spcBef>
                <a:spcPts val="800"/>
              </a:spcBef>
              <a:buFont typeface="Times Roman"/>
              <a:defRPr sz="138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Payments fees</a:t>
            </a:r>
            <a:r>
              <a:t> по методам (карта/СБП/Мир Pay).</a:t>
            </a:r>
          </a:p>
          <a:p>
            <a:pPr marL="315468" indent="-219075" defTabSz="315468">
              <a:lnSpc>
                <a:spcPct val="100000"/>
              </a:lnSpc>
              <a:spcBef>
                <a:spcPts val="800"/>
              </a:spcBef>
              <a:buFont typeface="Times Roman"/>
              <a:defRPr sz="138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Logistics_var</a:t>
            </a:r>
            <a:r>
              <a:t> по СЦ/слотам (вес/объём/температура).</a:t>
            </a:r>
          </a:p>
          <a:p>
            <a:pPr marL="315468" indent="-219075" defTabSz="315468">
              <a:lnSpc>
                <a:spcPct val="100000"/>
              </a:lnSpc>
              <a:spcBef>
                <a:spcPts val="800"/>
              </a:spcBef>
              <a:buFont typeface="Times Roman"/>
              <a:defRPr sz="138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Picking&amp;Packing</a:t>
            </a:r>
            <a:r>
              <a:t> — нормы по классам сборки.</a:t>
            </a:r>
          </a:p>
          <a:p>
            <a:pPr marL="315468" indent="-219075" defTabSz="315468">
              <a:lnSpc>
                <a:spcPct val="100000"/>
              </a:lnSpc>
              <a:spcBef>
                <a:spcPts val="800"/>
              </a:spcBef>
              <a:buFont typeface="Times Roman"/>
              <a:defRPr sz="138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ExpReturns</a:t>
            </a:r>
            <a:r>
              <a:t> (возвраты/компенсации) по категориям.</a:t>
            </a:r>
          </a:p>
          <a:p>
            <a:pPr marL="0" indent="0" defTabSz="315468">
              <a:lnSpc>
                <a:spcPct val="100000"/>
              </a:lnSpc>
              <a:spcBef>
                <a:spcPts val="0"/>
              </a:spcBef>
              <a:buSzTx/>
              <a:buNone/>
              <a:defRPr sz="1380">
                <a:solidFill>
                  <a:srgbClr val="80808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 marL="0" indent="0" defTabSz="315468">
              <a:lnSpc>
                <a:spcPct val="100000"/>
              </a:lnSpc>
              <a:spcBef>
                <a:spcPts val="1000"/>
              </a:spcBef>
              <a:buSzTx/>
              <a:buNone/>
              <a:defRPr b="1" sz="138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12.2. Решения и политики (что утвердить заранее)</a:t>
            </a:r>
          </a:p>
          <a:p>
            <a:pPr marL="315468" indent="-219075" defTabSz="315468">
              <a:lnSpc>
                <a:spcPct val="100000"/>
              </a:lnSpc>
              <a:spcBef>
                <a:spcPts val="800"/>
              </a:spcBef>
              <a:buFont typeface="Times Roman"/>
              <a:defRPr sz="138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Пороговые значения guardrails:</a:t>
            </a:r>
            <a:r>
              <a:t> </a:t>
            </a:r>
            <a:r>
              <a:rPr>
                <a:latin typeface="Courier"/>
                <a:ea typeface="Courier"/>
                <a:cs typeface="Courier"/>
                <a:sym typeface="Courier"/>
              </a:rPr>
              <a:t>X</a:t>
            </a:r>
            <a:r>
              <a:t> (валовая маржа), </a:t>
            </a:r>
            <a:r>
              <a:rPr>
                <a:latin typeface="Courier"/>
                <a:ea typeface="Courier"/>
                <a:cs typeface="Courier"/>
                <a:sym typeface="Courier"/>
              </a:rPr>
              <a:t>S</a:t>
            </a:r>
            <a:r>
              <a:t> (доля скидок), </a:t>
            </a:r>
            <a:r>
              <a:rPr>
                <a:latin typeface="Courier"/>
                <a:ea typeface="Courier"/>
                <a:cs typeface="Courier"/>
                <a:sym typeface="Courier"/>
              </a:rPr>
              <a:t>Sₙ</a:t>
            </a:r>
            <a:r>
              <a:t> (макс. доля «минусовых» UCM), </a:t>
            </a:r>
            <a:r>
              <a:rPr>
                <a:latin typeface="Courier"/>
                <a:ea typeface="Courier"/>
                <a:cs typeface="Courier"/>
                <a:sym typeface="Courier"/>
              </a:rPr>
              <a:t>Y</a:t>
            </a:r>
            <a:r>
              <a:t> (On-time), </a:t>
            </a:r>
            <a:r>
              <a:rPr>
                <a:latin typeface="Courier"/>
                <a:ea typeface="Courier"/>
                <a:cs typeface="Courier"/>
                <a:sym typeface="Courier"/>
              </a:rPr>
              <a:t>K</a:t>
            </a:r>
            <a:r>
              <a:t> (порог каннибализации офлайна в geo-holdouts).</a:t>
            </a:r>
          </a:p>
          <a:p>
            <a:pPr marL="315468" indent="-219075" defTabSz="315468">
              <a:lnSpc>
                <a:spcPct val="100000"/>
              </a:lnSpc>
              <a:spcBef>
                <a:spcPts val="800"/>
              </a:spcBef>
              <a:buFont typeface="Times Roman"/>
              <a:defRPr sz="138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Копирайт/Legal:</a:t>
            </a:r>
            <a:r>
              <a:t> короткие тексты для: «чем отличается Маркет/Из магазина», инфо-бар «2 источника», стоимость/ETA, «1-клик претензия/возврат».</a:t>
            </a:r>
          </a:p>
          <a:p>
            <a:pPr marL="315468" indent="-219075" defTabSz="315468">
              <a:lnSpc>
                <a:spcPct val="100000"/>
              </a:lnSpc>
              <a:spcBef>
                <a:spcPts val="800"/>
              </a:spcBef>
              <a:buFont typeface="Times Roman"/>
              <a:defRPr sz="138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Коммуникации:</a:t>
            </a:r>
            <a:r>
              <a:t> лимиты пуш/SMS по статусам (чтобы не спамить), шаблоны для «честного ETA».</a:t>
            </a:r>
          </a:p>
          <a:p>
            <a:pPr marL="315468" indent="-219075" defTabSz="315468">
              <a:lnSpc>
                <a:spcPct val="100000"/>
              </a:lnSpc>
              <a:spcBef>
                <a:spcPts val="800"/>
              </a:spcBef>
              <a:buFont typeface="Times Roman"/>
              <a:defRPr sz="138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A/B-правила:</a:t>
            </a:r>
            <a:r>
              <a:t> SRM-гейт, CUPED/diff-in-diff, circuit breakers (rollback, cap инсентивов, сужение слотов, поднятие порога free).</a:t>
            </a:r>
          </a:p>
          <a:p>
            <a:pPr marL="0" indent="0" defTabSz="315468">
              <a:lnSpc>
                <a:spcPct val="100000"/>
              </a:lnSpc>
              <a:spcBef>
                <a:spcPts val="0"/>
              </a:spcBef>
              <a:buSzTx/>
              <a:buNone/>
              <a:defRPr sz="1380">
                <a:solidFill>
                  <a:srgbClr val="80808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 marL="0" indent="0" defTabSz="315468">
              <a:lnSpc>
                <a:spcPct val="100000"/>
              </a:lnSpc>
              <a:spcBef>
                <a:spcPts val="1000"/>
              </a:spcBef>
              <a:buSzTx/>
              <a:buNone/>
              <a:defRPr b="1" sz="138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12.3. Команды и владельцы (DRI по инициативам)</a:t>
            </a:r>
          </a:p>
          <a:p>
            <a:pPr marL="315468" indent="-219075" defTabSz="315468">
              <a:lnSpc>
                <a:spcPct val="100000"/>
              </a:lnSpc>
              <a:spcBef>
                <a:spcPts val="800"/>
              </a:spcBef>
              <a:buFont typeface="Times Roman"/>
              <a:defRPr sz="138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Иниц. 1 (Навигация/единый вход):</a:t>
            </a:r>
            <a:r>
              <a:t> Platform &amp; CX — DRI (PM/Design/FE/BE/Data).</a:t>
            </a:r>
          </a:p>
          <a:p>
            <a:pPr marL="315468" indent="-219075" defTabSz="315468">
              <a:lnSpc>
                <a:spcPct val="100000"/>
              </a:lnSpc>
              <a:spcBef>
                <a:spcPts val="800"/>
              </a:spcBef>
              <a:buFont typeface="Times Roman"/>
              <a:defRPr sz="138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Иниц. 2 (Быстрый ATC/повтор):</a:t>
            </a:r>
            <a:r>
              <a:t> Browse &amp; Merch — DRI (+ Data/ML).</a:t>
            </a:r>
          </a:p>
          <a:p>
            <a:pPr marL="315468" indent="-219075" defTabSz="315468">
              <a:lnSpc>
                <a:spcPct val="100000"/>
              </a:lnSpc>
              <a:spcBef>
                <a:spcPts val="800"/>
              </a:spcBef>
              <a:buFont typeface="Times Roman"/>
              <a:defRPr b="1" sz="138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Иниц. 3 («Мост» mixed-cart):</a:t>
            </a:r>
            <a:r>
              <a:rPr b="0"/>
              <a:t> Checkout — DRI (+ Platform).</a:t>
            </a:r>
            <a:endParaRPr b="0"/>
          </a:p>
          <a:p>
            <a:pPr marL="315468" indent="-219075" defTabSz="315468">
              <a:lnSpc>
                <a:spcPct val="100000"/>
              </a:lnSpc>
              <a:spcBef>
                <a:spcPts val="800"/>
              </a:spcBef>
              <a:buFont typeface="Times Roman"/>
              <a:defRPr b="1" sz="138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Иниц. 4 (Post-purchase прозрачность):</a:t>
            </a:r>
            <a:r>
              <a:rPr b="0"/>
              <a:t> Logistics &amp; Promise — DRI (+ CX).</a:t>
            </a:r>
            <a:endParaRPr b="0"/>
          </a:p>
          <a:p>
            <a:pPr marL="315468" indent="-219075" defTabSz="315468">
              <a:lnSpc>
                <a:spcPct val="100000"/>
              </a:lnSpc>
              <a:spcBef>
                <a:spcPts val="800"/>
              </a:spcBef>
              <a:buFont typeface="Times Roman"/>
              <a:defRPr sz="138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Data/ML:</a:t>
            </a:r>
            <a:r>
              <a:t> атрибуция к NSM, SRM-сторож, дашборд C-level.</a:t>
            </a:r>
          </a:p>
          <a:p>
            <a:pPr marL="0" indent="0" defTabSz="315468">
              <a:lnSpc>
                <a:spcPct val="100000"/>
              </a:lnSpc>
              <a:spcBef>
                <a:spcPts val="800"/>
              </a:spcBef>
              <a:buSzTx/>
              <a:buNone/>
              <a:defRPr sz="138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У каждого DRI — SLA на макеты/события/релиз, и KPI из слайда 8 (single-threaded ownership).</a:t>
            </a:r>
          </a:p>
        </p:txBody>
      </p:sp>
      <p:sp>
        <p:nvSpPr>
          <p:cNvPr id="249" name="12.4. План запуска (next steps по неделям)…"/>
          <p:cNvSpPr txBox="1"/>
          <p:nvPr/>
        </p:nvSpPr>
        <p:spPr>
          <a:xfrm>
            <a:off x="13150377" y="2838656"/>
            <a:ext cx="10770838" cy="110757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 defTabSz="406908">
              <a:lnSpc>
                <a:spcPct val="100000"/>
              </a:lnSpc>
              <a:spcBef>
                <a:spcPts val="1300"/>
              </a:spcBef>
              <a:defRPr b="1" sz="1779">
                <a:latin typeface="Times Roman"/>
                <a:ea typeface="Times Roman"/>
                <a:cs typeface="Times Roman"/>
                <a:sym typeface="Times Roman"/>
              </a:defRPr>
            </a:pPr>
            <a:r>
              <a:t>12.4. План запуска (next steps по неделям)</a:t>
            </a:r>
          </a:p>
          <a:p>
            <a:pPr defTabSz="406908">
              <a:lnSpc>
                <a:spcPct val="100000"/>
              </a:lnSpc>
              <a:spcBef>
                <a:spcPts val="1000"/>
              </a:spcBef>
              <a:defRPr b="1" sz="1779">
                <a:latin typeface="Times Roman"/>
                <a:ea typeface="Times Roman"/>
                <a:cs typeface="Times Roman"/>
                <a:sym typeface="Times Roman"/>
              </a:defRPr>
            </a:pPr>
            <a:r>
              <a:t>Неделя 0 (Kick-off):</a:t>
            </a:r>
            <a:endParaRPr b="0"/>
          </a:p>
          <a:p>
            <a:pPr marL="406908" indent="-282575" defTabSz="406908">
              <a:lnSpc>
                <a:spcPct val="100000"/>
              </a:lnSpc>
              <a:spcBef>
                <a:spcPts val="1000"/>
              </a:spcBef>
              <a:buSzPct val="123000"/>
              <a:buFont typeface="Times Roman"/>
              <a:buChar char="•"/>
              <a:defRPr sz="1779">
                <a:latin typeface="Times Roman"/>
                <a:ea typeface="Times Roman"/>
                <a:cs typeface="Times Roman"/>
                <a:sym typeface="Times Roman"/>
              </a:defRPr>
            </a:pPr>
            <a:r>
              <a:t>Утверждаем </a:t>
            </a:r>
            <a:r>
              <a:rPr b="1"/>
              <a:t>4 инициативы H1</a:t>
            </a:r>
            <a:r>
              <a:t>, guardrails и копирайт.</a:t>
            </a:r>
          </a:p>
          <a:p>
            <a:pPr marL="406908" indent="-282575" defTabSz="406908">
              <a:lnSpc>
                <a:spcPct val="100000"/>
              </a:lnSpc>
              <a:spcBef>
                <a:spcPts val="1000"/>
              </a:spcBef>
              <a:buSzPct val="123000"/>
              <a:buFont typeface="Times Roman"/>
              <a:buChar char="•"/>
              <a:defRPr sz="1779">
                <a:latin typeface="Times Roman"/>
                <a:ea typeface="Times Roman"/>
                <a:cs typeface="Times Roman"/>
                <a:sym typeface="Times Roman"/>
              </a:defRPr>
            </a:pPr>
            <a:r>
              <a:t>Включаем события в прод, запускаем </a:t>
            </a:r>
            <a:r>
              <a:rPr b="1"/>
              <a:t>A/A 48 ч</a:t>
            </a:r>
            <a:r>
              <a:t> (SRM=0).</a:t>
            </a:r>
          </a:p>
          <a:p>
            <a:pPr marL="406908" indent="-282575" defTabSz="406908">
              <a:lnSpc>
                <a:spcPct val="100000"/>
              </a:lnSpc>
              <a:spcBef>
                <a:spcPts val="1000"/>
              </a:spcBef>
              <a:buSzPct val="123000"/>
              <a:buFont typeface="Times Roman"/>
              <a:buChar char="•"/>
              <a:defRPr sz="1779">
                <a:latin typeface="Times Roman"/>
                <a:ea typeface="Times Roman"/>
                <a:cs typeface="Times Roman"/>
                <a:sym typeface="Times Roman"/>
              </a:defRPr>
            </a:pPr>
            <a:r>
              <a:t>Подготавливаем дашборд C-level (блоки A–E из слайда 10).</a:t>
            </a:r>
          </a:p>
          <a:p>
            <a:pPr defTabSz="406908">
              <a:lnSpc>
                <a:spcPct val="100000"/>
              </a:lnSpc>
              <a:spcBef>
                <a:spcPts val="1000"/>
              </a:spcBef>
              <a:defRPr b="1" sz="1779">
                <a:latin typeface="Times Roman"/>
                <a:ea typeface="Times Roman"/>
                <a:cs typeface="Times Roman"/>
                <a:sym typeface="Times Roman"/>
              </a:defRPr>
            </a:pPr>
            <a:r>
              <a:t>Неделя 1:</a:t>
            </a:r>
            <a:endParaRPr b="0"/>
          </a:p>
          <a:p>
            <a:pPr marL="406908" indent="-282575" defTabSz="406908">
              <a:lnSpc>
                <a:spcPct val="100000"/>
              </a:lnSpc>
              <a:spcBef>
                <a:spcPts val="1000"/>
              </a:spcBef>
              <a:buSzPct val="123000"/>
              <a:buFont typeface="Times Roman"/>
              <a:buChar char="•"/>
              <a:defRPr sz="1779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Иниц. 1 (Навигация)</a:t>
            </a:r>
            <a:r>
              <a:t> → A/B 50/50 на 14 дней.</a:t>
            </a:r>
          </a:p>
          <a:p>
            <a:pPr marL="406908" indent="-282575" defTabSz="406908">
              <a:lnSpc>
                <a:spcPct val="100000"/>
              </a:lnSpc>
              <a:spcBef>
                <a:spcPts val="1000"/>
              </a:spcBef>
              <a:buSzPct val="123000"/>
              <a:buFont typeface="Times Roman"/>
              <a:buChar char="•"/>
              <a:defRPr sz="1779">
                <a:latin typeface="Times Roman"/>
                <a:ea typeface="Times Roman"/>
                <a:cs typeface="Times Roman"/>
                <a:sym typeface="Times Roman"/>
              </a:defRPr>
            </a:pPr>
            <a:r>
              <a:t>Догружаем бейдж источника на PLP/PDP.</a:t>
            </a:r>
          </a:p>
          <a:p>
            <a:pPr defTabSz="406908">
              <a:lnSpc>
                <a:spcPct val="100000"/>
              </a:lnSpc>
              <a:spcBef>
                <a:spcPts val="1000"/>
              </a:spcBef>
              <a:defRPr b="1" sz="1779">
                <a:latin typeface="Times Roman"/>
                <a:ea typeface="Times Roman"/>
                <a:cs typeface="Times Roman"/>
                <a:sym typeface="Times Roman"/>
              </a:defRPr>
            </a:pPr>
            <a:r>
              <a:t>Неделя 2:</a:t>
            </a:r>
            <a:endParaRPr b="0"/>
          </a:p>
          <a:p>
            <a:pPr marL="406908" indent="-282575" defTabSz="406908">
              <a:lnSpc>
                <a:spcPct val="100000"/>
              </a:lnSpc>
              <a:spcBef>
                <a:spcPts val="1000"/>
              </a:spcBef>
              <a:buSzPct val="123000"/>
              <a:buFont typeface="Times Roman"/>
              <a:buChar char="•"/>
              <a:defRPr b="1" sz="1779">
                <a:latin typeface="Times Roman"/>
                <a:ea typeface="Times Roman"/>
                <a:cs typeface="Times Roman"/>
                <a:sym typeface="Times Roman"/>
              </a:defRPr>
            </a:pPr>
            <a:r>
              <a:t>Иниц. 2 (Quick-add/повтор)</a:t>
            </a:r>
            <a:r>
              <a:rPr b="0"/>
              <a:t> → A/B 50/50 на 21 день.</a:t>
            </a:r>
            <a:endParaRPr b="0"/>
          </a:p>
          <a:p>
            <a:pPr marL="406908" indent="-282575" defTabSz="406908">
              <a:lnSpc>
                <a:spcPct val="100000"/>
              </a:lnSpc>
              <a:spcBef>
                <a:spcPts val="1000"/>
              </a:spcBef>
              <a:buSzPct val="123000"/>
              <a:buFont typeface="Times Roman"/>
              <a:buChar char="•"/>
              <a:defRPr sz="1779">
                <a:latin typeface="Times Roman"/>
                <a:ea typeface="Times Roman"/>
                <a:cs typeface="Times Roman"/>
                <a:sym typeface="Times Roman"/>
              </a:defRPr>
            </a:pPr>
            <a:r>
              <a:t>Витрины Market поднимаем «выше сгиба».</a:t>
            </a:r>
          </a:p>
          <a:p>
            <a:pPr defTabSz="406908">
              <a:lnSpc>
                <a:spcPct val="100000"/>
              </a:lnSpc>
              <a:spcBef>
                <a:spcPts val="1000"/>
              </a:spcBef>
              <a:defRPr b="1" sz="1779">
                <a:latin typeface="Times Roman"/>
                <a:ea typeface="Times Roman"/>
                <a:cs typeface="Times Roman"/>
                <a:sym typeface="Times Roman"/>
              </a:defRPr>
            </a:pPr>
            <a:r>
              <a:t>Неделя 3:</a:t>
            </a:r>
            <a:endParaRPr b="0"/>
          </a:p>
          <a:p>
            <a:pPr marL="406908" indent="-282575" defTabSz="406908">
              <a:lnSpc>
                <a:spcPct val="100000"/>
              </a:lnSpc>
              <a:spcBef>
                <a:spcPts val="1000"/>
              </a:spcBef>
              <a:buSzPct val="123000"/>
              <a:buFont typeface="Times Roman"/>
              <a:buChar char="•"/>
              <a:defRPr b="1" sz="1779">
                <a:latin typeface="Times Roman"/>
                <a:ea typeface="Times Roman"/>
                <a:cs typeface="Times Roman"/>
                <a:sym typeface="Times Roman"/>
              </a:defRPr>
            </a:pPr>
            <a:r>
              <a:t>Иниц. 3 («Мост» mixed-cart)</a:t>
            </a:r>
            <a:r>
              <a:rPr b="0"/>
              <a:t> → A/B 21–28 дней.</a:t>
            </a:r>
            <a:endParaRPr b="0"/>
          </a:p>
          <a:p>
            <a:pPr marL="406908" indent="-282575" defTabSz="406908">
              <a:lnSpc>
                <a:spcPct val="100000"/>
              </a:lnSpc>
              <a:spcBef>
                <a:spcPts val="1000"/>
              </a:spcBef>
              <a:buSzPct val="123000"/>
              <a:buFont typeface="Times Roman"/>
              <a:buChar char="•"/>
              <a:defRPr sz="1779">
                <a:latin typeface="Times Roman"/>
                <a:ea typeface="Times Roman"/>
                <a:cs typeface="Times Roman"/>
                <a:sym typeface="Times Roman"/>
              </a:defRPr>
            </a:pPr>
            <a:r>
              <a:t>Финалим копи/ETA/fee-прозрачность.</a:t>
            </a:r>
          </a:p>
          <a:p>
            <a:pPr defTabSz="406908">
              <a:lnSpc>
                <a:spcPct val="100000"/>
              </a:lnSpc>
              <a:spcBef>
                <a:spcPts val="1000"/>
              </a:spcBef>
              <a:defRPr b="1" sz="1779">
                <a:latin typeface="Times Roman"/>
                <a:ea typeface="Times Roman"/>
                <a:cs typeface="Times Roman"/>
                <a:sym typeface="Times Roman"/>
              </a:defRPr>
            </a:pPr>
            <a:r>
              <a:t>Неделя 4:</a:t>
            </a:r>
            <a:endParaRPr b="0"/>
          </a:p>
          <a:p>
            <a:pPr marL="406908" indent="-282575" defTabSz="406908">
              <a:lnSpc>
                <a:spcPct val="100000"/>
              </a:lnSpc>
              <a:spcBef>
                <a:spcPts val="1000"/>
              </a:spcBef>
              <a:buSzPct val="123000"/>
              <a:buFont typeface="Times Roman"/>
              <a:buChar char="•"/>
              <a:defRPr b="1" sz="1779">
                <a:latin typeface="Times Roman"/>
                <a:ea typeface="Times Roman"/>
                <a:cs typeface="Times Roman"/>
                <a:sym typeface="Times Roman"/>
              </a:defRPr>
            </a:pPr>
            <a:r>
              <a:t>Иниц. 4 (SLA/ETA + 1-клик претензия)</a:t>
            </a:r>
            <a:r>
              <a:rPr b="0"/>
              <a:t> → кластерный diff-in-diff 28–42 дней.</a:t>
            </a:r>
            <a:endParaRPr b="0"/>
          </a:p>
          <a:p>
            <a:pPr marL="406908" indent="-282575" defTabSz="406908">
              <a:lnSpc>
                <a:spcPct val="100000"/>
              </a:lnSpc>
              <a:spcBef>
                <a:spcPts val="1000"/>
              </a:spcBef>
              <a:buSzPct val="123000"/>
              <a:buFont typeface="Times Roman"/>
              <a:buChar char="•"/>
              <a:defRPr sz="1779">
                <a:latin typeface="Times Roman"/>
                <a:ea typeface="Times Roman"/>
                <a:cs typeface="Times Roman"/>
                <a:sym typeface="Times Roman"/>
              </a:defRPr>
            </a:pPr>
            <a:r>
              <a:t>Обучаем CX сценариям «недовложение/задержка/повреждение».</a:t>
            </a:r>
          </a:p>
          <a:p>
            <a:pPr defTabSz="406908">
              <a:lnSpc>
                <a:spcPct val="100000"/>
              </a:lnSpc>
              <a:spcBef>
                <a:spcPts val="1000"/>
              </a:spcBef>
              <a:defRPr b="1" sz="1779">
                <a:latin typeface="Times Roman"/>
                <a:ea typeface="Times Roman"/>
                <a:cs typeface="Times Roman"/>
                <a:sym typeface="Times Roman"/>
              </a:defRPr>
            </a:pPr>
            <a:r>
              <a:t>Недели 5–8:</a:t>
            </a:r>
            <a:endParaRPr b="0"/>
          </a:p>
          <a:p>
            <a:pPr marL="406908" indent="-282575" defTabSz="406908">
              <a:lnSpc>
                <a:spcPct val="100000"/>
              </a:lnSpc>
              <a:spcBef>
                <a:spcPts val="1000"/>
              </a:spcBef>
              <a:buSzPct val="123000"/>
              <a:buFont typeface="Times Roman"/>
              <a:buChar char="•"/>
              <a:defRPr sz="1779">
                <a:latin typeface="Times Roman"/>
                <a:ea typeface="Times Roman"/>
                <a:cs typeface="Times Roman"/>
                <a:sym typeface="Times Roman"/>
              </a:defRPr>
            </a:pPr>
            <a:r>
              <a:t>Решения по тестам (go/hold/kill), волновой rollout 25→50→100% при выполнении MDE и guardrails.</a:t>
            </a:r>
          </a:p>
          <a:p>
            <a:pPr marL="406908" indent="-282575" defTabSz="406908">
              <a:lnSpc>
                <a:spcPct val="100000"/>
              </a:lnSpc>
              <a:spcBef>
                <a:spcPts val="1000"/>
              </a:spcBef>
              <a:buSzPct val="123000"/>
              <a:buFont typeface="Times Roman"/>
              <a:buChar char="•"/>
              <a:defRPr sz="1779">
                <a:latin typeface="Times Roman"/>
                <a:ea typeface="Times Roman"/>
                <a:cs typeface="Times Roman"/>
                <a:sym typeface="Times Roman"/>
              </a:defRPr>
            </a:pPr>
            <a:r>
              <a:t>Подготовка трека H2 (e-чек, персональные списки/бандлы, платежи повтора).</a:t>
            </a:r>
          </a:p>
          <a:p>
            <a:pPr defTabSz="406908">
              <a:lnSpc>
                <a:spcPct val="100000"/>
              </a:lnSpc>
              <a:spcBef>
                <a:spcPts val="0"/>
              </a:spcBef>
              <a:defRPr sz="1779">
                <a:solidFill>
                  <a:srgbClr val="80808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 defTabSz="406908">
              <a:lnSpc>
                <a:spcPct val="100000"/>
              </a:lnSpc>
              <a:spcBef>
                <a:spcPts val="1300"/>
              </a:spcBef>
              <a:defRPr b="1" sz="1779">
                <a:latin typeface="Times Roman"/>
                <a:ea typeface="Times Roman"/>
                <a:cs typeface="Times Roman"/>
                <a:sym typeface="Times Roman"/>
              </a:defRPr>
            </a:pPr>
            <a:r>
              <a:t>12.5. Чек-лист готовности к релизу (Go/No-Go)</a:t>
            </a:r>
          </a:p>
          <a:p>
            <a:pPr marL="406908" indent="-282575" defTabSz="406908">
              <a:lnSpc>
                <a:spcPct val="100000"/>
              </a:lnSpc>
              <a:spcBef>
                <a:spcPts val="1000"/>
              </a:spcBef>
              <a:buSzPct val="123000"/>
              <a:buFont typeface="Times Roman"/>
              <a:buChar char="•"/>
              <a:defRPr sz="1779">
                <a:latin typeface="Times Roman"/>
                <a:ea typeface="Times Roman"/>
                <a:cs typeface="Times Roman"/>
                <a:sym typeface="Times Roman"/>
              </a:defRPr>
            </a:pPr>
            <a:r>
              <a:t>A/A прошёл, </a:t>
            </a:r>
            <a:r>
              <a:rPr b="1"/>
              <a:t>SRM=0</a:t>
            </a:r>
            <a:r>
              <a:t>, события бьют в витрины ≤5 мин.</a:t>
            </a:r>
          </a:p>
          <a:p>
            <a:pPr marL="406908" indent="-282575" defTabSz="406908">
              <a:lnSpc>
                <a:spcPct val="100000"/>
              </a:lnSpc>
              <a:spcBef>
                <a:spcPts val="1000"/>
              </a:spcBef>
              <a:buSzPct val="123000"/>
              <a:buFont typeface="Times Roman"/>
              <a:buChar char="•"/>
              <a:defRPr sz="1779">
                <a:latin typeface="Times Roman"/>
                <a:ea typeface="Times Roman"/>
                <a:cs typeface="Times Roman"/>
                <a:sym typeface="Times Roman"/>
              </a:defRPr>
            </a:pPr>
            <a:r>
              <a:t>Дашборд показывает: </a:t>
            </a:r>
            <a:r>
              <a:rPr b="1"/>
              <a:t>MBC/MDC</a:t>
            </a:r>
            <a:r>
              <a:t>, 6 шагов воронки, </a:t>
            </a:r>
            <a:r>
              <a:rPr b="1"/>
              <a:t>CM2/UCM</a:t>
            </a:r>
            <a:r>
              <a:t>, On-time/Delivered, Contact rate, активные A/B, circuit breakers.</a:t>
            </a:r>
          </a:p>
          <a:p>
            <a:pPr marL="406908" indent="-282575" defTabSz="406908">
              <a:lnSpc>
                <a:spcPct val="100000"/>
              </a:lnSpc>
              <a:spcBef>
                <a:spcPts val="1000"/>
              </a:spcBef>
              <a:buSzPct val="123000"/>
              <a:buFont typeface="Times Roman"/>
              <a:buChar char="•"/>
              <a:defRPr sz="1779">
                <a:latin typeface="Times Roman"/>
                <a:ea typeface="Times Roman"/>
                <a:cs typeface="Times Roman"/>
                <a:sym typeface="Times Roman"/>
              </a:defRPr>
            </a:pPr>
            <a:r>
              <a:t>Legal/InfoSec ок по копирайту и претензиям.</a:t>
            </a:r>
          </a:p>
          <a:p>
            <a:pPr marL="406908" indent="-282575" defTabSz="406908">
              <a:lnSpc>
                <a:spcPct val="100000"/>
              </a:lnSpc>
              <a:spcBef>
                <a:spcPts val="1000"/>
              </a:spcBef>
              <a:buSzPct val="123000"/>
              <a:buFont typeface="Times Roman"/>
              <a:buChar char="•"/>
              <a:defRPr sz="1779">
                <a:latin typeface="Times Roman"/>
                <a:ea typeface="Times Roman"/>
                <a:cs typeface="Times Roman"/>
                <a:sym typeface="Times Roman"/>
              </a:defRPr>
            </a:pPr>
            <a:r>
              <a:t>Runbook rollback протестирован (тех. и клиентские коммуникации).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Приложение A — Слайд A1. UX-спека: «Единый вход в покупки» и навигация (OMNI × Маркет)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83463">
              <a:lnSpc>
                <a:spcPct val="100000"/>
              </a:lnSpc>
              <a:spcBef>
                <a:spcPts val="900"/>
              </a:spcBef>
              <a:defRPr b="0" spc="0" sz="4030">
                <a:latin typeface="PP Object Sans Heavy"/>
                <a:ea typeface="PP Object Sans Heavy"/>
                <a:cs typeface="PP Object Sans Heavy"/>
                <a:sym typeface="PP Object Sans Heavy"/>
              </a:defRPr>
            </a:lvl1pPr>
          </a:lstStyle>
          <a:p>
            <a:pPr/>
            <a:r>
              <a:t>Приложение A — Слайд A1. UX-спека: «Единый вход в покупки» и навигация (OMNI × Маркет)</a:t>
            </a:r>
          </a:p>
        </p:txBody>
      </p:sp>
      <p:sp>
        <p:nvSpPr>
          <p:cNvPr id="252" name="Цель (привязка к метрикам): ↑ Views (+15–20 п.п.) и CTR входов (+0.3–0.5 п.п.) за счёт снятия когнитивного выбора и ранней ясности источника заказа.…"/>
          <p:cNvSpPr txBox="1"/>
          <p:nvPr>
            <p:ph type="body" sz="half" idx="1"/>
          </p:nvPr>
        </p:nvSpPr>
        <p:spPr>
          <a:xfrm>
            <a:off x="1030417" y="2838656"/>
            <a:ext cx="10770838" cy="10432488"/>
          </a:xfrm>
          <a:prstGeom prst="rect">
            <a:avLst/>
          </a:prstGeom>
        </p:spPr>
        <p:txBody>
          <a:bodyPr/>
          <a:lstStyle/>
          <a:p>
            <a:pPr marL="0" indent="0" defTabSz="361188">
              <a:lnSpc>
                <a:spcPct val="100000"/>
              </a:lnSpc>
              <a:spcBef>
                <a:spcPts val="900"/>
              </a:spcBef>
              <a:buSzTx/>
              <a:buNone/>
              <a:defRPr sz="158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Цель (привязка к метрикам):</a:t>
            </a:r>
            <a:br/>
            <a:r>
              <a:t>↑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Views</a:t>
            </a:r>
            <a:r>
              <a:t> (+15–20 п.п.) и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CTR входов</a:t>
            </a:r>
            <a:r>
              <a:t> (+0.3–0.5 п.п.) за счёт снятия когнитивного выбора и ранней ясности источника заказа.</a:t>
            </a:r>
          </a:p>
          <a:p>
            <a:pPr marL="0" indent="0" defTabSz="361188">
              <a:lnSpc>
                <a:spcPct val="100000"/>
              </a:lnSpc>
              <a:spcBef>
                <a:spcPts val="900"/>
              </a:spcBef>
              <a:buSzTx/>
              <a:buNone/>
              <a:defRPr sz="158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Гипотеза:</a:t>
            </a:r>
            <a:r>
              <a:t> один крупный вход «Покупки» + два таба внутри («Из магазина» и «Маркет») с ясным объяснением различий + бейдж источника на PLP/PDP уменьшат ложные заходы и потери при переключениях.</a:t>
            </a:r>
          </a:p>
          <a:p>
            <a:pPr marL="0" indent="0" defTabSz="361188">
              <a:lnSpc>
                <a:spcPct val="100000"/>
              </a:lnSpc>
              <a:spcBef>
                <a:spcPts val="0"/>
              </a:spcBef>
              <a:buSzTx/>
              <a:buNone/>
              <a:defRPr sz="1580">
                <a:solidFill>
                  <a:srgbClr val="808080"/>
                </a:solidFill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</a:p>
          <a:p>
            <a:pPr marL="0" indent="0" defTabSz="361188">
              <a:lnSpc>
                <a:spcPct val="100000"/>
              </a:lnSpc>
              <a:spcBef>
                <a:spcPts val="1100"/>
              </a:spcBef>
              <a:buSzTx/>
              <a:buNone/>
              <a:defRPr sz="1580">
                <a:latin typeface="PP Object Sans Heavy"/>
                <a:ea typeface="PP Object Sans Heavy"/>
                <a:cs typeface="PP Object Sans Heavy"/>
                <a:sym typeface="PP Object Sans Heavy"/>
              </a:defRPr>
            </a:pPr>
            <a:r>
              <a:t>IA &amp; флоу (MVP)</a:t>
            </a:r>
          </a:p>
          <a:p>
            <a:pPr marL="361188" indent="-250825" defTabSz="361188">
              <a:lnSpc>
                <a:spcPct val="100000"/>
              </a:lnSpc>
              <a:spcBef>
                <a:spcPts val="900"/>
              </a:spcBef>
              <a:buFont typeface="Times Roman"/>
              <a:buAutoNum type="arabicPeriod" startAt="1"/>
              <a:defRPr sz="158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Главная ОМНИ</a:t>
            </a:r>
            <a:r>
              <a:t>: крупный CTA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«Покупки»</a:t>
            </a:r>
            <a:r>
              <a:t> (первый экран, над сгибом).</a:t>
            </a:r>
          </a:p>
          <a:p>
            <a:pPr marL="361188" indent="-250825" defTabSz="361188">
              <a:lnSpc>
                <a:spcPct val="100000"/>
              </a:lnSpc>
              <a:spcBef>
                <a:spcPts val="900"/>
              </a:spcBef>
              <a:buFont typeface="Times Roman"/>
              <a:buAutoNum type="arabicPeriod" startAt="1"/>
              <a:defRPr sz="158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Экран «Покупки»</a:t>
            </a:r>
            <a:r>
              <a:t>: два таба с коротким описанием:</a:t>
            </a:r>
          </a:p>
          <a:p>
            <a:pPr lvl="1" marL="722376" indent="-250825" defTabSz="361188">
              <a:lnSpc>
                <a:spcPct val="100000"/>
              </a:lnSpc>
              <a:spcBef>
                <a:spcPts val="900"/>
              </a:spcBef>
              <a:buFont typeface="Times Roman"/>
              <a:buChar char="◦"/>
              <a:defRPr sz="158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Из магазина (доставка/C&amp;C)</a:t>
            </a:r>
            <a:r>
              <a:t> — «товары из ближайшего магазина, сегодня/завтра».</a:t>
            </a:r>
          </a:p>
          <a:p>
            <a:pPr lvl="1" marL="722376" indent="-250825" defTabSz="361188">
              <a:lnSpc>
                <a:spcPct val="100000"/>
              </a:lnSpc>
              <a:spcBef>
                <a:spcPts val="900"/>
              </a:spcBef>
              <a:buFont typeface="Times Roman"/>
              <a:buChar char="◦"/>
              <a:defRPr sz="158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Маркет</a:t>
            </a:r>
            <a:r>
              <a:t> — «мультикатегорийный ассортимент, расширенный выбор, сроки по продавцу».</a:t>
            </a:r>
          </a:p>
          <a:p>
            <a:pPr marL="361188" indent="-250825" defTabSz="361188">
              <a:lnSpc>
                <a:spcPct val="100000"/>
              </a:lnSpc>
              <a:spcBef>
                <a:spcPts val="900"/>
              </a:spcBef>
              <a:buFont typeface="Times Roman"/>
              <a:buAutoNum type="arabicPeriod" startAt="1"/>
              <a:defRPr sz="158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PLP/PDP</a:t>
            </a:r>
            <a:r>
              <a:t>: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бейдж источника</a:t>
            </a:r>
            <a:r>
              <a:t> («Из магазина» / «Маркет») + хинт при переключении («Вы меняете источник, правила доставки и корзина могут отличаться»).</a:t>
            </a:r>
          </a:p>
          <a:p>
            <a:pPr marL="361188" indent="-250825" defTabSz="361188">
              <a:lnSpc>
                <a:spcPct val="100000"/>
              </a:lnSpc>
              <a:spcBef>
                <a:spcPts val="900"/>
              </a:spcBef>
              <a:buFont typeface="Times Roman"/>
              <a:buAutoNum type="arabicPeriod" startAt="1"/>
              <a:defRPr sz="158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Поиск</a:t>
            </a:r>
            <a:r>
              <a:t>: один инпут → результаты размечены бейджем источника; фильтр «Показывать: все/Из магазина/Маркет».</a:t>
            </a:r>
          </a:p>
          <a:p>
            <a:pPr marL="361188" indent="-250825" defTabSz="361188">
              <a:lnSpc>
                <a:spcPct val="100000"/>
              </a:lnSpc>
              <a:spcBef>
                <a:spcPts val="900"/>
              </a:spcBef>
              <a:buFont typeface="Times Roman"/>
              <a:buAutoNum type="arabicPeriod" startAt="1"/>
              <a:defRPr sz="158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Переходы</a:t>
            </a:r>
            <a:r>
              <a:t>: при клике по карточке или quick-add — сохраняем источник и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не</a:t>
            </a:r>
            <a:r>
              <a:t> теряем контекст.</a:t>
            </a:r>
          </a:p>
          <a:p>
            <a:pPr marL="0" indent="0" defTabSz="361188">
              <a:lnSpc>
                <a:spcPct val="100000"/>
              </a:lnSpc>
              <a:spcBef>
                <a:spcPts val="0"/>
              </a:spcBef>
              <a:buSzTx/>
              <a:buNone/>
              <a:defRPr sz="1580">
                <a:solidFill>
                  <a:srgbClr val="808080"/>
                </a:solidFill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</a:p>
          <a:p>
            <a:pPr marL="0" indent="0" defTabSz="361188">
              <a:lnSpc>
                <a:spcPct val="100000"/>
              </a:lnSpc>
              <a:spcBef>
                <a:spcPts val="1100"/>
              </a:spcBef>
              <a:buSzTx/>
              <a:buNone/>
              <a:defRPr sz="1580">
                <a:latin typeface="PP Object Sans Heavy"/>
                <a:ea typeface="PP Object Sans Heavy"/>
                <a:cs typeface="PP Object Sans Heavy"/>
                <a:sym typeface="PP Object Sans Heavy"/>
              </a:defRPr>
            </a:pPr>
            <a:r>
              <a:t>Копирайт (готовые тексты)</a:t>
            </a:r>
          </a:p>
          <a:p>
            <a:pPr marL="361188" indent="-250825" defTabSz="361188">
              <a:lnSpc>
                <a:spcPct val="100000"/>
              </a:lnSpc>
              <a:spcBef>
                <a:spcPts val="900"/>
              </a:spcBef>
              <a:buFont typeface="Times Roman"/>
              <a:defRPr sz="158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t>Табы:</a:t>
            </a:r>
            <a:br/>
            <a:r>
              <a:t>•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Из магазина</a:t>
            </a:r>
            <a:r>
              <a:t> — «Быстро из ближайшего магазина. Самовывоз или доставка уже сегодня.»</a:t>
            </a:r>
            <a:br/>
            <a:r>
              <a:t>•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Маркет</a:t>
            </a:r>
            <a:r>
              <a:t> — «Расширенный ассортимент и категории. Сроки зависят от продавца.»</a:t>
            </a:r>
          </a:p>
          <a:p>
            <a:pPr marL="361188" indent="-250825" defTabSz="361188">
              <a:lnSpc>
                <a:spcPct val="100000"/>
              </a:lnSpc>
              <a:spcBef>
                <a:spcPts val="900"/>
              </a:spcBef>
              <a:buFont typeface="Times Roman"/>
              <a:defRPr sz="158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t>Хинт при смене источника: «Вы переключились на другой источник.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Стоимость и сроки доставки могут отличаться</a:t>
            </a:r>
            <a:r>
              <a:t>. Продолжить?»</a:t>
            </a:r>
          </a:p>
          <a:p>
            <a:pPr marL="361188" indent="-250825" defTabSz="361188">
              <a:lnSpc>
                <a:spcPct val="100000"/>
              </a:lnSpc>
              <a:spcBef>
                <a:spcPts val="900"/>
              </a:spcBef>
              <a:buFont typeface="Times Roman"/>
              <a:defRPr sz="158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t>Инфо-строка на PLP: «Показываем: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Маркет</a:t>
            </a:r>
            <a:r>
              <a:t> • [Изменить]»</a:t>
            </a:r>
          </a:p>
          <a:p>
            <a:pPr marL="0" indent="0" defTabSz="361188">
              <a:lnSpc>
                <a:spcPct val="100000"/>
              </a:lnSpc>
              <a:spcBef>
                <a:spcPts val="0"/>
              </a:spcBef>
              <a:buSzTx/>
              <a:buNone/>
              <a:defRPr sz="1580">
                <a:solidFill>
                  <a:srgbClr val="808080"/>
                </a:solidFill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</a:p>
          <a:p>
            <a:pPr marL="0" indent="0" defTabSz="361188">
              <a:lnSpc>
                <a:spcPct val="100000"/>
              </a:lnSpc>
              <a:spcBef>
                <a:spcPts val="1100"/>
              </a:spcBef>
              <a:buSzTx/>
              <a:buNone/>
              <a:defRPr sz="1580">
                <a:latin typeface="PP Object Sans Heavy"/>
                <a:ea typeface="PP Object Sans Heavy"/>
                <a:cs typeface="PP Object Sans Heavy"/>
                <a:sym typeface="PP Object Sans Heavy"/>
              </a:defRPr>
            </a:pPr>
            <a:r>
              <a:t>Варианты A/B (позиции входа)</a:t>
            </a:r>
          </a:p>
          <a:p>
            <a:pPr marL="361188" indent="-250825" defTabSz="361188">
              <a:lnSpc>
                <a:spcPct val="100000"/>
              </a:lnSpc>
              <a:spcBef>
                <a:spcPts val="900"/>
              </a:spcBef>
              <a:buFont typeface="Times Roman"/>
              <a:defRPr sz="158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V1 (Hero):</a:t>
            </a:r>
            <a:r>
              <a:t> CTA «Покупки» — крупный тайл в первом ряду.</a:t>
            </a:r>
          </a:p>
          <a:p>
            <a:pPr marL="361188" indent="-250825" defTabSz="361188">
              <a:lnSpc>
                <a:spcPct val="100000"/>
              </a:lnSpc>
              <a:spcBef>
                <a:spcPts val="900"/>
              </a:spcBef>
              <a:buFont typeface="Times Roman"/>
              <a:defRPr sz="158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V2 (Top-nav):</a:t>
            </a:r>
            <a:r>
              <a:t> CTA в верхней навигации + дублирование ссылкой в первом ряду.</a:t>
            </a:r>
          </a:p>
          <a:p>
            <a:pPr marL="361188" indent="-250825" defTabSz="361188">
              <a:lnSpc>
                <a:spcPct val="100000"/>
              </a:lnSpc>
              <a:spcBef>
                <a:spcPts val="900"/>
              </a:spcBef>
              <a:buFont typeface="Times Roman"/>
              <a:defRPr sz="158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V3 (Context):</a:t>
            </a:r>
            <a:r>
              <a:t> CTA «Покупки» + подпояс «Из магазина сегодня • Маркет — расширенный выбор».</a:t>
            </a:r>
          </a:p>
          <a:p>
            <a:pPr marL="0" indent="0" defTabSz="361188">
              <a:lnSpc>
                <a:spcPct val="100000"/>
              </a:lnSpc>
              <a:spcBef>
                <a:spcPts val="900"/>
              </a:spcBef>
              <a:buSzTx/>
              <a:buNone/>
              <a:defRPr sz="158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t>Победитель — по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Views/CTR</a:t>
            </a:r>
            <a:r>
              <a:t> и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Mixed-cart rate</a:t>
            </a:r>
            <a:r>
              <a:t> (не должен расти).</a:t>
            </a:r>
          </a:p>
        </p:txBody>
      </p:sp>
      <p:sp>
        <p:nvSpPr>
          <p:cNvPr id="253" name="Состояния и крайние случаи…"/>
          <p:cNvSpPr txBox="1"/>
          <p:nvPr/>
        </p:nvSpPr>
        <p:spPr>
          <a:xfrm>
            <a:off x="13150377" y="2838656"/>
            <a:ext cx="10770838" cy="105396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 defTabSz="379475">
              <a:lnSpc>
                <a:spcPct val="100000"/>
              </a:lnSpc>
              <a:spcBef>
                <a:spcPts val="1200"/>
              </a:spcBef>
              <a:defRPr sz="1660">
                <a:latin typeface="PP Object Sans Heavy"/>
                <a:ea typeface="PP Object Sans Heavy"/>
                <a:cs typeface="PP Object Sans Heavy"/>
                <a:sym typeface="PP Object Sans Heavy"/>
              </a:defRPr>
            </a:pPr>
            <a:r>
              <a:t>Состояния и крайние случаи</a:t>
            </a:r>
          </a:p>
          <a:p>
            <a:pPr marL="379475" indent="-263525" defTabSz="379475">
              <a:lnSpc>
                <a:spcPct val="100000"/>
              </a:lnSpc>
              <a:spcBef>
                <a:spcPts val="900"/>
              </a:spcBef>
              <a:buSzPct val="123000"/>
              <a:buFont typeface="Times Roman"/>
              <a:buChar char="•"/>
              <a:defRPr sz="166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Недоступен «Из магазина»</a:t>
            </a:r>
            <a:r>
              <a:t> (нет гео/слотов): таб приглушён, подпись «временно недоступно в вашем районе» + CTA «Выбрать другой адрес».</a:t>
            </a:r>
          </a:p>
          <a:p>
            <a:pPr marL="379475" indent="-263525" defTabSz="379475">
              <a:lnSpc>
                <a:spcPct val="100000"/>
              </a:lnSpc>
              <a:spcBef>
                <a:spcPts val="900"/>
              </a:spcBef>
              <a:buSzPct val="123000"/>
              <a:buFont typeface="Times Roman"/>
              <a:buChar char="•"/>
              <a:defRPr sz="166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Недоступен «Маркет»</a:t>
            </a:r>
            <a:r>
              <a:t> (нет доступных продавцов): аналогично + «Сообщить, когда появится».</a:t>
            </a:r>
          </a:p>
          <a:p>
            <a:pPr marL="379475" indent="-263525" defTabSz="379475">
              <a:lnSpc>
                <a:spcPct val="100000"/>
              </a:lnSpc>
              <a:spcBef>
                <a:spcPts val="900"/>
              </a:spcBef>
              <a:buSzPct val="123000"/>
              <a:buFont typeface="Times Roman"/>
              <a:buChar char="•"/>
              <a:defRPr sz="166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Нет доступа к оплате</a:t>
            </a:r>
            <a:r>
              <a:t> (Eligibility): показываем табы, но блокируем чекаут, даём CTA «Добавить метод оплаты» (не разрушаем хайповый сценарий просмотра).</a:t>
            </a:r>
          </a:p>
          <a:p>
            <a:pPr marL="379475" indent="-263525" defTabSz="379475">
              <a:lnSpc>
                <a:spcPct val="100000"/>
              </a:lnSpc>
              <a:spcBef>
                <a:spcPts val="900"/>
              </a:spcBef>
              <a:buSzPct val="123000"/>
              <a:buFont typeface="Times Roman"/>
              <a:buChar char="•"/>
              <a:defRPr sz="166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Низкие устройства/узкий экран:</a:t>
            </a:r>
            <a:r>
              <a:t> CTA остаётся над сгибом; табы в одну строку со скроллом.</a:t>
            </a:r>
          </a:p>
          <a:p>
            <a:pPr defTabSz="379475">
              <a:lnSpc>
                <a:spcPct val="100000"/>
              </a:lnSpc>
              <a:spcBef>
                <a:spcPts val="0"/>
              </a:spcBef>
              <a:defRPr sz="1660">
                <a:solidFill>
                  <a:srgbClr val="808080"/>
                </a:solidFill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</a:p>
          <a:p>
            <a:pPr defTabSz="379475">
              <a:lnSpc>
                <a:spcPct val="100000"/>
              </a:lnSpc>
              <a:spcBef>
                <a:spcPts val="1200"/>
              </a:spcBef>
              <a:defRPr sz="1660">
                <a:latin typeface="PP Object Sans Heavy"/>
                <a:ea typeface="PP Object Sans Heavy"/>
                <a:cs typeface="PP Object Sans Heavy"/>
                <a:sym typeface="PP Object Sans Heavy"/>
              </a:defRPr>
            </a:pPr>
            <a:r>
              <a:t>Инструментация (события)</a:t>
            </a:r>
          </a:p>
          <a:p>
            <a:pPr defTabSz="379475">
              <a:lnSpc>
                <a:spcPct val="100000"/>
              </a:lnSpc>
              <a:spcBef>
                <a:spcPts val="900"/>
              </a:spcBef>
              <a:defRPr sz="166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t>view_shop_entry, click_shop_entry, tab_source_select (values: store/market),</a:t>
            </a:r>
            <a:br/>
            <a:r>
              <a:t>source_badge_shown, source_switch_hint_view/confirm/cancel,</a:t>
            </a:r>
            <a:br/>
            <a:r>
              <a:t>search_filter_source (values: all/store/market).</a:t>
            </a:r>
          </a:p>
          <a:p>
            <a:pPr defTabSz="379475">
              <a:lnSpc>
                <a:spcPct val="100000"/>
              </a:lnSpc>
              <a:spcBef>
                <a:spcPts val="0"/>
              </a:spcBef>
              <a:defRPr sz="1660">
                <a:solidFill>
                  <a:srgbClr val="808080"/>
                </a:solidFill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</a:p>
          <a:p>
            <a:pPr defTabSz="379475">
              <a:lnSpc>
                <a:spcPct val="100000"/>
              </a:lnSpc>
              <a:spcBef>
                <a:spcPts val="1200"/>
              </a:spcBef>
              <a:defRPr sz="1660">
                <a:latin typeface="PP Object Sans Heavy"/>
                <a:ea typeface="PP Object Sans Heavy"/>
                <a:cs typeface="PP Object Sans Heavy"/>
                <a:sym typeface="PP Object Sans Heavy"/>
              </a:defRPr>
            </a:pPr>
            <a:r>
              <a:t>DoD (Definition of Done)</a:t>
            </a:r>
          </a:p>
          <a:p>
            <a:pPr marL="379475" indent="-263525" defTabSz="379475">
              <a:lnSpc>
                <a:spcPct val="100000"/>
              </a:lnSpc>
              <a:spcBef>
                <a:spcPts val="900"/>
              </a:spcBef>
              <a:buSzPct val="123000"/>
              <a:buFont typeface="Times Roman"/>
              <a:buChar char="•"/>
              <a:defRPr sz="166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Views +15–20 п.п.</a:t>
            </a:r>
            <a:r>
              <a:t> и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CTR +0.3–0.5 п.п.</a:t>
            </a:r>
            <a:r>
              <a:t> vs контроль за 14 дней,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SRM=0</a:t>
            </a:r>
            <a:r>
              <a:t>.</a:t>
            </a:r>
          </a:p>
          <a:p>
            <a:pPr marL="379475" indent="-263525" defTabSz="379475">
              <a:lnSpc>
                <a:spcPct val="100000"/>
              </a:lnSpc>
              <a:spcBef>
                <a:spcPts val="900"/>
              </a:spcBef>
              <a:buSzPct val="123000"/>
              <a:buFont typeface="Times Roman"/>
              <a:buChar char="•"/>
              <a:defRPr sz="166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Mixed-cart rate</a:t>
            </a:r>
            <a:r>
              <a:t> не ↑;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Crash-free/TTI</a:t>
            </a:r>
            <a:r>
              <a:t> не хуже;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NPS/CSAT</a:t>
            </a:r>
            <a:r>
              <a:t> не падают в затронутых когорт.</a:t>
            </a:r>
          </a:p>
          <a:p>
            <a:pPr marL="379475" indent="-263525" defTabSz="379475">
              <a:lnSpc>
                <a:spcPct val="100000"/>
              </a:lnSpc>
              <a:spcBef>
                <a:spcPts val="900"/>
              </a:spcBef>
              <a:buSzPct val="123000"/>
              <a:buFont typeface="Times Roman"/>
              <a:buChar char="•"/>
              <a:defRPr sz="166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t>Бейдж источника виден на всех PLP/PDP карточках; хинт показывается ровно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1 раз на сессию</a:t>
            </a:r>
            <a:r>
              <a:t> при первой смене.</a:t>
            </a:r>
          </a:p>
          <a:p>
            <a:pPr defTabSz="379475">
              <a:lnSpc>
                <a:spcPct val="100000"/>
              </a:lnSpc>
              <a:spcBef>
                <a:spcPts val="0"/>
              </a:spcBef>
              <a:defRPr sz="1660">
                <a:solidFill>
                  <a:srgbClr val="808080"/>
                </a:solidFill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</a:p>
          <a:p>
            <a:pPr defTabSz="379475">
              <a:lnSpc>
                <a:spcPct val="100000"/>
              </a:lnSpc>
              <a:spcBef>
                <a:spcPts val="1200"/>
              </a:spcBef>
              <a:defRPr sz="1660">
                <a:latin typeface="PP Object Sans Heavy"/>
                <a:ea typeface="PP Object Sans Heavy"/>
                <a:cs typeface="PP Object Sans Heavy"/>
                <a:sym typeface="PP Object Sans Heavy"/>
              </a:defRPr>
            </a:pPr>
            <a:r>
              <a:t>UX-гайды (микро)</a:t>
            </a:r>
          </a:p>
          <a:p>
            <a:pPr marL="379475" indent="-263525" defTabSz="379475">
              <a:lnSpc>
                <a:spcPct val="100000"/>
              </a:lnSpc>
              <a:spcBef>
                <a:spcPts val="900"/>
              </a:spcBef>
              <a:buSzPct val="123000"/>
              <a:buFont typeface="Times Roman"/>
              <a:buChar char="•"/>
              <a:defRPr sz="166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t>Тап-таргеты ≥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44dp</a:t>
            </a:r>
            <a:r>
              <a:t>; контраст бейджа ≥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WCAG AA</a:t>
            </a:r>
            <a:r>
              <a:t>; skeleton для карточек ≤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300 мс</a:t>
            </a:r>
            <a:r>
              <a:t>.</a:t>
            </a:r>
          </a:p>
          <a:p>
            <a:pPr marL="379475" indent="-263525" defTabSz="379475">
              <a:lnSpc>
                <a:spcPct val="100000"/>
              </a:lnSpc>
              <a:spcBef>
                <a:spcPts val="900"/>
              </a:spcBef>
              <a:buSzPct val="123000"/>
              <a:buFont typeface="Times Roman"/>
              <a:buChar char="•"/>
              <a:defRPr sz="166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t>Позиция CTA «Покупки»: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первый экран</a:t>
            </a:r>
            <a:r>
              <a:t>, фикс-тайл 1:1, не ниже 2-го виджета.</a:t>
            </a:r>
          </a:p>
          <a:p>
            <a:pPr marL="379475" indent="-263525" defTabSz="379475">
              <a:lnSpc>
                <a:spcPct val="100000"/>
              </a:lnSpc>
              <a:spcBef>
                <a:spcPts val="900"/>
              </a:spcBef>
              <a:buSzPct val="123000"/>
              <a:buFont typeface="Times Roman"/>
              <a:buChar char="•"/>
              <a:defRPr sz="166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t>Сохранение источника в сессии (sticky) до явной смены или закрытия.</a:t>
            </a:r>
          </a:p>
          <a:p>
            <a:pPr defTabSz="379475">
              <a:lnSpc>
                <a:spcPct val="100000"/>
              </a:lnSpc>
              <a:spcBef>
                <a:spcPts val="0"/>
              </a:spcBef>
              <a:defRPr sz="1660">
                <a:solidFill>
                  <a:srgbClr val="808080"/>
                </a:solidFill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</a:p>
          <a:p>
            <a:pPr defTabSz="379475">
              <a:lnSpc>
                <a:spcPct val="100000"/>
              </a:lnSpc>
              <a:spcBef>
                <a:spcPts val="1200"/>
              </a:spcBef>
              <a:defRPr sz="1660">
                <a:latin typeface="PP Object Sans Heavy"/>
                <a:ea typeface="PP Object Sans Heavy"/>
                <a:cs typeface="PP Object Sans Heavy"/>
                <a:sym typeface="PP Object Sans Heavy"/>
              </a:defRPr>
            </a:pPr>
            <a:r>
              <a:t>Риски → меры</a:t>
            </a:r>
          </a:p>
          <a:p>
            <a:pPr marL="379475" indent="-263525" defTabSz="379475">
              <a:lnSpc>
                <a:spcPct val="100000"/>
              </a:lnSpc>
              <a:spcBef>
                <a:spcPts val="900"/>
              </a:spcBef>
              <a:buSzPct val="123000"/>
              <a:buFont typeface="Times Roman"/>
              <a:buChar char="•"/>
              <a:defRPr sz="166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Перегруз главной</a:t>
            </a:r>
            <a:r>
              <a:t> → частотный кэп виджета + тест позиций (V1/V2/V3).</a:t>
            </a:r>
          </a:p>
          <a:p>
            <a:pPr marL="379475" indent="-263525" defTabSz="379475">
              <a:lnSpc>
                <a:spcPct val="100000"/>
              </a:lnSpc>
              <a:spcBef>
                <a:spcPts val="900"/>
              </a:spcBef>
              <a:buSzPct val="123000"/>
              <a:buFont typeface="Times Roman"/>
              <a:buChar char="•"/>
              <a:defRPr sz="166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CTR не растёт</a:t>
            </a:r>
            <a:r>
              <a:t> при росте Views → переформулировать копи, вынести «чем отличаются» на первый экран, добавить мини-шторку.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Приложение A — Слайд A2. UX-спека: «Быстрый ATC на PLP, мультивыбор, “Мои 20/Покупай снова” сверху»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83463">
              <a:lnSpc>
                <a:spcPct val="100000"/>
              </a:lnSpc>
              <a:spcBef>
                <a:spcPts val="900"/>
              </a:spcBef>
              <a:defRPr b="0" spc="0" sz="4030">
                <a:latin typeface="PP Object Sans Heavy"/>
                <a:ea typeface="PP Object Sans Heavy"/>
                <a:cs typeface="PP Object Sans Heavy"/>
                <a:sym typeface="PP Object Sans Heavy"/>
              </a:defRPr>
            </a:lvl1pPr>
          </a:lstStyle>
          <a:p>
            <a:pPr/>
            <a:r>
              <a:t>Приложение A — Слайд A2. UX-спека: «Быстрый ATC на PLP, мультивыбор, “Мои 20/Покупай снова” сверху»</a:t>
            </a:r>
          </a:p>
        </p:txBody>
      </p:sp>
      <p:sp>
        <p:nvSpPr>
          <p:cNvPr id="256" name="Цель (метрики): ↑ ATC CVR +1–2 п.п., ↑ AOV +8–12%, ↓ ATC latency (медиана «сессия→первый ATC») — без давления скидками. Guardrails: CM2/order ≥ 0 в затронутых категориях; Edit/Undo-rate в норме; Crash-free/TTI не хуже.…"/>
          <p:cNvSpPr txBox="1"/>
          <p:nvPr>
            <p:ph type="body" sz="half" idx="1"/>
          </p:nvPr>
        </p:nvSpPr>
        <p:spPr>
          <a:xfrm>
            <a:off x="1030417" y="2838656"/>
            <a:ext cx="10770838" cy="11075707"/>
          </a:xfrm>
          <a:prstGeom prst="rect">
            <a:avLst/>
          </a:prstGeom>
        </p:spPr>
        <p:txBody>
          <a:bodyPr/>
          <a:lstStyle/>
          <a:p>
            <a:pPr marL="0" indent="0" defTabSz="269747">
              <a:lnSpc>
                <a:spcPct val="100000"/>
              </a:lnSpc>
              <a:spcBef>
                <a:spcPts val="700"/>
              </a:spcBef>
              <a:buSzTx/>
              <a:buNone/>
              <a:defRPr sz="1179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Цель (метрики):</a:t>
            </a:r>
            <a:br/>
            <a:r>
              <a:t>↑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ATC CVR +1–2 п.п.</a:t>
            </a:r>
            <a:r>
              <a:t>, ↑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AOV +8–12%</a:t>
            </a:r>
            <a:r>
              <a:t>, ↓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ATC latency</a:t>
            </a:r>
            <a:r>
              <a:t> (медиана «сессия→первый ATC») — без давления скидками. Guardrails: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CM2/order ≥ 0</a:t>
            </a:r>
            <a:r>
              <a:t> в затронутых категориях; Edit/Undo-rate в норме; Crash-free/TTI не хуже.</a:t>
            </a:r>
          </a:p>
          <a:p>
            <a:pPr marL="0" indent="0" defTabSz="269747">
              <a:lnSpc>
                <a:spcPct val="100000"/>
              </a:lnSpc>
              <a:spcBef>
                <a:spcPts val="700"/>
              </a:spcBef>
              <a:buSzTx/>
              <a:buNone/>
              <a:defRPr sz="1179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Гипотеза:</a:t>
            </a:r>
            <a:r>
              <a:t> сокращение действий до первого добавления (quick-add с PLP), вынос повтора («Мои 20 / Покупай снова») «выше сгиба» и мультивыбор для пакетного добавления дадут устойчивый рост ATC/AOV.</a:t>
            </a:r>
          </a:p>
          <a:p>
            <a:pPr marL="0" indent="0" defTabSz="269747">
              <a:lnSpc>
                <a:spcPct val="100000"/>
              </a:lnSpc>
              <a:spcBef>
                <a:spcPts val="0"/>
              </a:spcBef>
              <a:buSzTx/>
              <a:buNone/>
              <a:defRPr sz="1179">
                <a:solidFill>
                  <a:srgbClr val="808080"/>
                </a:solidFill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</a:p>
          <a:p>
            <a:pPr marL="0" indent="0" defTabSz="269747">
              <a:lnSpc>
                <a:spcPct val="100000"/>
              </a:lnSpc>
              <a:spcBef>
                <a:spcPts val="800"/>
              </a:spcBef>
              <a:buSzTx/>
              <a:buNone/>
              <a:defRPr sz="1179">
                <a:latin typeface="PP Object Sans Heavy"/>
                <a:ea typeface="PP Object Sans Heavy"/>
                <a:cs typeface="PP Object Sans Heavy"/>
                <a:sym typeface="PP Object Sans Heavy"/>
              </a:defRPr>
            </a:pPr>
            <a:r>
              <a:t>IA &amp; поведение (MVP)</a:t>
            </a:r>
          </a:p>
          <a:p>
            <a:pPr marL="269747" indent="-187324" defTabSz="269747">
              <a:lnSpc>
                <a:spcPct val="100000"/>
              </a:lnSpc>
              <a:spcBef>
                <a:spcPts val="700"/>
              </a:spcBef>
              <a:buFont typeface="Times Roman"/>
              <a:buAutoNum type="arabicPeriod" startAt="1"/>
              <a:defRPr sz="1179">
                <a:latin typeface="PP Object Sans Heavy"/>
                <a:ea typeface="PP Object Sans Heavy"/>
                <a:cs typeface="PP Object Sans Heavy"/>
                <a:sym typeface="PP Object Sans Heavy"/>
              </a:defRPr>
            </a:pPr>
            <a:r>
              <a:t>PLP: quick-add для безатрибутных SKU</a:t>
            </a:r>
            <a:endParaRPr>
              <a:latin typeface="PP Object Sans Regular"/>
              <a:ea typeface="PP Object Sans Regular"/>
              <a:cs typeface="PP Object Sans Regular"/>
              <a:sym typeface="PP Object Sans Regular"/>
            </a:endParaRPr>
          </a:p>
          <a:p>
            <a:pPr lvl="1" marL="539495" indent="-187324" defTabSz="269747">
              <a:lnSpc>
                <a:spcPct val="100000"/>
              </a:lnSpc>
              <a:spcBef>
                <a:spcPts val="700"/>
              </a:spcBef>
              <a:buFont typeface="Times Roman"/>
              <a:buChar char="◦"/>
              <a:defRPr sz="1179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t>Кнопка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“+”</a:t>
            </a:r>
            <a:r>
              <a:t> на карточке (в углу), первое нажатие =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ATC(1)</a:t>
            </a:r>
            <a:r>
              <a:t>.</a:t>
            </a:r>
          </a:p>
          <a:p>
            <a:pPr lvl="1" marL="539495" indent="-187324" defTabSz="269747">
              <a:lnSpc>
                <a:spcPct val="100000"/>
              </a:lnSpc>
              <a:spcBef>
                <a:spcPts val="700"/>
              </a:spcBef>
              <a:buFont typeface="Times Roman"/>
              <a:buChar char="◦"/>
              <a:defRPr sz="1179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t>Появляется счётчик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[− 1 +]</a:t>
            </a:r>
            <a:r>
              <a:t>; второе нажатие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+1</a:t>
            </a:r>
            <a:r>
              <a:t>, «−» уменьшает до 0 (при 0 — счётчик скрывается).</a:t>
            </a:r>
          </a:p>
          <a:p>
            <a:pPr lvl="1" marL="539495" indent="-187324" defTabSz="269747">
              <a:lnSpc>
                <a:spcPct val="100000"/>
              </a:lnSpc>
              <a:spcBef>
                <a:spcPts val="700"/>
              </a:spcBef>
              <a:buFont typeface="Times Roman"/>
              <a:buChar char="◦"/>
              <a:defRPr sz="1179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Undo-тост</a:t>
            </a:r>
            <a:r>
              <a:t> 3 сек («Добавлено в корзину») с CTA «Отменить».</a:t>
            </a:r>
          </a:p>
          <a:p>
            <a:pPr lvl="1" marL="539495" indent="-187324" defTabSz="269747">
              <a:lnSpc>
                <a:spcPct val="100000"/>
              </a:lnSpc>
              <a:spcBef>
                <a:spcPts val="700"/>
              </a:spcBef>
              <a:buFont typeface="Times Roman"/>
              <a:buChar char="◦"/>
              <a:defRPr sz="1179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Мини-корзина</a:t>
            </a:r>
            <a:r>
              <a:t> (peek) снизу: кол-во позиций, сумма, CTA «Перейти к оформлению».</a:t>
            </a:r>
          </a:p>
          <a:p>
            <a:pPr marL="269747" indent="-187324" defTabSz="269747">
              <a:lnSpc>
                <a:spcPct val="100000"/>
              </a:lnSpc>
              <a:spcBef>
                <a:spcPts val="700"/>
              </a:spcBef>
              <a:buFont typeface="Times Roman"/>
              <a:buAutoNum type="arabicPeriod" startAt="2"/>
              <a:defRPr sz="1179">
                <a:latin typeface="PP Object Sans Heavy"/>
                <a:ea typeface="PP Object Sans Heavy"/>
                <a:cs typeface="PP Object Sans Heavy"/>
                <a:sym typeface="PP Object Sans Heavy"/>
              </a:defRPr>
            </a:pPr>
            <a:r>
              <a:t>PLP: вариативные SKU (цвет/размер/вкус)</a:t>
            </a:r>
            <a:endParaRPr>
              <a:latin typeface="PP Object Sans Regular"/>
              <a:ea typeface="PP Object Sans Regular"/>
              <a:cs typeface="PP Object Sans Regular"/>
              <a:sym typeface="PP Object Sans Regular"/>
            </a:endParaRPr>
          </a:p>
          <a:p>
            <a:pPr lvl="1" marL="539495" indent="-187324" defTabSz="269747">
              <a:lnSpc>
                <a:spcPct val="100000"/>
              </a:lnSpc>
              <a:spcBef>
                <a:spcPts val="700"/>
              </a:spcBef>
              <a:buFont typeface="Times Roman"/>
              <a:buChar char="◦"/>
              <a:defRPr sz="1179">
                <a:latin typeface="PP Object Sans Heavy"/>
                <a:ea typeface="PP Object Sans Heavy"/>
                <a:cs typeface="PP Object Sans Heavy"/>
                <a:sym typeface="PP Object Sans Heavy"/>
              </a:defRPr>
            </a:pPr>
            <a:r>
              <a:rPr>
                <a:latin typeface="PP Object Sans Regular"/>
                <a:ea typeface="PP Object Sans Regular"/>
                <a:cs typeface="PP Object Sans Regular"/>
                <a:sym typeface="PP Object Sans Regular"/>
              </a:rPr>
              <a:t>Вместо мгновенного ATC — </a:t>
            </a:r>
            <a:r>
              <a:t>иконка “+” открывает компактный селектор</a:t>
            </a:r>
            <a:r>
              <a:rPr>
                <a:latin typeface="PP Object Sans Regular"/>
                <a:ea typeface="PP Object Sans Regular"/>
                <a:cs typeface="PP Object Sans Regular"/>
                <a:sym typeface="PP Object Sans Regular"/>
              </a:rPr>
              <a:t> (bottom sheet, 60% высоты).</a:t>
            </a:r>
            <a:endParaRPr>
              <a:latin typeface="PP Object Sans Regular"/>
              <a:ea typeface="PP Object Sans Regular"/>
              <a:cs typeface="PP Object Sans Regular"/>
              <a:sym typeface="PP Object Sans Regular"/>
            </a:endParaRPr>
          </a:p>
          <a:p>
            <a:pPr lvl="1" marL="539495" indent="-187324" defTabSz="269747">
              <a:lnSpc>
                <a:spcPct val="100000"/>
              </a:lnSpc>
              <a:spcBef>
                <a:spcPts val="700"/>
              </a:spcBef>
              <a:buFont typeface="Times Roman"/>
              <a:buChar char="◦"/>
              <a:defRPr sz="1179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t>В селекторе: обязательные атрибуты, «Добавить» →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ATC(1)</a:t>
            </a:r>
            <a:r>
              <a:t>, далее счётчик на карточке.</a:t>
            </a:r>
          </a:p>
          <a:p>
            <a:pPr marL="269747" indent="-187324" defTabSz="269747">
              <a:lnSpc>
                <a:spcPct val="100000"/>
              </a:lnSpc>
              <a:spcBef>
                <a:spcPts val="700"/>
              </a:spcBef>
              <a:buFont typeface="Times Roman"/>
              <a:buAutoNum type="arabicPeriod" startAt="2"/>
              <a:defRPr sz="1179">
                <a:latin typeface="PP Object Sans Heavy"/>
                <a:ea typeface="PP Object Sans Heavy"/>
                <a:cs typeface="PP Object Sans Heavy"/>
                <a:sym typeface="PP Object Sans Heavy"/>
              </a:defRPr>
            </a:pPr>
            <a:r>
              <a:t>Мультивыбор на PLP</a:t>
            </a:r>
            <a:endParaRPr>
              <a:latin typeface="PP Object Sans Regular"/>
              <a:ea typeface="PP Object Sans Regular"/>
              <a:cs typeface="PP Object Sans Regular"/>
              <a:sym typeface="PP Object Sans Regular"/>
            </a:endParaRPr>
          </a:p>
          <a:p>
            <a:pPr lvl="1" marL="539495" indent="-187324" defTabSz="269747">
              <a:lnSpc>
                <a:spcPct val="100000"/>
              </a:lnSpc>
              <a:spcBef>
                <a:spcPts val="700"/>
              </a:spcBef>
              <a:buFont typeface="Times Roman"/>
              <a:buChar char="◦"/>
              <a:defRPr sz="1179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t>Чекбокс в левом верхнем углу карточки → sticky-бар снизу: «Выбрано N •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Добавить выбранные</a:t>
            </a:r>
            <a:r>
              <a:t>».</a:t>
            </a:r>
          </a:p>
          <a:p>
            <a:pPr lvl="1" marL="539495" indent="-187324" defTabSz="269747">
              <a:lnSpc>
                <a:spcPct val="100000"/>
              </a:lnSpc>
              <a:spcBef>
                <a:spcPts val="700"/>
              </a:spcBef>
              <a:buFont typeface="Times Roman"/>
              <a:buChar char="◦"/>
              <a:defRPr sz="1179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t>Нажатие =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bulk ATC</a:t>
            </a:r>
            <a:r>
              <a:t> c суммой (пример: «+5 товаров на 1 240 ₽»). Undo для всего пакета.</a:t>
            </a:r>
          </a:p>
          <a:p>
            <a:pPr marL="269747" indent="-187324" defTabSz="269747">
              <a:lnSpc>
                <a:spcPct val="100000"/>
              </a:lnSpc>
              <a:spcBef>
                <a:spcPts val="700"/>
              </a:spcBef>
              <a:buFont typeface="Times Roman"/>
              <a:buAutoNum type="arabicPeriod" startAt="4"/>
              <a:defRPr sz="1179">
                <a:latin typeface="PP Object Sans Heavy"/>
                <a:ea typeface="PP Object Sans Heavy"/>
                <a:cs typeface="PP Object Sans Heavy"/>
                <a:sym typeface="PP Object Sans Heavy"/>
              </a:defRPr>
            </a:pPr>
            <a:r>
              <a:t>Блоки повтора «выше сгиба»</a:t>
            </a:r>
            <a:endParaRPr>
              <a:latin typeface="PP Object Sans Regular"/>
              <a:ea typeface="PP Object Sans Regular"/>
              <a:cs typeface="PP Object Sans Regular"/>
              <a:sym typeface="PP Object Sans Regular"/>
            </a:endParaRPr>
          </a:p>
          <a:p>
            <a:pPr lvl="1" marL="539495" indent="-187324" defTabSz="269747">
              <a:lnSpc>
                <a:spcPct val="100000"/>
              </a:lnSpc>
              <a:spcBef>
                <a:spcPts val="700"/>
              </a:spcBef>
              <a:buFont typeface="Times Roman"/>
              <a:buChar char="◦"/>
              <a:defRPr sz="1179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t>Разделы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«Мои 20»</a:t>
            </a:r>
            <a:r>
              <a:t> и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«Покупай снова»</a:t>
            </a:r>
            <a:r>
              <a:t> — первыми на ленте, карточки компактнее (2–3 в ряд), quick-add активен.</a:t>
            </a:r>
          </a:p>
          <a:p>
            <a:pPr lvl="1" marL="539495" indent="-187324" defTabSz="269747">
              <a:lnSpc>
                <a:spcPct val="100000"/>
              </a:lnSpc>
              <a:spcBef>
                <a:spcPts val="700"/>
              </a:spcBef>
              <a:buFont typeface="Times Roman"/>
              <a:buChar char="◦"/>
              <a:defRPr sz="1179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t>В «Мои 20» показываем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чипы-дозировки</a:t>
            </a:r>
            <a:r>
              <a:t> (напр., «×2», «×3») по истории.</a:t>
            </a:r>
          </a:p>
          <a:p>
            <a:pPr marL="269747" indent="-187324" defTabSz="269747">
              <a:lnSpc>
                <a:spcPct val="100000"/>
              </a:lnSpc>
              <a:spcBef>
                <a:spcPts val="700"/>
              </a:spcBef>
              <a:buFont typeface="Times Roman"/>
              <a:buAutoNum type="arabicPeriod" startAt="5"/>
              <a:defRPr sz="1179">
                <a:latin typeface="PP Object Sans Heavy"/>
                <a:ea typeface="PP Object Sans Heavy"/>
                <a:cs typeface="PP Object Sans Heavy"/>
                <a:sym typeface="PP Object Sans Heavy"/>
              </a:defRPr>
            </a:pPr>
            <a:r>
              <a:t>Автодобор до порога free-delivery (без скидок)</a:t>
            </a:r>
            <a:endParaRPr>
              <a:latin typeface="PP Object Sans Regular"/>
              <a:ea typeface="PP Object Sans Regular"/>
              <a:cs typeface="PP Object Sans Regular"/>
              <a:sym typeface="PP Object Sans Regular"/>
            </a:endParaRPr>
          </a:p>
          <a:p>
            <a:pPr lvl="1" marL="539495" indent="-187324" defTabSz="269747">
              <a:lnSpc>
                <a:spcPct val="100000"/>
              </a:lnSpc>
              <a:spcBef>
                <a:spcPts val="700"/>
              </a:spcBef>
              <a:buFont typeface="Times Roman"/>
              <a:buChar char="◦"/>
              <a:defRPr sz="1179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t>При AOV &lt; AOV* показываем подсказку в мини-корзине: «Ещё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на 350 ₽</a:t>
            </a:r>
            <a:r>
              <a:t> до бесплатной доставки» +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“Добавить”</a:t>
            </a:r>
            <a:r>
              <a:t> (подбор локально релевантных товаров).</a:t>
            </a:r>
          </a:p>
          <a:p>
            <a:pPr lvl="1" marL="539495" indent="-187324" defTabSz="269747">
              <a:lnSpc>
                <a:spcPct val="100000"/>
              </a:lnSpc>
              <a:spcBef>
                <a:spcPts val="700"/>
              </a:spcBef>
              <a:buFont typeface="Times Roman"/>
              <a:buChar char="◦"/>
              <a:defRPr sz="1179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t>Выбор из 3-х предложений (быстрые кнопки).</a:t>
            </a:r>
          </a:p>
          <a:p>
            <a:pPr marL="0" indent="0" defTabSz="269747">
              <a:lnSpc>
                <a:spcPct val="100000"/>
              </a:lnSpc>
              <a:spcBef>
                <a:spcPts val="0"/>
              </a:spcBef>
              <a:buSzTx/>
              <a:buNone/>
              <a:defRPr sz="1179">
                <a:solidFill>
                  <a:srgbClr val="808080"/>
                </a:solidFill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</a:p>
          <a:p>
            <a:pPr marL="0" indent="0" defTabSz="269747">
              <a:lnSpc>
                <a:spcPct val="100000"/>
              </a:lnSpc>
              <a:spcBef>
                <a:spcPts val="800"/>
              </a:spcBef>
              <a:buSzTx/>
              <a:buNone/>
              <a:defRPr sz="1179">
                <a:latin typeface="PP Object Sans Heavy"/>
                <a:ea typeface="PP Object Sans Heavy"/>
                <a:cs typeface="PP Object Sans Heavy"/>
                <a:sym typeface="PP Object Sans Heavy"/>
              </a:defRPr>
            </a:pPr>
            <a:r>
              <a:t>Копирайт (готовые тексты)</a:t>
            </a:r>
          </a:p>
          <a:p>
            <a:pPr marL="269747" indent="-187324" defTabSz="269747">
              <a:lnSpc>
                <a:spcPct val="100000"/>
              </a:lnSpc>
              <a:spcBef>
                <a:spcPts val="700"/>
              </a:spcBef>
              <a:buFont typeface="Times Roman"/>
              <a:defRPr sz="1179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t>Тост после добавления: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«Товар добавлен в корзину»</a:t>
            </a:r>
            <a:r>
              <a:t> • </a:t>
            </a:r>
            <a:r>
              <a:rPr i="1"/>
              <a:t>Отменить</a:t>
            </a:r>
          </a:p>
          <a:p>
            <a:pPr marL="269747" indent="-187324" defTabSz="269747">
              <a:lnSpc>
                <a:spcPct val="100000"/>
              </a:lnSpc>
              <a:spcBef>
                <a:spcPts val="700"/>
              </a:spcBef>
              <a:buFont typeface="Times Roman"/>
              <a:defRPr sz="1179">
                <a:latin typeface="PP Object Sans Heavy"/>
                <a:ea typeface="PP Object Sans Heavy"/>
                <a:cs typeface="PP Object Sans Heavy"/>
                <a:sym typeface="PP Object Sans Heavy"/>
              </a:defRPr>
            </a:pPr>
            <a:r>
              <a:rPr>
                <a:latin typeface="PP Object Sans Regular"/>
                <a:ea typeface="PP Object Sans Regular"/>
                <a:cs typeface="PP Object Sans Regular"/>
                <a:sym typeface="PP Object Sans Regular"/>
              </a:rPr>
              <a:t>Подсказка порога: </a:t>
            </a:r>
            <a:r>
              <a:t>«Ещё на {X} ₽ — и доставка бесплатно»</a:t>
            </a:r>
            <a:r>
              <a:rPr>
                <a:latin typeface="PP Object Sans Regular"/>
                <a:ea typeface="PP Object Sans Regular"/>
                <a:cs typeface="PP Object Sans Regular"/>
                <a:sym typeface="PP Object Sans Regular"/>
              </a:rPr>
              <a:t> • </a:t>
            </a:r>
            <a:r>
              <a:rPr i="1">
                <a:latin typeface="PP Object Sans Regular"/>
                <a:ea typeface="PP Object Sans Regular"/>
                <a:cs typeface="PP Object Sans Regular"/>
                <a:sym typeface="PP Object Sans Regular"/>
              </a:rPr>
              <a:t>Добавить</a:t>
            </a:r>
            <a:endParaRPr>
              <a:latin typeface="PP Object Sans Regular"/>
              <a:ea typeface="PP Object Sans Regular"/>
              <a:cs typeface="PP Object Sans Regular"/>
              <a:sym typeface="PP Object Sans Regular"/>
            </a:endParaRPr>
          </a:p>
          <a:p>
            <a:pPr marL="269747" indent="-187324" defTabSz="269747">
              <a:lnSpc>
                <a:spcPct val="100000"/>
              </a:lnSpc>
              <a:spcBef>
                <a:spcPts val="700"/>
              </a:spcBef>
              <a:buFont typeface="Times Roman"/>
              <a:defRPr sz="1179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t>Для вариативных: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«Выберите вариант»</a:t>
            </a:r>
            <a:r>
              <a:t> (размер/цвет/вкус)</a:t>
            </a:r>
          </a:p>
          <a:p>
            <a:pPr marL="269747" indent="-187324" defTabSz="269747">
              <a:lnSpc>
                <a:spcPct val="100000"/>
              </a:lnSpc>
              <a:spcBef>
                <a:spcPts val="700"/>
              </a:spcBef>
              <a:buFont typeface="Times Roman"/>
              <a:defRPr sz="1179">
                <a:latin typeface="PP Object Sans Heavy"/>
                <a:ea typeface="PP Object Sans Heavy"/>
                <a:cs typeface="PP Object Sans Heavy"/>
                <a:sym typeface="PP Object Sans Heavy"/>
              </a:defRPr>
            </a:pPr>
            <a:r>
              <a:rPr>
                <a:latin typeface="PP Object Sans Regular"/>
                <a:ea typeface="PP Object Sans Regular"/>
                <a:cs typeface="PP Object Sans Regular"/>
                <a:sym typeface="PP Object Sans Regular"/>
              </a:rPr>
              <a:t>Для мультивыбора: </a:t>
            </a:r>
            <a:r>
              <a:t>«Выбрано {N} • Добавить выбранные»</a:t>
            </a:r>
            <a:endParaRPr>
              <a:latin typeface="PP Object Sans Regular"/>
              <a:ea typeface="PP Object Sans Regular"/>
              <a:cs typeface="PP Object Sans Regular"/>
              <a:sym typeface="PP Object Sans Regular"/>
            </a:endParaRPr>
          </a:p>
          <a:p>
            <a:pPr marL="269747" indent="-187324" defTabSz="269747">
              <a:lnSpc>
                <a:spcPct val="100000"/>
              </a:lnSpc>
              <a:spcBef>
                <a:spcPts val="700"/>
              </a:spcBef>
              <a:buFont typeface="Times Roman"/>
              <a:defRPr sz="1179">
                <a:latin typeface="PP Object Sans Heavy"/>
                <a:ea typeface="PP Object Sans Heavy"/>
                <a:cs typeface="PP Object Sans Heavy"/>
                <a:sym typeface="PP Object Sans Heavy"/>
              </a:defRPr>
            </a:pPr>
            <a:r>
              <a:rPr>
                <a:latin typeface="PP Object Sans Regular"/>
                <a:ea typeface="PP Object Sans Regular"/>
                <a:cs typeface="PP Object Sans Regular"/>
                <a:sym typeface="PP Object Sans Regular"/>
              </a:rPr>
              <a:t>Мини-корзина: </a:t>
            </a:r>
            <a:r>
              <a:t>«{items} товаров • {sum} ₽»</a:t>
            </a:r>
            <a:r>
              <a:rPr>
                <a:latin typeface="PP Object Sans Regular"/>
                <a:ea typeface="PP Object Sans Regular"/>
                <a:cs typeface="PP Object Sans Regular"/>
                <a:sym typeface="PP Object Sans Regular"/>
              </a:rPr>
              <a:t> • </a:t>
            </a:r>
            <a:r>
              <a:rPr i="1">
                <a:latin typeface="PP Object Sans Regular"/>
                <a:ea typeface="PP Object Sans Regular"/>
                <a:cs typeface="PP Object Sans Regular"/>
                <a:sym typeface="PP Object Sans Regular"/>
              </a:rPr>
              <a:t>Оформить</a:t>
            </a:r>
            <a:endParaRPr>
              <a:latin typeface="PP Object Sans Regular"/>
              <a:ea typeface="PP Object Sans Regular"/>
              <a:cs typeface="PP Object Sans Regular"/>
              <a:sym typeface="PP Object Sans Regular"/>
            </a:endParaRPr>
          </a:p>
          <a:p>
            <a:pPr marL="0" indent="0" defTabSz="269747">
              <a:lnSpc>
                <a:spcPct val="100000"/>
              </a:lnSpc>
              <a:spcBef>
                <a:spcPts val="0"/>
              </a:spcBef>
              <a:buSzTx/>
              <a:buNone/>
              <a:defRPr sz="1179">
                <a:solidFill>
                  <a:srgbClr val="808080"/>
                </a:solidFill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</a:p>
          <a:p>
            <a:pPr marL="0" indent="0" defTabSz="269747">
              <a:lnSpc>
                <a:spcPct val="100000"/>
              </a:lnSpc>
              <a:spcBef>
                <a:spcPts val="800"/>
              </a:spcBef>
              <a:buSzTx/>
              <a:buNone/>
              <a:defRPr sz="1179">
                <a:latin typeface="PP Object Sans Heavy"/>
                <a:ea typeface="PP Object Sans Heavy"/>
                <a:cs typeface="PP Object Sans Heavy"/>
                <a:sym typeface="PP Object Sans Heavy"/>
              </a:defRPr>
            </a:pPr>
            <a:r>
              <a:t>Состояния и крайние случаи</a:t>
            </a:r>
          </a:p>
          <a:p>
            <a:pPr marL="269747" indent="-187324" defTabSz="269747">
              <a:lnSpc>
                <a:spcPct val="100000"/>
              </a:lnSpc>
              <a:spcBef>
                <a:spcPts val="700"/>
              </a:spcBef>
              <a:buFont typeface="Times Roman"/>
              <a:defRPr sz="1179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Out of stock / ограничение по количеству</a:t>
            </a:r>
            <a:r>
              <a:t> — «+» неактивен, ховер/тап-хинт «Недоступно» / «Лимит {K} шт. на заказ».</a:t>
            </a:r>
          </a:p>
          <a:p>
            <a:pPr marL="269747" indent="-187324" defTabSz="269747">
              <a:lnSpc>
                <a:spcPct val="100000"/>
              </a:lnSpc>
              <a:spcBef>
                <a:spcPts val="700"/>
              </a:spcBef>
              <a:buFont typeface="Times Roman"/>
              <a:defRPr sz="1179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Возрастные/регуляторные</a:t>
            </a:r>
            <a:r>
              <a:t> — quick-add скрыт; тап ведёт в PDP для верификации.</a:t>
            </a:r>
          </a:p>
          <a:p>
            <a:pPr marL="269747" indent="-187324" defTabSz="269747">
              <a:lnSpc>
                <a:spcPct val="100000"/>
              </a:lnSpc>
              <a:spcBef>
                <a:spcPts val="700"/>
              </a:spcBef>
              <a:buFont typeface="Times Roman"/>
              <a:defRPr sz="1179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Тяжёлые/крупногабаритные</a:t>
            </a:r>
            <a:r>
              <a:t> — бейдж «Тяжёлый»; при добавлении подсказка «Доступна доставка, самовывоз может быть недоступен».</a:t>
            </a:r>
          </a:p>
          <a:p>
            <a:pPr marL="269747" indent="-187324" defTabSz="269747">
              <a:lnSpc>
                <a:spcPct val="100000"/>
              </a:lnSpc>
              <a:spcBef>
                <a:spcPts val="700"/>
              </a:spcBef>
              <a:buFont typeface="Times Roman"/>
              <a:defRPr sz="1179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Колебание цены/промо</a:t>
            </a:r>
            <a:r>
              <a:t> — при изменении цены в корзине показываем мини-инфобар «Цена обновилась: +15 ₽».</a:t>
            </a:r>
          </a:p>
          <a:p>
            <a:pPr marL="269747" indent="-187324" defTabSz="269747">
              <a:lnSpc>
                <a:spcPct val="100000"/>
              </a:lnSpc>
              <a:spcBef>
                <a:spcPts val="700"/>
              </a:spcBef>
              <a:buFont typeface="Times Roman"/>
              <a:defRPr sz="1179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Low-end устройства</a:t>
            </a:r>
            <a:r>
              <a:t> — отключаем мультивыбор (только quick-add), мини-корзина упрощена (текстовая).</a:t>
            </a:r>
          </a:p>
        </p:txBody>
      </p:sp>
      <p:sp>
        <p:nvSpPr>
          <p:cNvPr id="257" name="Производительность и доступность…"/>
          <p:cNvSpPr txBox="1"/>
          <p:nvPr/>
        </p:nvSpPr>
        <p:spPr>
          <a:xfrm>
            <a:off x="13150377" y="2838656"/>
            <a:ext cx="10770838" cy="110757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 defTabSz="370331">
              <a:lnSpc>
                <a:spcPct val="100000"/>
              </a:lnSpc>
              <a:spcBef>
                <a:spcPts val="1200"/>
              </a:spcBef>
              <a:defRPr sz="1620">
                <a:latin typeface="PP Object Sans Heavy"/>
                <a:ea typeface="PP Object Sans Heavy"/>
                <a:cs typeface="PP Object Sans Heavy"/>
                <a:sym typeface="PP Object Sans Heavy"/>
              </a:defRPr>
            </a:pPr>
            <a:r>
              <a:t>Производительность и доступность</a:t>
            </a:r>
          </a:p>
          <a:p>
            <a:pPr marL="370331" indent="-257175" defTabSz="370331">
              <a:lnSpc>
                <a:spcPct val="100000"/>
              </a:lnSpc>
              <a:spcBef>
                <a:spcPts val="900"/>
              </a:spcBef>
              <a:buSzPct val="123000"/>
              <a:buFont typeface="Times Roman"/>
              <a:buChar char="•"/>
              <a:defRPr sz="162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Бюджеты:</a:t>
            </a:r>
            <a:r>
              <a:t> skeleton карточки ≤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300 мс</a:t>
            </a:r>
            <a:r>
              <a:t>, интеракция «+» → визуальный ответ ≤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100 мс</a:t>
            </a:r>
            <a:r>
              <a:t>.</a:t>
            </a:r>
          </a:p>
          <a:p>
            <a:pPr marL="370331" indent="-257175" defTabSz="370331">
              <a:lnSpc>
                <a:spcPct val="100000"/>
              </a:lnSpc>
              <a:spcBef>
                <a:spcPts val="900"/>
              </a:spcBef>
              <a:buSzPct val="123000"/>
              <a:buFont typeface="Times Roman"/>
              <a:buChar char="•"/>
              <a:defRPr sz="162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Prefetch PDP</a:t>
            </a:r>
            <a:r>
              <a:t> по hover/half-visible карточкам (новые модели — по полу-видимости).</a:t>
            </a:r>
          </a:p>
          <a:p>
            <a:pPr marL="370331" indent="-257175" defTabSz="370331">
              <a:lnSpc>
                <a:spcPct val="100000"/>
              </a:lnSpc>
              <a:spcBef>
                <a:spcPts val="900"/>
              </a:spcBef>
              <a:buSzPct val="123000"/>
              <a:buFont typeface="Times Roman"/>
              <a:buChar char="•"/>
              <a:defRPr sz="162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a11y:</a:t>
            </a:r>
            <a:r>
              <a:t> тап-таргеты ≥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44dp</a:t>
            </a:r>
            <a:r>
              <a:t>, контраст WCAG AA; счётчик доступен с экрана (aria-label: «добавить/убавить»).</a:t>
            </a:r>
          </a:p>
          <a:p>
            <a:pPr defTabSz="370331">
              <a:lnSpc>
                <a:spcPct val="100000"/>
              </a:lnSpc>
              <a:spcBef>
                <a:spcPts val="1200"/>
              </a:spcBef>
              <a:defRPr sz="1620">
                <a:latin typeface="PP Object Sans Heavy"/>
                <a:ea typeface="PP Object Sans Heavy"/>
                <a:cs typeface="PP Object Sans Heavy"/>
                <a:sym typeface="PP Object Sans Heavy"/>
              </a:defRPr>
            </a:pPr>
            <a:r>
              <a:t>Эксперимент (H1)</a:t>
            </a:r>
          </a:p>
          <a:p>
            <a:pPr marL="370331" indent="-257175" defTabSz="370331">
              <a:lnSpc>
                <a:spcPct val="100000"/>
              </a:lnSpc>
              <a:spcBef>
                <a:spcPts val="900"/>
              </a:spcBef>
              <a:buSzPct val="123000"/>
              <a:buFont typeface="Times Roman"/>
              <a:buChar char="•"/>
              <a:defRPr sz="162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Дизайн:</a:t>
            </a:r>
            <a:r>
              <a:t> 50/50, 21 день, рандомизация по user_id; включаем категории с высокой частотой покупок (FMCG, хозтовары) и часть GM.</a:t>
            </a:r>
          </a:p>
          <a:p>
            <a:pPr marL="370331" indent="-257175" defTabSz="370331">
              <a:lnSpc>
                <a:spcPct val="100000"/>
              </a:lnSpc>
              <a:spcBef>
                <a:spcPts val="900"/>
              </a:spcBef>
              <a:buSzPct val="123000"/>
              <a:buFont typeface="Times Roman"/>
              <a:buChar char="•"/>
              <a:defRPr sz="1620">
                <a:latin typeface="PP Object Sans Heavy"/>
                <a:ea typeface="PP Object Sans Heavy"/>
                <a:cs typeface="PP Object Sans Heavy"/>
                <a:sym typeface="PP Object Sans Heavy"/>
              </a:defRPr>
            </a:pPr>
            <a:r>
              <a:t>Primary:</a:t>
            </a:r>
            <a:r>
              <a:rPr>
                <a:latin typeface="PP Object Sans Regular"/>
                <a:ea typeface="PP Object Sans Regular"/>
                <a:cs typeface="PP Object Sans Regular"/>
                <a:sym typeface="PP Object Sans Regular"/>
              </a:rPr>
              <a:t> </a:t>
            </a:r>
            <a:r>
              <a:t>ATC CVR +1–2 п.п.</a:t>
            </a:r>
            <a:r>
              <a:rPr>
                <a:latin typeface="PP Object Sans Regular"/>
                <a:ea typeface="PP Object Sans Regular"/>
                <a:cs typeface="PP Object Sans Regular"/>
                <a:sym typeface="PP Object Sans Regular"/>
              </a:rPr>
              <a:t>, </a:t>
            </a:r>
            <a:r>
              <a:t>AOV +8–12%</a:t>
            </a:r>
            <a:r>
              <a:rPr>
                <a:latin typeface="PP Object Sans Regular"/>
                <a:ea typeface="PP Object Sans Regular"/>
                <a:cs typeface="PP Object Sans Regular"/>
                <a:sym typeface="PP Object Sans Regular"/>
              </a:rPr>
              <a:t>.</a:t>
            </a:r>
            <a:endParaRPr>
              <a:latin typeface="PP Object Sans Regular"/>
              <a:ea typeface="PP Object Sans Regular"/>
              <a:cs typeface="PP Object Sans Regular"/>
              <a:sym typeface="PP Object Sans Regular"/>
            </a:endParaRPr>
          </a:p>
          <a:p>
            <a:pPr marL="370331" indent="-257175" defTabSz="370331">
              <a:lnSpc>
                <a:spcPct val="100000"/>
              </a:lnSpc>
              <a:spcBef>
                <a:spcPts val="900"/>
              </a:spcBef>
              <a:buSzPct val="123000"/>
              <a:buFont typeface="Times Roman"/>
              <a:buChar char="•"/>
              <a:defRPr sz="162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Secondary/guardrails:</a:t>
            </a:r>
            <a:r>
              <a:t> Edit/Undo-rate ≤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U%</a:t>
            </a:r>
            <a:r>
              <a:t>;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CM2/order ≥ 0</a:t>
            </a:r>
            <a:r>
              <a:t> по затронутым категориям; Crash-free/TTI не хуже.</a:t>
            </a:r>
          </a:p>
          <a:p>
            <a:pPr marL="370331" indent="-257175" defTabSz="370331">
              <a:lnSpc>
                <a:spcPct val="100000"/>
              </a:lnSpc>
              <a:spcBef>
                <a:spcPts val="900"/>
              </a:spcBef>
              <a:buSzPct val="123000"/>
              <a:buFont typeface="Times Roman"/>
              <a:buChar char="•"/>
              <a:defRPr sz="162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Сегменты:</a:t>
            </a:r>
            <a:r>
              <a:t> FMCG vs GM; Delivery vs C&amp;C; корзины &lt; / ≥ AOV*; новичок/повтор.</a:t>
            </a:r>
          </a:p>
          <a:p>
            <a:pPr defTabSz="370331">
              <a:lnSpc>
                <a:spcPct val="100000"/>
              </a:lnSpc>
              <a:spcBef>
                <a:spcPts val="900"/>
              </a:spcBef>
              <a:defRPr sz="162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Definition of Done:</a:t>
            </a:r>
            <a:r>
              <a:t> Primary ≥ MDE в ≥80% затронутых категорий, экономика ок, SRM=0 → волновой rollout (25/50/100%).</a:t>
            </a:r>
          </a:p>
          <a:p>
            <a:pPr defTabSz="370331">
              <a:lnSpc>
                <a:spcPct val="100000"/>
              </a:lnSpc>
              <a:spcBef>
                <a:spcPts val="0"/>
              </a:spcBef>
              <a:defRPr sz="1620">
                <a:solidFill>
                  <a:srgbClr val="808080"/>
                </a:solidFill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</a:p>
          <a:p>
            <a:pPr defTabSz="370331">
              <a:lnSpc>
                <a:spcPct val="100000"/>
              </a:lnSpc>
              <a:spcBef>
                <a:spcPts val="1200"/>
              </a:spcBef>
              <a:defRPr sz="1620">
                <a:latin typeface="PP Object Sans Heavy"/>
                <a:ea typeface="PP Object Sans Heavy"/>
                <a:cs typeface="PP Object Sans Heavy"/>
                <a:sym typeface="PP Object Sans Heavy"/>
              </a:defRPr>
            </a:pPr>
            <a:r>
              <a:t>Компоненты и интеграции (для инженеров)</a:t>
            </a:r>
          </a:p>
          <a:p>
            <a:pPr marL="391763" indent="-278606" defTabSz="370331">
              <a:lnSpc>
                <a:spcPct val="100000"/>
              </a:lnSpc>
              <a:spcBef>
                <a:spcPts val="900"/>
              </a:spcBef>
              <a:buSzPct val="123000"/>
              <a:buFont typeface="Times Roman"/>
              <a:buChar char="•"/>
              <a:defRPr sz="1620">
                <a:latin typeface="PP Object Sans Heavy"/>
                <a:ea typeface="PP Object Sans Heavy"/>
                <a:cs typeface="PP Object Sans Heavy"/>
                <a:sym typeface="PP Object Sans Heavy"/>
              </a:defRPr>
            </a:pPr>
            <a:r>
              <a:rPr>
                <a:latin typeface="PP Object Sans Regular"/>
                <a:ea typeface="PP Object Sans Regular"/>
                <a:cs typeface="PP Object Sans Regular"/>
                <a:sym typeface="PP Object Sans Regular"/>
              </a:rPr>
              <a:t>UI: </a:t>
            </a:r>
            <a:r>
              <a:t>QuickAddButton</a:t>
            </a:r>
            <a:r>
              <a:rPr>
                <a:latin typeface="PP Object Sans Regular"/>
                <a:ea typeface="PP Object Sans Regular"/>
                <a:cs typeface="PP Object Sans Regular"/>
                <a:sym typeface="PP Object Sans Regular"/>
              </a:rPr>
              <a:t>, </a:t>
            </a:r>
            <a:r>
              <a:t>VariantPickerSheet</a:t>
            </a:r>
            <a:r>
              <a:rPr>
                <a:latin typeface="PP Object Sans Regular"/>
                <a:ea typeface="PP Object Sans Regular"/>
                <a:cs typeface="PP Object Sans Regular"/>
                <a:sym typeface="PP Object Sans Regular"/>
              </a:rPr>
              <a:t>, </a:t>
            </a:r>
            <a:r>
              <a:t>MultiSelectBar</a:t>
            </a:r>
            <a:r>
              <a:rPr>
                <a:latin typeface="PP Object Sans Regular"/>
                <a:ea typeface="PP Object Sans Regular"/>
                <a:cs typeface="PP Object Sans Regular"/>
                <a:sym typeface="PP Object Sans Regular"/>
              </a:rPr>
              <a:t>, </a:t>
            </a:r>
            <a:r>
              <a:t>MiniCartPeek</a:t>
            </a:r>
            <a:r>
              <a:rPr>
                <a:latin typeface="PP Object Sans Regular"/>
                <a:ea typeface="PP Object Sans Regular"/>
                <a:cs typeface="PP Object Sans Regular"/>
                <a:sym typeface="PP Object Sans Regular"/>
              </a:rPr>
              <a:t>.</a:t>
            </a:r>
            <a:endParaRPr>
              <a:latin typeface="PP Object Sans Regular"/>
              <a:ea typeface="PP Object Sans Regular"/>
              <a:cs typeface="PP Object Sans Regular"/>
              <a:sym typeface="PP Object Sans Regular"/>
            </a:endParaRPr>
          </a:p>
          <a:p>
            <a:pPr marL="391763" indent="-278606" defTabSz="370331">
              <a:lnSpc>
                <a:spcPct val="100000"/>
              </a:lnSpc>
              <a:spcBef>
                <a:spcPts val="900"/>
              </a:spcBef>
              <a:buSzPct val="123000"/>
              <a:buFont typeface="Times Roman"/>
              <a:buChar char="•"/>
              <a:defRPr sz="162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t>API: POST /cart/add, PATCH /cart/item, GET /recommendations/autotopup?delta=…, событие cart_summary.</a:t>
            </a:r>
          </a:p>
          <a:p>
            <a:pPr marL="391763" indent="-278606" defTabSz="370331">
              <a:lnSpc>
                <a:spcPct val="100000"/>
              </a:lnSpc>
              <a:spcBef>
                <a:spcPts val="900"/>
              </a:spcBef>
              <a:buSzPct val="123000"/>
              <a:buFont typeface="Times Roman"/>
              <a:buChar char="•"/>
              <a:defRPr sz="162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t>Флаги: feature_quick_add, feature_multi_select, feature_autotopup.</a:t>
            </a:r>
          </a:p>
          <a:p>
            <a:pPr marL="370331" indent="-257175" defTabSz="370331">
              <a:lnSpc>
                <a:spcPct val="100000"/>
              </a:lnSpc>
              <a:spcBef>
                <a:spcPts val="900"/>
              </a:spcBef>
              <a:buSzPct val="123000"/>
              <a:buFont typeface="Times Roman"/>
              <a:buChar char="•"/>
              <a:defRPr sz="162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t>Конфиг: белый список категорий для quick-add; исключения (возрастные/регуляторные/хрупкие).</a:t>
            </a:r>
          </a:p>
          <a:p>
            <a:pPr defTabSz="370331">
              <a:lnSpc>
                <a:spcPct val="100000"/>
              </a:lnSpc>
              <a:spcBef>
                <a:spcPts val="0"/>
              </a:spcBef>
              <a:defRPr sz="1620">
                <a:solidFill>
                  <a:srgbClr val="808080"/>
                </a:solidFill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</a:p>
          <a:p>
            <a:pPr defTabSz="370331">
              <a:lnSpc>
                <a:spcPct val="100000"/>
              </a:lnSpc>
              <a:spcBef>
                <a:spcPts val="1200"/>
              </a:spcBef>
              <a:defRPr sz="1620">
                <a:latin typeface="PP Object Sans Heavy"/>
                <a:ea typeface="PP Object Sans Heavy"/>
                <a:cs typeface="PP Object Sans Heavy"/>
                <a:sym typeface="PP Object Sans Heavy"/>
              </a:defRPr>
            </a:pPr>
            <a:r>
              <a:t>Риски → меры</a:t>
            </a:r>
          </a:p>
          <a:p>
            <a:pPr marL="370331" indent="-257175" defTabSz="370331">
              <a:lnSpc>
                <a:spcPct val="100000"/>
              </a:lnSpc>
              <a:spcBef>
                <a:spcPts val="900"/>
              </a:spcBef>
              <a:buSzPct val="123000"/>
              <a:buFont typeface="Times Roman"/>
              <a:buChar char="•"/>
              <a:defRPr sz="162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Шумные добавления</a:t>
            </a:r>
            <a:r>
              <a:t> → тост с «Отменить», мини-редактор; лимит на быстрые «+» (debounce).</a:t>
            </a:r>
          </a:p>
          <a:p>
            <a:pPr marL="370331" indent="-257175" defTabSz="370331">
              <a:lnSpc>
                <a:spcPct val="100000"/>
              </a:lnSpc>
              <a:spcBef>
                <a:spcPts val="900"/>
              </a:spcBef>
              <a:buSzPct val="123000"/>
              <a:buFont typeface="Times Roman"/>
              <a:buChar char="•"/>
              <a:defRPr sz="162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AOV не растёт</a:t>
            </a:r>
            <a:r>
              <a:t> → включить автодобор до порога free (top-3 предложений), протестировать разные делты (200/300/400 ₽).</a:t>
            </a:r>
          </a:p>
          <a:p>
            <a:pPr marL="370331" indent="-257175" defTabSz="370331">
              <a:lnSpc>
                <a:spcPct val="100000"/>
              </a:lnSpc>
              <a:spcBef>
                <a:spcPts val="900"/>
              </a:spcBef>
              <a:buSzPct val="123000"/>
              <a:buFont typeface="Times Roman"/>
              <a:buChar char="•"/>
              <a:defRPr sz="162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Маржа проседает в категории</a:t>
            </a:r>
            <a:r>
              <a:t> → таргетировать автодобор на «плюсовые» SKU, включить бандлы миссий.</a:t>
            </a:r>
          </a:p>
          <a:p>
            <a:pPr marL="370331" indent="-257175" defTabSz="370331">
              <a:lnSpc>
                <a:spcPct val="100000"/>
              </a:lnSpc>
              <a:spcBef>
                <a:spcPts val="900"/>
              </a:spcBef>
              <a:buSzPct val="123000"/>
              <a:buFont typeface="Times Roman"/>
              <a:buChar char="•"/>
              <a:defRPr sz="162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Саппорт перегружается вопросами</a:t>
            </a:r>
            <a:r>
              <a:t> → онбординг-шторка «как работает быстрый добавление», FAQ в мини-корзине.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Приложение A — Слайд A3. UX-спека: «Мост для смешанных корзин»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329184">
              <a:lnSpc>
                <a:spcPct val="100000"/>
              </a:lnSpc>
              <a:spcBef>
                <a:spcPts val="1100"/>
              </a:spcBef>
              <a:defRPr b="0" spc="0" sz="4680">
                <a:latin typeface="PP Object Sans Heavy"/>
                <a:ea typeface="PP Object Sans Heavy"/>
                <a:cs typeface="PP Object Sans Heavy"/>
                <a:sym typeface="PP Object Sans Heavy"/>
              </a:defRPr>
            </a:lvl1pPr>
          </a:lstStyle>
          <a:p>
            <a:pPr/>
            <a:r>
              <a:t>Приложение A — Слайд A3. UX-спека: «Мост для смешанных корзин»</a:t>
            </a:r>
          </a:p>
        </p:txBody>
      </p:sp>
      <p:sp>
        <p:nvSpPr>
          <p:cNvPr id="260" name="Цель (метрики): ↑ Checkout CVR (mixed) +3–5 п.п., Pay-success % — не хуже базиса, Cancel/Contact rate — не выше, CM2/order ≥ 0 в обоих потоках (Delivery и C&amp;C/Маркет).…"/>
          <p:cNvSpPr txBox="1"/>
          <p:nvPr>
            <p:ph type="body" sz="half" idx="1"/>
          </p:nvPr>
        </p:nvSpPr>
        <p:spPr>
          <a:xfrm>
            <a:off x="1030417" y="2838656"/>
            <a:ext cx="10770838" cy="11075707"/>
          </a:xfrm>
          <a:prstGeom prst="rect">
            <a:avLst/>
          </a:prstGeom>
        </p:spPr>
        <p:txBody>
          <a:bodyPr/>
          <a:lstStyle/>
          <a:p>
            <a:pPr marL="0" indent="0" defTabSz="333756">
              <a:lnSpc>
                <a:spcPct val="100000"/>
              </a:lnSpc>
              <a:spcBef>
                <a:spcPts val="800"/>
              </a:spcBef>
              <a:buSzTx/>
              <a:buNone/>
              <a:defRPr sz="584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Цель (метрики):</a:t>
            </a:r>
            <a:br/>
            <a:r>
              <a:t>↑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Checkout CVR (mixed) +3–5 п.п.</a:t>
            </a:r>
            <a:r>
              <a:t>,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Pay-success % — не хуже</a:t>
            </a:r>
            <a:r>
              <a:t> базиса,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Cancel/Contact rate — не выше</a:t>
            </a:r>
            <a:r>
              <a:t>,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CM2/order ≥ 0</a:t>
            </a:r>
            <a:r>
              <a:t> в обоих потоках (Delivery и C&amp;C/Маркет).</a:t>
            </a:r>
          </a:p>
          <a:p>
            <a:pPr marL="0" indent="0" defTabSz="333756">
              <a:lnSpc>
                <a:spcPct val="100000"/>
              </a:lnSpc>
              <a:spcBef>
                <a:spcPts val="800"/>
              </a:spcBef>
              <a:buSzTx/>
              <a:buNone/>
              <a:defRPr sz="584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Инсайт:</a:t>
            </a:r>
            <a:r>
              <a:t> боль не в платежах, а в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структуре</a:t>
            </a:r>
            <a:r>
              <a:t>. Когда в корзине смешиваются источники («Из магазина» и «Маркет»), у пользователя рушится ментальная модель: разные правила, сроки, стоимость. «Мост» явным образом разводит потоки и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сохраняет контекст</a:t>
            </a:r>
            <a:r>
              <a:t> (бонусы, метод оплаты, прогресс).</a:t>
            </a:r>
          </a:p>
          <a:p>
            <a:pPr marL="0" indent="0" defTabSz="333756">
              <a:lnSpc>
                <a:spcPct val="100000"/>
              </a:lnSpc>
              <a:spcBef>
                <a:spcPts val="0"/>
              </a:spcBef>
              <a:buSzTx/>
              <a:buNone/>
              <a:defRPr sz="584">
                <a:solidFill>
                  <a:srgbClr val="808080"/>
                </a:solidFill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</a:p>
          <a:p>
            <a:pPr marL="0" indent="0" defTabSz="333756">
              <a:lnSpc>
                <a:spcPct val="100000"/>
              </a:lnSpc>
              <a:spcBef>
                <a:spcPts val="1000"/>
              </a:spcBef>
              <a:buSzTx/>
              <a:buNone/>
              <a:defRPr sz="584">
                <a:latin typeface="PP Object Sans Heavy"/>
                <a:ea typeface="PP Object Sans Heavy"/>
                <a:cs typeface="PP Object Sans Heavy"/>
                <a:sym typeface="PP Object Sans Heavy"/>
              </a:defRPr>
            </a:pPr>
            <a:r>
              <a:t>IA &amp; флоу (MVP)</a:t>
            </a:r>
          </a:p>
          <a:p>
            <a:pPr marL="333756" indent="-231775" defTabSz="333756">
              <a:lnSpc>
                <a:spcPct val="100000"/>
              </a:lnSpc>
              <a:spcBef>
                <a:spcPts val="800"/>
              </a:spcBef>
              <a:buFont typeface="Times Roman"/>
              <a:buAutoNum type="arabicPeriod" startAt="1"/>
              <a:defRPr sz="584">
                <a:latin typeface="PP Object Sans Heavy"/>
                <a:ea typeface="PP Object Sans Heavy"/>
                <a:cs typeface="PP Object Sans Heavy"/>
                <a:sym typeface="PP Object Sans Heavy"/>
              </a:defRPr>
            </a:pPr>
            <a:r>
              <a:t>Детектор смешанной корзины</a:t>
            </a:r>
            <a:endParaRPr>
              <a:latin typeface="PP Object Sans Regular"/>
              <a:ea typeface="PP Object Sans Regular"/>
              <a:cs typeface="PP Object Sans Regular"/>
              <a:sym typeface="PP Object Sans Regular"/>
            </a:endParaRPr>
          </a:p>
          <a:p>
            <a:pPr lvl="1" marL="667512" indent="-231775" defTabSz="333756">
              <a:lnSpc>
                <a:spcPct val="100000"/>
              </a:lnSpc>
              <a:spcBef>
                <a:spcPts val="800"/>
              </a:spcBef>
              <a:buFont typeface="Times Roman"/>
              <a:buChar char="◦"/>
              <a:defRPr sz="584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t>Флаг cart_mixed = true, если в корзине есть хотя бы один товар из «Маркет» и один из «Из магазина».</a:t>
            </a:r>
          </a:p>
          <a:p>
            <a:pPr lvl="1" marL="667512" indent="-231775" defTabSz="333756">
              <a:lnSpc>
                <a:spcPct val="100000"/>
              </a:lnSpc>
              <a:spcBef>
                <a:spcPts val="800"/>
              </a:spcBef>
              <a:buFont typeface="Times Roman"/>
              <a:buChar char="◦"/>
              <a:defRPr sz="584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t>Дополнительно маркируем: market_groups = n_sellers (нужно для подсказок ETA/стоимости).</a:t>
            </a:r>
          </a:p>
          <a:p>
            <a:pPr marL="333756" indent="-231775" defTabSz="333756">
              <a:lnSpc>
                <a:spcPct val="100000"/>
              </a:lnSpc>
              <a:spcBef>
                <a:spcPts val="800"/>
              </a:spcBef>
              <a:buFont typeface="Times Roman"/>
              <a:buAutoNum type="arabicPeriod" startAt="2"/>
              <a:defRPr sz="584">
                <a:latin typeface="PP Object Sans Heavy"/>
                <a:ea typeface="PP Object Sans Heavy"/>
                <a:cs typeface="PP Object Sans Heavy"/>
                <a:sym typeface="PP Object Sans Heavy"/>
              </a:defRPr>
            </a:pPr>
            <a:r>
              <a:t>Инфо-бар на корзине</a:t>
            </a:r>
            <a:endParaRPr>
              <a:latin typeface="PP Object Sans Regular"/>
              <a:ea typeface="PP Object Sans Regular"/>
              <a:cs typeface="PP Object Sans Regular"/>
              <a:sym typeface="PP Object Sans Regular"/>
            </a:endParaRPr>
          </a:p>
          <a:p>
            <a:pPr lvl="1" marL="667512" indent="-231775" defTabSz="333756">
              <a:lnSpc>
                <a:spcPct val="100000"/>
              </a:lnSpc>
              <a:spcBef>
                <a:spcPts val="800"/>
              </a:spcBef>
              <a:buFont typeface="Times Roman"/>
              <a:buChar char="◦"/>
              <a:defRPr sz="584">
                <a:latin typeface="PP Object Sans Heavy"/>
                <a:ea typeface="PP Object Sans Heavy"/>
                <a:cs typeface="PP Object Sans Heavy"/>
                <a:sym typeface="PP Object Sans Heavy"/>
              </a:defRPr>
            </a:pPr>
            <a:r>
              <a:rPr>
                <a:latin typeface="PP Object Sans Regular"/>
                <a:ea typeface="PP Object Sans Regular"/>
                <a:cs typeface="PP Object Sans Regular"/>
                <a:sym typeface="PP Object Sans Regular"/>
              </a:rPr>
              <a:t>Текст: </a:t>
            </a:r>
            <a:r>
              <a:t>«В корзине товары из двух источников. Оформим по очереди — сначала </a:t>
            </a:r>
            <a:r>
              <a:rPr i="1"/>
              <a:t>Из магазина</a:t>
            </a:r>
            <a:r>
              <a:t>, затем </a:t>
            </a:r>
            <a:r>
              <a:rPr i="1"/>
              <a:t>Маркет</a:t>
            </a:r>
            <a:r>
              <a:t>. Стоимость и сроки отличаются.»</a:t>
            </a:r>
            <a:endParaRPr>
              <a:latin typeface="PP Object Sans Regular"/>
              <a:ea typeface="PP Object Sans Regular"/>
              <a:cs typeface="PP Object Sans Regular"/>
              <a:sym typeface="PP Object Sans Regular"/>
            </a:endParaRPr>
          </a:p>
          <a:p>
            <a:pPr lvl="1" marL="667512" indent="-231775" defTabSz="333756">
              <a:lnSpc>
                <a:spcPct val="100000"/>
              </a:lnSpc>
              <a:spcBef>
                <a:spcPts val="800"/>
              </a:spcBef>
              <a:buFont typeface="Times Roman"/>
              <a:buChar char="◦"/>
              <a:defRPr sz="584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t>CTA1: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«Оформить отдельно»</a:t>
            </a:r>
            <a:r>
              <a:t> (рекомендуемый сценарий).</a:t>
            </a:r>
          </a:p>
          <a:p>
            <a:pPr lvl="1" marL="667512" indent="-231775" defTabSz="333756">
              <a:lnSpc>
                <a:spcPct val="100000"/>
              </a:lnSpc>
              <a:spcBef>
                <a:spcPts val="800"/>
              </a:spcBef>
              <a:buFont typeface="Times Roman"/>
              <a:buChar char="◦"/>
              <a:defRPr sz="584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t>CTA2: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«Изменить корзину»</a:t>
            </a:r>
            <a:r>
              <a:t> (снять одну из групп одним тапом).</a:t>
            </a:r>
          </a:p>
          <a:p>
            <a:pPr marL="333756" indent="-231775" defTabSz="333756">
              <a:lnSpc>
                <a:spcPct val="100000"/>
              </a:lnSpc>
              <a:spcBef>
                <a:spcPts val="800"/>
              </a:spcBef>
              <a:buFont typeface="Times Roman"/>
              <a:buAutoNum type="arabicPeriod" startAt="3"/>
              <a:defRPr sz="584">
                <a:latin typeface="PP Object Sans Heavy"/>
                <a:ea typeface="PP Object Sans Heavy"/>
                <a:cs typeface="PP Object Sans Heavy"/>
                <a:sym typeface="PP Object Sans Heavy"/>
              </a:defRPr>
            </a:pPr>
            <a:r>
              <a:t>Последовательное оформление (2 шага, одна сессия)</a:t>
            </a:r>
            <a:endParaRPr>
              <a:latin typeface="PP Object Sans Regular"/>
              <a:ea typeface="PP Object Sans Regular"/>
              <a:cs typeface="PP Object Sans Regular"/>
              <a:sym typeface="PP Object Sans Regular"/>
            </a:endParaRPr>
          </a:p>
          <a:p>
            <a:pPr lvl="1" marL="667512" indent="-231775" defTabSz="333756">
              <a:lnSpc>
                <a:spcPct val="100000"/>
              </a:lnSpc>
              <a:spcBef>
                <a:spcPts val="800"/>
              </a:spcBef>
              <a:buFont typeface="Times Roman"/>
              <a:buChar char="◦"/>
              <a:defRPr sz="584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Шаг 1 — Из магазина (доставка/C&amp;C)</a:t>
            </a:r>
            <a:r>
              <a:t>: показываем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ETA/стоимость</a:t>
            </a:r>
            <a:r>
              <a:t> и бейдж источника; создаём заказ #1.</a:t>
            </a:r>
          </a:p>
          <a:p>
            <a:pPr lvl="1" marL="667512" indent="-231775" defTabSz="333756">
              <a:lnSpc>
                <a:spcPct val="100000"/>
              </a:lnSpc>
              <a:spcBef>
                <a:spcPts val="800"/>
              </a:spcBef>
              <a:buFont typeface="Times Roman"/>
              <a:buChar char="◦"/>
              <a:defRPr sz="584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Шаг 2 — Маркет</a:t>
            </a:r>
            <a:r>
              <a:t>: сохраняем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тот же метод оплаты</a:t>
            </a:r>
            <a:r>
              <a:t> (token reuse), показываем рассчитанную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стоимость/ETA</a:t>
            </a:r>
            <a:r>
              <a:t>, создаём заказ #2.</a:t>
            </a:r>
          </a:p>
          <a:p>
            <a:pPr lvl="1" marL="667512" indent="-231775" defTabSz="333756">
              <a:lnSpc>
                <a:spcPct val="100000"/>
              </a:lnSpc>
              <a:spcBef>
                <a:spcPts val="800"/>
              </a:spcBef>
              <a:buFont typeface="Times Roman"/>
              <a:buChar char="◦"/>
              <a:defRPr sz="584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Кошелёк/лояльность:</a:t>
            </a:r>
            <a:r>
              <a:t> общий прогресс бонусов/кэшбэка отображается в шапке чекаута для обоих шагов (только визуально; фактическое начисление — помодульно).</a:t>
            </a:r>
          </a:p>
          <a:p>
            <a:pPr marL="333756" indent="-231775" defTabSz="333756">
              <a:lnSpc>
                <a:spcPct val="100000"/>
              </a:lnSpc>
              <a:spcBef>
                <a:spcPts val="800"/>
              </a:spcBef>
              <a:buFont typeface="Times Roman"/>
              <a:buAutoNum type="arabicPeriod" startAt="3"/>
              <a:defRPr sz="584">
                <a:latin typeface="PP Object Sans Heavy"/>
                <a:ea typeface="PP Object Sans Heavy"/>
                <a:cs typeface="PP Object Sans Heavy"/>
                <a:sym typeface="PP Object Sans Heavy"/>
              </a:defRPr>
            </a:pPr>
            <a:r>
              <a:t>Итоговый экран</a:t>
            </a:r>
            <a:endParaRPr>
              <a:latin typeface="PP Object Sans Regular"/>
              <a:ea typeface="PP Object Sans Regular"/>
              <a:cs typeface="PP Object Sans Regular"/>
              <a:sym typeface="PP Object Sans Regular"/>
            </a:endParaRPr>
          </a:p>
          <a:p>
            <a:pPr lvl="1" marL="667512" indent="-231775" defTabSz="333756">
              <a:lnSpc>
                <a:spcPct val="100000"/>
              </a:lnSpc>
              <a:spcBef>
                <a:spcPts val="800"/>
              </a:spcBef>
              <a:buFont typeface="Times Roman"/>
              <a:buChar char="◦"/>
              <a:defRPr sz="584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t>Карточка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Заказ 1 (Из магазина)</a:t>
            </a:r>
            <a:r>
              <a:t> и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Заказ 2 (Маркет)</a:t>
            </a:r>
            <a:r>
              <a:t> с статусом «создан» и ETA.</a:t>
            </a:r>
          </a:p>
          <a:p>
            <a:pPr lvl="1" marL="667512" indent="-231775" defTabSz="333756">
              <a:lnSpc>
                <a:spcPct val="100000"/>
              </a:lnSpc>
              <a:spcBef>
                <a:spcPts val="800"/>
              </a:spcBef>
              <a:buFont typeface="Times Roman"/>
              <a:buChar char="◦"/>
              <a:defRPr sz="584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t>Кнопки: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«Отследить»</a:t>
            </a:r>
            <a:r>
              <a:t> (ведёт в соответствующий заказ) и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«Поделиться»</a:t>
            </a:r>
            <a:r>
              <a:t>.</a:t>
            </a:r>
          </a:p>
          <a:p>
            <a:pPr lvl="1" marL="667512" indent="-231775" defTabSz="333756">
              <a:lnSpc>
                <a:spcPct val="100000"/>
              </a:lnSpc>
              <a:spcBef>
                <a:spcPts val="800"/>
              </a:spcBef>
              <a:buFont typeface="Times Roman"/>
              <a:buChar char="◦"/>
              <a:defRPr sz="584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t>Суммарный чек и разложение: «Товары • Доставка • Сервисная комиссия (если есть) • Итог».</a:t>
            </a:r>
          </a:p>
          <a:p>
            <a:pPr marL="0" indent="0" defTabSz="333756">
              <a:lnSpc>
                <a:spcPct val="100000"/>
              </a:lnSpc>
              <a:spcBef>
                <a:spcPts val="0"/>
              </a:spcBef>
              <a:buSzTx/>
              <a:buNone/>
              <a:defRPr sz="584">
                <a:solidFill>
                  <a:srgbClr val="808080"/>
                </a:solidFill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</a:p>
          <a:p>
            <a:pPr marL="0" indent="0" defTabSz="333756">
              <a:lnSpc>
                <a:spcPct val="100000"/>
              </a:lnSpc>
              <a:spcBef>
                <a:spcPts val="1000"/>
              </a:spcBef>
              <a:buSzTx/>
              <a:buNone/>
              <a:defRPr sz="584">
                <a:latin typeface="PP Object Sans Heavy"/>
                <a:ea typeface="PP Object Sans Heavy"/>
                <a:cs typeface="PP Object Sans Heavy"/>
                <a:sym typeface="PP Object Sans Heavy"/>
              </a:defRPr>
            </a:pPr>
            <a:r>
              <a:t>Копирайт (готовые тексты)</a:t>
            </a:r>
          </a:p>
          <a:p>
            <a:pPr marL="333756" indent="-231775" defTabSz="333756">
              <a:lnSpc>
                <a:spcPct val="100000"/>
              </a:lnSpc>
              <a:spcBef>
                <a:spcPts val="800"/>
              </a:spcBef>
              <a:buFont typeface="Times Roman"/>
              <a:defRPr sz="584">
                <a:latin typeface="PP Object Sans Heavy"/>
                <a:ea typeface="PP Object Sans Heavy"/>
                <a:cs typeface="PP Object Sans Heavy"/>
                <a:sym typeface="PP Object Sans Heavy"/>
              </a:defRPr>
            </a:pPr>
            <a:r>
              <a:rPr>
                <a:latin typeface="PP Object Sans Regular"/>
                <a:ea typeface="PP Object Sans Regular"/>
                <a:cs typeface="PP Object Sans Regular"/>
                <a:sym typeface="PP Object Sans Regular"/>
              </a:rPr>
              <a:t>Инфо-бар: </a:t>
            </a:r>
            <a:r>
              <a:t>«В корзине товары из двух источников. Оформим по очереди — так быстрее и прозрачнее.»</a:t>
            </a:r>
            <a:endParaRPr>
              <a:latin typeface="PP Object Sans Regular"/>
              <a:ea typeface="PP Object Sans Regular"/>
              <a:cs typeface="PP Object Sans Regular"/>
              <a:sym typeface="PP Object Sans Regular"/>
            </a:endParaRPr>
          </a:p>
          <a:p>
            <a:pPr marL="333756" indent="-231775" defTabSz="333756">
              <a:lnSpc>
                <a:spcPct val="100000"/>
              </a:lnSpc>
              <a:spcBef>
                <a:spcPts val="800"/>
              </a:spcBef>
              <a:buFont typeface="Times Roman"/>
              <a:defRPr sz="584">
                <a:latin typeface="PP Object Sans Heavy"/>
                <a:ea typeface="PP Object Sans Heavy"/>
                <a:cs typeface="PP Object Sans Heavy"/>
                <a:sym typeface="PP Object Sans Heavy"/>
              </a:defRPr>
            </a:pPr>
            <a:r>
              <a:rPr>
                <a:latin typeface="PP Object Sans Regular"/>
                <a:ea typeface="PP Object Sans Regular"/>
                <a:cs typeface="PP Object Sans Regular"/>
                <a:sym typeface="PP Object Sans Regular"/>
              </a:rPr>
              <a:t>Подсказка на шаге: </a:t>
            </a:r>
            <a:r>
              <a:t>«Это заказ </a:t>
            </a:r>
            <a:r>
              <a:rPr i="1"/>
              <a:t>Из магазина</a:t>
            </a:r>
            <a:r>
              <a:t> — доставка сегодня/самовывоз. Далее оформим заказ </a:t>
            </a:r>
            <a:r>
              <a:rPr i="1"/>
              <a:t>Маркет</a:t>
            </a:r>
            <a:r>
              <a:t>.»</a:t>
            </a:r>
            <a:endParaRPr>
              <a:latin typeface="PP Object Sans Regular"/>
              <a:ea typeface="PP Object Sans Regular"/>
              <a:cs typeface="PP Object Sans Regular"/>
              <a:sym typeface="PP Object Sans Regular"/>
            </a:endParaRPr>
          </a:p>
          <a:p>
            <a:pPr marL="333756" indent="-231775" defTabSz="333756">
              <a:lnSpc>
                <a:spcPct val="100000"/>
              </a:lnSpc>
              <a:spcBef>
                <a:spcPts val="800"/>
              </a:spcBef>
              <a:buFont typeface="Times Roman"/>
              <a:defRPr sz="584">
                <a:latin typeface="PP Object Sans Heavy"/>
                <a:ea typeface="PP Object Sans Heavy"/>
                <a:cs typeface="PP Object Sans Heavy"/>
                <a:sym typeface="PP Object Sans Heavy"/>
              </a:defRPr>
            </a:pPr>
            <a:r>
              <a:rPr>
                <a:latin typeface="PP Object Sans Regular"/>
                <a:ea typeface="PP Object Sans Regular"/>
                <a:cs typeface="PP Object Sans Regular"/>
                <a:sym typeface="PP Object Sans Regular"/>
              </a:rPr>
              <a:t>Стоимость/ETA: </a:t>
            </a:r>
            <a:r>
              <a:t>«Доставка: от {fee} ₽ • Срок: {ETA}»</a:t>
            </a:r>
            <a:endParaRPr>
              <a:latin typeface="PP Object Sans Regular"/>
              <a:ea typeface="PP Object Sans Regular"/>
              <a:cs typeface="PP Object Sans Regular"/>
              <a:sym typeface="PP Object Sans Regular"/>
            </a:endParaRPr>
          </a:p>
          <a:p>
            <a:pPr marL="333756" indent="-231775" defTabSz="333756">
              <a:lnSpc>
                <a:spcPct val="100000"/>
              </a:lnSpc>
              <a:spcBef>
                <a:spcPts val="800"/>
              </a:spcBef>
              <a:buFont typeface="Times Roman"/>
              <a:defRPr sz="584">
                <a:latin typeface="PP Object Sans Heavy"/>
                <a:ea typeface="PP Object Sans Heavy"/>
                <a:cs typeface="PP Object Sans Heavy"/>
                <a:sym typeface="PP Object Sans Heavy"/>
              </a:defRPr>
            </a:pPr>
            <a:r>
              <a:rPr>
                <a:latin typeface="PP Object Sans Regular"/>
                <a:ea typeface="PP Object Sans Regular"/>
                <a:cs typeface="PP Object Sans Regular"/>
                <a:sym typeface="PP Object Sans Regular"/>
              </a:rPr>
              <a:t>Ошибка второго шага: </a:t>
            </a:r>
            <a:r>
              <a:t>«Первый заказ оформлен. Для второго обновили метод оплаты — всё под контролем.»</a:t>
            </a:r>
            <a:endParaRPr>
              <a:latin typeface="PP Object Sans Regular"/>
              <a:ea typeface="PP Object Sans Regular"/>
              <a:cs typeface="PP Object Sans Regular"/>
              <a:sym typeface="PP Object Sans Regular"/>
            </a:endParaRPr>
          </a:p>
          <a:p>
            <a:pPr marL="333756" indent="-231775" defTabSz="333756">
              <a:lnSpc>
                <a:spcPct val="100000"/>
              </a:lnSpc>
              <a:spcBef>
                <a:spcPts val="800"/>
              </a:spcBef>
              <a:buFont typeface="Times Roman"/>
              <a:defRPr sz="584">
                <a:latin typeface="PP Object Sans Heavy"/>
                <a:ea typeface="PP Object Sans Heavy"/>
                <a:cs typeface="PP Object Sans Heavy"/>
                <a:sym typeface="PP Object Sans Heavy"/>
              </a:defRPr>
            </a:pPr>
            <a:r>
              <a:rPr>
                <a:latin typeface="PP Object Sans Regular"/>
                <a:ea typeface="PP Object Sans Regular"/>
                <a:cs typeface="PP Object Sans Regular"/>
                <a:sym typeface="PP Object Sans Regular"/>
              </a:rPr>
              <a:t>Сноска про бонусы: </a:t>
            </a:r>
            <a:r>
              <a:t>«Бонусы/кэшбэк начисляются по каждому заказу отдельно.»</a:t>
            </a:r>
            <a:endParaRPr>
              <a:latin typeface="PP Object Sans Regular"/>
              <a:ea typeface="PP Object Sans Regular"/>
              <a:cs typeface="PP Object Sans Regular"/>
              <a:sym typeface="PP Object Sans Regular"/>
            </a:endParaRPr>
          </a:p>
          <a:p>
            <a:pPr marL="0" indent="0" defTabSz="333756">
              <a:lnSpc>
                <a:spcPct val="100000"/>
              </a:lnSpc>
              <a:spcBef>
                <a:spcPts val="0"/>
              </a:spcBef>
              <a:buSzTx/>
              <a:buNone/>
              <a:defRPr sz="584">
                <a:solidFill>
                  <a:srgbClr val="808080"/>
                </a:solidFill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</a:p>
          <a:p>
            <a:pPr marL="0" indent="0" defTabSz="333756">
              <a:lnSpc>
                <a:spcPct val="100000"/>
              </a:lnSpc>
              <a:spcBef>
                <a:spcPts val="1000"/>
              </a:spcBef>
              <a:buSzTx/>
              <a:buNone/>
              <a:defRPr sz="584">
                <a:latin typeface="PP Object Sans Heavy"/>
                <a:ea typeface="PP Object Sans Heavy"/>
                <a:cs typeface="PP Object Sans Heavy"/>
                <a:sym typeface="PP Object Sans Heavy"/>
              </a:defRPr>
            </a:pPr>
            <a:r>
              <a:t>Состояния и крайние случаи</a:t>
            </a:r>
          </a:p>
          <a:p>
            <a:pPr marL="333756" indent="-231775" defTabSz="333756">
              <a:lnSpc>
                <a:spcPct val="100000"/>
              </a:lnSpc>
              <a:spcBef>
                <a:spcPts val="800"/>
              </a:spcBef>
              <a:buFont typeface="Times Roman"/>
              <a:defRPr sz="584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Много продавцов в «Маркет».</a:t>
            </a:r>
            <a:br/>
            <a:r>
              <a:t>— На корзине показываем «</a:t>
            </a:r>
            <a:r>
              <a:rPr i="1"/>
              <a:t>Маркет: несколько продавцов</a:t>
            </a:r>
            <a:r>
              <a:t>»; внутри шага объединяем в один чекаут, но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честно</a:t>
            </a:r>
            <a:r>
              <a:t> пишем: «доставка может прийти частями».</a:t>
            </a:r>
          </a:p>
          <a:p>
            <a:pPr marL="333756" indent="-231775" defTabSz="333756">
              <a:lnSpc>
                <a:spcPct val="100000"/>
              </a:lnSpc>
              <a:spcBef>
                <a:spcPts val="800"/>
              </a:spcBef>
              <a:buFont typeface="Times Roman"/>
              <a:defRPr sz="584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Нет слотов/закрыт магазин для ‘Из магазина’.</a:t>
            </a:r>
            <a:br/>
            <a:r>
              <a:t>— Показываем «временно недоступно» и кнопки: «сменить адрес/время» или «оформить только Маркет».</a:t>
            </a:r>
          </a:p>
          <a:p>
            <a:pPr marL="333756" indent="-231775" defTabSz="333756">
              <a:lnSpc>
                <a:spcPct val="100000"/>
              </a:lnSpc>
              <a:spcBef>
                <a:spcPts val="800"/>
              </a:spcBef>
              <a:buFont typeface="Times Roman"/>
              <a:defRPr sz="584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OOS в одном из потоков.</a:t>
            </a:r>
            <a:br/>
            <a:r>
              <a:t>— Предлагать замену/удалить SKU без разрушения другого потока; подсветить изменения.</a:t>
            </a:r>
          </a:p>
          <a:p>
            <a:pPr marL="333756" indent="-231775" defTabSz="333756">
              <a:lnSpc>
                <a:spcPct val="100000"/>
              </a:lnSpc>
              <a:spcBef>
                <a:spcPts val="800"/>
              </a:spcBef>
              <a:buFont typeface="Times Roman"/>
              <a:defRPr sz="584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Возрастные/регуляторные товары.</a:t>
            </a:r>
            <a:br/>
            <a:r>
              <a:t>— Вынуждаем верификацию на соответствующем шаге; сохраняем прогресс другого потока.</a:t>
            </a:r>
          </a:p>
          <a:p>
            <a:pPr marL="333756" indent="-231775" defTabSz="333756">
              <a:lnSpc>
                <a:spcPct val="100000"/>
              </a:lnSpc>
              <a:spcBef>
                <a:spcPts val="800"/>
              </a:spcBef>
              <a:buFont typeface="Times Roman"/>
              <a:defRPr sz="584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Оплата второго шага</a:t>
            </a:r>
            <a:r>
              <a:t>:</a:t>
            </a:r>
            <a:br/>
            <a:r>
              <a:t>—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Token reuse:</a:t>
            </a:r>
            <a:r>
              <a:t> если сохранён СБП/Мир Pay/карта — предзаполняем; иначе мягкий повтор онбординга.</a:t>
            </a:r>
          </a:p>
          <a:p>
            <a:pPr marL="333756" indent="-231775" defTabSz="333756">
              <a:lnSpc>
                <a:spcPct val="100000"/>
              </a:lnSpc>
              <a:spcBef>
                <a:spcPts val="800"/>
              </a:spcBef>
              <a:buFont typeface="Times Roman"/>
              <a:defRPr sz="584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Тяжёлые/крупногабаритные из Маркета.</a:t>
            </a:r>
            <a:br/>
            <a:r>
              <a:t>— Бейдж «Тяжёлый товар» + честный fee/ETA; C&amp;C может быть недоступен.</a:t>
            </a:r>
          </a:p>
          <a:p>
            <a:pPr marL="0" indent="0" defTabSz="333756">
              <a:lnSpc>
                <a:spcPct val="100000"/>
              </a:lnSpc>
              <a:spcBef>
                <a:spcPts val="0"/>
              </a:spcBef>
              <a:buSzTx/>
              <a:buNone/>
              <a:defRPr sz="584">
                <a:solidFill>
                  <a:srgbClr val="808080"/>
                </a:solidFill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</a:p>
          <a:p>
            <a:pPr marL="0" indent="0" defTabSz="333756">
              <a:lnSpc>
                <a:spcPct val="100000"/>
              </a:lnSpc>
              <a:spcBef>
                <a:spcPts val="1000"/>
              </a:spcBef>
              <a:buSzTx/>
              <a:buNone/>
              <a:defRPr sz="584">
                <a:latin typeface="PP Object Sans Heavy"/>
                <a:ea typeface="PP Object Sans Heavy"/>
                <a:cs typeface="PP Object Sans Heavy"/>
                <a:sym typeface="PP Object Sans Heavy"/>
              </a:defRPr>
            </a:pPr>
            <a:r>
              <a:t>Прозрачность стоимости и сроков (fee/ETA)</a:t>
            </a:r>
          </a:p>
          <a:p>
            <a:pPr marL="333756" indent="-231775" defTabSz="333756">
              <a:lnSpc>
                <a:spcPct val="100000"/>
              </a:lnSpc>
              <a:spcBef>
                <a:spcPts val="800"/>
              </a:spcBef>
              <a:buFont typeface="Times Roman"/>
              <a:defRPr sz="584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t>В каждом шаге —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строка стоимости и ETA</a:t>
            </a:r>
            <a:r>
              <a:t> сразу под адресом/выдачей.</a:t>
            </a:r>
          </a:p>
          <a:p>
            <a:pPr marL="333756" indent="-231775" defTabSz="333756">
              <a:lnSpc>
                <a:spcPct val="100000"/>
              </a:lnSpc>
              <a:spcBef>
                <a:spcPts val="800"/>
              </a:spcBef>
              <a:buFont typeface="Times Roman"/>
              <a:defRPr sz="584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t>Для «Маркет» —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уровень продавца</a:t>
            </a:r>
            <a:r>
              <a:t>: «Продавец A — доставка {ETA_A} • {fee_A} ₽» (аккордеон по продавцам).</a:t>
            </a:r>
          </a:p>
          <a:p>
            <a:pPr marL="333756" indent="-231775" defTabSz="333756">
              <a:lnSpc>
                <a:spcPct val="100000"/>
              </a:lnSpc>
              <a:spcBef>
                <a:spcPts val="800"/>
              </a:spcBef>
              <a:buFont typeface="Times Roman"/>
              <a:defRPr sz="584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t>Мини-итоги на верхнем стеке чекаута: «Заказ 1: {sum1} ₽ • Заказ 2: {sum2} ₽».</a:t>
            </a:r>
          </a:p>
          <a:p>
            <a:pPr marL="0" indent="0" defTabSz="333756">
              <a:lnSpc>
                <a:spcPct val="100000"/>
              </a:lnSpc>
              <a:spcBef>
                <a:spcPts val="0"/>
              </a:spcBef>
              <a:buSzTx/>
              <a:buNone/>
              <a:defRPr sz="584">
                <a:solidFill>
                  <a:srgbClr val="808080"/>
                </a:solidFill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</a:p>
          <a:p>
            <a:pPr marL="0" indent="0" defTabSz="333756">
              <a:lnSpc>
                <a:spcPct val="100000"/>
              </a:lnSpc>
              <a:spcBef>
                <a:spcPts val="1000"/>
              </a:spcBef>
              <a:buSzTx/>
              <a:buNone/>
              <a:defRPr sz="584">
                <a:latin typeface="PP Object Sans Heavy"/>
                <a:ea typeface="PP Object Sans Heavy"/>
                <a:cs typeface="PP Object Sans Heavy"/>
                <a:sym typeface="PP Object Sans Heavy"/>
              </a:defRPr>
            </a:pPr>
            <a:r>
              <a:t>Инструментация (события)</a:t>
            </a:r>
          </a:p>
          <a:p>
            <a:pPr marL="315927" indent="-213946" defTabSz="333756">
              <a:lnSpc>
                <a:spcPct val="100000"/>
              </a:lnSpc>
              <a:spcBef>
                <a:spcPts val="800"/>
              </a:spcBef>
              <a:buFont typeface="Times Roman"/>
              <a:defRPr sz="584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t>cart_mixed_flag {has_store, has_market, market_groups}</a:t>
            </a:r>
          </a:p>
          <a:p>
            <a:pPr marL="333756" indent="-231775" defTabSz="333756">
              <a:lnSpc>
                <a:spcPct val="100000"/>
              </a:lnSpc>
              <a:spcBef>
                <a:spcPts val="800"/>
              </a:spcBef>
              <a:buFont typeface="Times Roman"/>
              <a:defRPr sz="584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t>mixed_info_bar_view / mixed_info_bar_dismiss</a:t>
            </a:r>
          </a:p>
          <a:p>
            <a:pPr marL="315927" indent="-213946" defTabSz="333756">
              <a:lnSpc>
                <a:spcPct val="100000"/>
              </a:lnSpc>
              <a:spcBef>
                <a:spcPts val="800"/>
              </a:spcBef>
              <a:buFont typeface="Times Roman"/>
              <a:defRPr sz="584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t>cta_split_checkout_click {order: store_first | market_first}</a:t>
            </a:r>
          </a:p>
          <a:p>
            <a:pPr marL="315927" indent="-213946" defTabSz="333756">
              <a:lnSpc>
                <a:spcPct val="100000"/>
              </a:lnSpc>
              <a:spcBef>
                <a:spcPts val="800"/>
              </a:spcBef>
              <a:buFont typeface="Times Roman"/>
              <a:defRPr sz="584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t>checkout_flow_id {flow='store'/'market', step, order_id}</a:t>
            </a:r>
          </a:p>
          <a:p>
            <a:pPr marL="333756" indent="-231775" defTabSz="333756">
              <a:lnSpc>
                <a:spcPct val="100000"/>
              </a:lnSpc>
              <a:spcBef>
                <a:spcPts val="800"/>
              </a:spcBef>
              <a:buFont typeface="Times Roman"/>
              <a:defRPr sz="584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t>payment_token_reuse {method, success}</a:t>
            </a:r>
          </a:p>
          <a:p>
            <a:pPr marL="315927" indent="-213946" defTabSz="333756">
              <a:lnSpc>
                <a:spcPct val="100000"/>
              </a:lnSpc>
              <a:spcBef>
                <a:spcPts val="800"/>
              </a:spcBef>
              <a:buFont typeface="Times Roman"/>
              <a:defRPr sz="584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t>eta_fee_shown {flow, eta, fee}</a:t>
            </a:r>
          </a:p>
          <a:p>
            <a:pPr marL="333756" indent="-231775" defTabSz="333756">
              <a:lnSpc>
                <a:spcPct val="100000"/>
              </a:lnSpc>
              <a:spcBef>
                <a:spcPts val="800"/>
              </a:spcBef>
              <a:buFont typeface="Times Roman"/>
              <a:defRPr sz="584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t>split_checkout_complete {orders:2, t_total_ms}</a:t>
            </a:r>
          </a:p>
          <a:p>
            <a:pPr marL="315927" indent="-213946" defTabSz="333756">
              <a:lnSpc>
                <a:spcPct val="100000"/>
              </a:lnSpc>
              <a:spcBef>
                <a:spcPts val="800"/>
              </a:spcBef>
              <a:buFont typeface="Times Roman"/>
              <a:defRPr sz="584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t>drop_at_mixed_cart (автоматическая метрика)</a:t>
            </a:r>
          </a:p>
          <a:p>
            <a:pPr marL="333756" indent="-231775" defTabSz="333756">
              <a:lnSpc>
                <a:spcPct val="100000"/>
              </a:lnSpc>
              <a:spcBef>
                <a:spcPts val="800"/>
              </a:spcBef>
              <a:buFont typeface="Times Roman"/>
              <a:defRPr sz="584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t>Guardrail-ивенты: pay_fail, cancel_request, contact_reason=mixed_confusion</a:t>
            </a:r>
          </a:p>
        </p:txBody>
      </p:sp>
      <p:sp>
        <p:nvSpPr>
          <p:cNvPr id="261" name="Эксперимент (H1)…"/>
          <p:cNvSpPr txBox="1"/>
          <p:nvPr/>
        </p:nvSpPr>
        <p:spPr>
          <a:xfrm>
            <a:off x="13150377" y="2838656"/>
            <a:ext cx="10770838" cy="110757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 defTabSz="416052">
              <a:lnSpc>
                <a:spcPct val="100000"/>
              </a:lnSpc>
              <a:spcBef>
                <a:spcPts val="1300"/>
              </a:spcBef>
              <a:defRPr sz="1274">
                <a:latin typeface="PP Object Sans Heavy"/>
                <a:ea typeface="PP Object Sans Heavy"/>
                <a:cs typeface="PP Object Sans Heavy"/>
                <a:sym typeface="PP Object Sans Heavy"/>
              </a:defRPr>
            </a:pPr>
            <a:r>
              <a:t>Эксперимент (H1)</a:t>
            </a:r>
          </a:p>
          <a:p>
            <a:pPr marL="416052" indent="-288925" defTabSz="416052">
              <a:lnSpc>
                <a:spcPct val="100000"/>
              </a:lnSpc>
              <a:spcBef>
                <a:spcPts val="1000"/>
              </a:spcBef>
              <a:buSzPct val="123000"/>
              <a:buFont typeface="Times Roman"/>
              <a:buChar char="•"/>
              <a:defRPr sz="1274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Дизайн:</a:t>
            </a:r>
            <a:r>
              <a:t> 50/50, 21–28 дней; (A) текущий UX; (B) «Мост» (инфо-бар + 1-клик разделение + token reuse).</a:t>
            </a:r>
          </a:p>
          <a:p>
            <a:pPr marL="416052" indent="-288925" defTabSz="416052">
              <a:lnSpc>
                <a:spcPct val="100000"/>
              </a:lnSpc>
              <a:spcBef>
                <a:spcPts val="1000"/>
              </a:spcBef>
              <a:buSzPct val="123000"/>
              <a:buFont typeface="Times Roman"/>
              <a:buChar char="•"/>
              <a:defRPr sz="1274">
                <a:latin typeface="PP Object Sans Heavy"/>
                <a:ea typeface="PP Object Sans Heavy"/>
                <a:cs typeface="PP Object Sans Heavy"/>
                <a:sym typeface="PP Object Sans Heavy"/>
              </a:defRPr>
            </a:pPr>
            <a:r>
              <a:t>Primary:</a:t>
            </a:r>
            <a:r>
              <a:rPr>
                <a:latin typeface="PP Object Sans Regular"/>
                <a:ea typeface="PP Object Sans Regular"/>
                <a:cs typeface="PP Object Sans Regular"/>
                <a:sym typeface="PP Object Sans Regular"/>
              </a:rPr>
              <a:t> </a:t>
            </a:r>
            <a:r>
              <a:t>Checkout CVR (mixed) +3–5 п.п.</a:t>
            </a:r>
            <a:endParaRPr>
              <a:latin typeface="PP Object Sans Regular"/>
              <a:ea typeface="PP Object Sans Regular"/>
              <a:cs typeface="PP Object Sans Regular"/>
              <a:sym typeface="PP Object Sans Regular"/>
            </a:endParaRPr>
          </a:p>
          <a:p>
            <a:pPr marL="416052" indent="-288925" defTabSz="416052">
              <a:lnSpc>
                <a:spcPct val="100000"/>
              </a:lnSpc>
              <a:spcBef>
                <a:spcPts val="1000"/>
              </a:spcBef>
              <a:buSzPct val="123000"/>
              <a:buFont typeface="Times Roman"/>
              <a:buChar char="•"/>
              <a:defRPr sz="1274">
                <a:latin typeface="PP Object Sans Heavy"/>
                <a:ea typeface="PP Object Sans Heavy"/>
                <a:cs typeface="PP Object Sans Heavy"/>
                <a:sym typeface="PP Object Sans Heavy"/>
              </a:defRPr>
            </a:pPr>
            <a:r>
              <a:t>Secondary/guardrails:</a:t>
            </a:r>
            <a:r>
              <a:rPr>
                <a:latin typeface="PP Object Sans Regular"/>
                <a:ea typeface="PP Object Sans Regular"/>
                <a:cs typeface="PP Object Sans Regular"/>
                <a:sym typeface="PP Object Sans Regular"/>
              </a:rPr>
              <a:t> </a:t>
            </a:r>
            <a:r>
              <a:t>Pay-success %</a:t>
            </a:r>
            <a:r>
              <a:rPr>
                <a:latin typeface="PP Object Sans Regular"/>
                <a:ea typeface="PP Object Sans Regular"/>
                <a:cs typeface="PP Object Sans Regular"/>
                <a:sym typeface="PP Object Sans Regular"/>
              </a:rPr>
              <a:t> не хуже; </a:t>
            </a:r>
            <a:r>
              <a:t>Cancel/Contact rate</a:t>
            </a:r>
            <a:r>
              <a:rPr>
                <a:latin typeface="PP Object Sans Regular"/>
                <a:ea typeface="PP Object Sans Regular"/>
                <a:cs typeface="PP Object Sans Regular"/>
                <a:sym typeface="PP Object Sans Regular"/>
              </a:rPr>
              <a:t> не выше; </a:t>
            </a:r>
            <a:r>
              <a:t>CM2/order ≥ 0</a:t>
            </a:r>
            <a:r>
              <a:rPr>
                <a:latin typeface="PP Object Sans Regular"/>
                <a:ea typeface="PP Object Sans Regular"/>
                <a:cs typeface="PP Object Sans Regular"/>
                <a:sym typeface="PP Object Sans Regular"/>
              </a:rPr>
              <a:t>; </a:t>
            </a:r>
            <a:r>
              <a:t>SRM=0</a:t>
            </a:r>
            <a:r>
              <a:rPr>
                <a:latin typeface="PP Object Sans Regular"/>
                <a:ea typeface="PP Object Sans Regular"/>
                <a:cs typeface="PP Object Sans Regular"/>
                <a:sym typeface="PP Object Sans Regular"/>
              </a:rPr>
              <a:t>.</a:t>
            </a:r>
            <a:endParaRPr>
              <a:latin typeface="PP Object Sans Regular"/>
              <a:ea typeface="PP Object Sans Regular"/>
              <a:cs typeface="PP Object Sans Regular"/>
              <a:sym typeface="PP Object Sans Regular"/>
            </a:endParaRPr>
          </a:p>
          <a:p>
            <a:pPr marL="416052" indent="-288925" defTabSz="416052">
              <a:lnSpc>
                <a:spcPct val="100000"/>
              </a:lnSpc>
              <a:spcBef>
                <a:spcPts val="1000"/>
              </a:spcBef>
              <a:buSzPct val="123000"/>
              <a:buFont typeface="Times Roman"/>
              <a:buChar char="•"/>
              <a:defRPr sz="1274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Сегменты:</a:t>
            </a:r>
            <a:r>
              <a:t> mixed vs non-mixed; способ оплаты; регионы; частота «мульти-продавцов» в Маркете.</a:t>
            </a:r>
          </a:p>
          <a:p>
            <a:pPr defTabSz="416052">
              <a:lnSpc>
                <a:spcPct val="100000"/>
              </a:lnSpc>
              <a:spcBef>
                <a:spcPts val="1000"/>
              </a:spcBef>
              <a:defRPr sz="1274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Definition of Done:</a:t>
            </a:r>
            <a:r>
              <a:t> прирост Primary ≥ MDE, guardrails ок → волновой rollout (25/50/100%).</a:t>
            </a:r>
          </a:p>
          <a:p>
            <a:pPr defTabSz="416052">
              <a:lnSpc>
                <a:spcPct val="100000"/>
              </a:lnSpc>
              <a:spcBef>
                <a:spcPts val="0"/>
              </a:spcBef>
              <a:defRPr sz="1274">
                <a:solidFill>
                  <a:srgbClr val="808080"/>
                </a:solidFill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</a:p>
          <a:p>
            <a:pPr defTabSz="416052">
              <a:lnSpc>
                <a:spcPct val="100000"/>
              </a:lnSpc>
              <a:spcBef>
                <a:spcPts val="1300"/>
              </a:spcBef>
              <a:defRPr sz="1274">
                <a:latin typeface="PP Object Sans Heavy"/>
                <a:ea typeface="PP Object Sans Heavy"/>
                <a:cs typeface="PP Object Sans Heavy"/>
                <a:sym typeface="PP Object Sans Heavy"/>
              </a:defRPr>
            </a:pPr>
            <a:r>
              <a:t>Производительность и доступность</a:t>
            </a:r>
          </a:p>
          <a:p>
            <a:pPr marL="416052" indent="-288925" defTabSz="416052">
              <a:lnSpc>
                <a:spcPct val="100000"/>
              </a:lnSpc>
              <a:spcBef>
                <a:spcPts val="1000"/>
              </a:spcBef>
              <a:buSzPct val="123000"/>
              <a:buFont typeface="Times Roman"/>
              <a:buChar char="•"/>
              <a:defRPr sz="1274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t>Переход между шагами — ≤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200 мс</a:t>
            </a:r>
            <a:r>
              <a:t> (локальное кеширование корзины).</a:t>
            </a:r>
          </a:p>
          <a:p>
            <a:pPr marL="416052" indent="-288925" defTabSz="416052">
              <a:lnSpc>
                <a:spcPct val="100000"/>
              </a:lnSpc>
              <a:spcBef>
                <a:spcPts val="1000"/>
              </a:spcBef>
              <a:buSzPct val="123000"/>
              <a:buFont typeface="Times Roman"/>
              <a:buChar char="•"/>
              <a:defRPr sz="1274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t>Отрисовка инфо-бара — мгновенно (без скачков layout).</a:t>
            </a:r>
          </a:p>
          <a:p>
            <a:pPr marL="416052" indent="-288925" defTabSz="416052">
              <a:lnSpc>
                <a:spcPct val="100000"/>
              </a:lnSpc>
              <a:spcBef>
                <a:spcPts val="1000"/>
              </a:spcBef>
              <a:buSzPct val="123000"/>
              <a:buFont typeface="Times Roman"/>
              <a:buChar char="•"/>
              <a:defRPr sz="1274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t>A11y: таб-фокус на CTA «Оформить отдельно», контраст WCAG AA; читаемые бейджи источника.</a:t>
            </a:r>
          </a:p>
          <a:p>
            <a:pPr defTabSz="416052">
              <a:lnSpc>
                <a:spcPct val="100000"/>
              </a:lnSpc>
              <a:spcBef>
                <a:spcPts val="0"/>
              </a:spcBef>
              <a:defRPr sz="1274">
                <a:solidFill>
                  <a:srgbClr val="808080"/>
                </a:solidFill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</a:p>
          <a:p>
            <a:pPr defTabSz="416052">
              <a:lnSpc>
                <a:spcPct val="100000"/>
              </a:lnSpc>
              <a:spcBef>
                <a:spcPts val="1300"/>
              </a:spcBef>
              <a:defRPr sz="1274">
                <a:latin typeface="PP Object Sans Heavy"/>
                <a:ea typeface="PP Object Sans Heavy"/>
                <a:cs typeface="PP Object Sans Heavy"/>
                <a:sym typeface="PP Object Sans Heavy"/>
              </a:defRPr>
            </a:pPr>
            <a:r>
              <a:t>Компоненты и интеграции (для инженеров)</a:t>
            </a:r>
          </a:p>
          <a:p>
            <a:pPr marL="440129" indent="-313002" defTabSz="416052">
              <a:lnSpc>
                <a:spcPct val="100000"/>
              </a:lnSpc>
              <a:spcBef>
                <a:spcPts val="1000"/>
              </a:spcBef>
              <a:buSzPct val="123000"/>
              <a:buFont typeface="Times Roman"/>
              <a:buChar char="•"/>
              <a:defRPr sz="1274">
                <a:latin typeface="PP Object Sans Heavy"/>
                <a:ea typeface="PP Object Sans Heavy"/>
                <a:cs typeface="PP Object Sans Heavy"/>
                <a:sym typeface="PP Object Sans Heavy"/>
              </a:defRPr>
            </a:pPr>
            <a:r>
              <a:rPr>
                <a:latin typeface="PP Object Sans Regular"/>
                <a:ea typeface="PP Object Sans Regular"/>
                <a:cs typeface="PP Object Sans Regular"/>
                <a:sym typeface="PP Object Sans Regular"/>
              </a:rPr>
              <a:t>UI: </a:t>
            </a:r>
            <a:r>
              <a:t>MixedCartInfoBar</a:t>
            </a:r>
            <a:r>
              <a:rPr>
                <a:latin typeface="PP Object Sans Regular"/>
                <a:ea typeface="PP Object Sans Regular"/>
                <a:cs typeface="PP Object Sans Regular"/>
                <a:sym typeface="PP Object Sans Regular"/>
              </a:rPr>
              <a:t>, </a:t>
            </a:r>
            <a:r>
              <a:t>SplitCheckoutStepper</a:t>
            </a:r>
            <a:r>
              <a:rPr>
                <a:latin typeface="PP Object Sans Regular"/>
                <a:ea typeface="PP Object Sans Regular"/>
                <a:cs typeface="PP Object Sans Regular"/>
                <a:sym typeface="PP Object Sans Regular"/>
              </a:rPr>
              <a:t>, </a:t>
            </a:r>
            <a:r>
              <a:t>OrderSummaryCard</a:t>
            </a:r>
            <a:r>
              <a:rPr>
                <a:latin typeface="PP Object Sans Regular"/>
                <a:ea typeface="PP Object Sans Regular"/>
                <a:cs typeface="PP Object Sans Regular"/>
                <a:sym typeface="PP Object Sans Regular"/>
              </a:rPr>
              <a:t>, </a:t>
            </a:r>
            <a:r>
              <a:t>EtaFeeRow</a:t>
            </a:r>
            <a:r>
              <a:rPr>
                <a:latin typeface="PP Object Sans Regular"/>
                <a:ea typeface="PP Object Sans Regular"/>
                <a:cs typeface="PP Object Sans Regular"/>
                <a:sym typeface="PP Object Sans Regular"/>
              </a:rPr>
              <a:t>.</a:t>
            </a:r>
            <a:endParaRPr>
              <a:latin typeface="PP Object Sans Regular"/>
              <a:ea typeface="PP Object Sans Regular"/>
              <a:cs typeface="PP Object Sans Regular"/>
              <a:sym typeface="PP Object Sans Regular"/>
            </a:endParaRPr>
          </a:p>
          <a:p>
            <a:pPr marL="416052" indent="-288925" defTabSz="416052">
              <a:lnSpc>
                <a:spcPct val="100000"/>
              </a:lnSpc>
              <a:spcBef>
                <a:spcPts val="1000"/>
              </a:spcBef>
              <a:buSzPct val="123000"/>
              <a:buFont typeface="Times Roman"/>
              <a:buChar char="•"/>
              <a:defRPr sz="1274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t>API:</a:t>
            </a:r>
          </a:p>
          <a:p>
            <a:pPr lvl="1" marL="832104" indent="-288925" defTabSz="416052">
              <a:lnSpc>
                <a:spcPct val="100000"/>
              </a:lnSpc>
              <a:spcBef>
                <a:spcPts val="1000"/>
              </a:spcBef>
              <a:buSzPct val="123000"/>
              <a:buFont typeface="Times Roman"/>
              <a:buChar char="◦"/>
              <a:defRPr sz="1274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t>POST /checkout/prepare?flow=store|market → возвращает eta, fee, payment_methods.</a:t>
            </a:r>
          </a:p>
          <a:p>
            <a:pPr lvl="1" marL="809879" indent="-266699" defTabSz="416052">
              <a:lnSpc>
                <a:spcPct val="100000"/>
              </a:lnSpc>
              <a:spcBef>
                <a:spcPts val="1000"/>
              </a:spcBef>
              <a:buSzPct val="123000"/>
              <a:buFont typeface="Times Roman"/>
              <a:buChar char="◦"/>
              <a:defRPr sz="1274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t>POST /orders (создание заказа #1/#2).</a:t>
            </a:r>
          </a:p>
          <a:p>
            <a:pPr lvl="1" marL="832104" indent="-288925" defTabSz="416052">
              <a:lnSpc>
                <a:spcPct val="100000"/>
              </a:lnSpc>
              <a:spcBef>
                <a:spcPts val="1000"/>
              </a:spcBef>
              <a:buSzPct val="123000"/>
              <a:buFont typeface="Times Roman"/>
              <a:buChar char="◦"/>
              <a:defRPr sz="1274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t>POST /payments/token-reuse (повтор метода).</a:t>
            </a:r>
          </a:p>
          <a:p>
            <a:pPr marL="440129" indent="-313002" defTabSz="416052">
              <a:lnSpc>
                <a:spcPct val="100000"/>
              </a:lnSpc>
              <a:spcBef>
                <a:spcPts val="1000"/>
              </a:spcBef>
              <a:buSzPct val="123000"/>
              <a:buFont typeface="Times Roman"/>
              <a:buChar char="•"/>
              <a:defRPr sz="1274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t>Флаги: feature_mixed_bridge, feature_payment_token_reuse.</a:t>
            </a:r>
          </a:p>
          <a:p>
            <a:pPr marL="416052" indent="-288925" defTabSz="416052">
              <a:lnSpc>
                <a:spcPct val="100000"/>
              </a:lnSpc>
              <a:spcBef>
                <a:spcPts val="1000"/>
              </a:spcBef>
              <a:buSzPct val="123000"/>
              <a:buFont typeface="Times Roman"/>
              <a:buChar char="•"/>
              <a:defRPr sz="1274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t>Идентичность/аналитика: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единый flow_id</a:t>
            </a:r>
            <a:r>
              <a:t> на оба заказа, склейка с user_id.</a:t>
            </a:r>
          </a:p>
          <a:p>
            <a:pPr defTabSz="416052">
              <a:lnSpc>
                <a:spcPct val="100000"/>
              </a:lnSpc>
              <a:spcBef>
                <a:spcPts val="0"/>
              </a:spcBef>
              <a:defRPr sz="1274">
                <a:solidFill>
                  <a:srgbClr val="808080"/>
                </a:solidFill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</a:p>
          <a:p>
            <a:pPr defTabSz="416052">
              <a:lnSpc>
                <a:spcPct val="100000"/>
              </a:lnSpc>
              <a:spcBef>
                <a:spcPts val="1300"/>
              </a:spcBef>
              <a:defRPr sz="1274">
                <a:latin typeface="PP Object Sans Heavy"/>
                <a:ea typeface="PP Object Sans Heavy"/>
                <a:cs typeface="PP Object Sans Heavy"/>
                <a:sym typeface="PP Object Sans Heavy"/>
              </a:defRPr>
            </a:pPr>
            <a:r>
              <a:t>Риски → меры</a:t>
            </a:r>
          </a:p>
          <a:p>
            <a:pPr marL="416052" indent="-288925" defTabSz="416052">
              <a:lnSpc>
                <a:spcPct val="100000"/>
              </a:lnSpc>
              <a:spcBef>
                <a:spcPts val="1000"/>
              </a:spcBef>
              <a:buSzPct val="123000"/>
              <a:buFont typeface="Times Roman"/>
              <a:buChar char="•"/>
              <a:defRPr sz="1274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Путаница по цене/ETA.</a:t>
            </a:r>
            <a:br/>
            <a:r>
              <a:t>— Дублируем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fee/ETA</a:t>
            </a:r>
            <a:r>
              <a:t> в каждом шаге и в итоговом экране; не скрываем сервисные сборы.</a:t>
            </a:r>
          </a:p>
          <a:p>
            <a:pPr marL="416052" indent="-288925" defTabSz="416052">
              <a:lnSpc>
                <a:spcPct val="100000"/>
              </a:lnSpc>
              <a:spcBef>
                <a:spcPts val="1000"/>
              </a:spcBef>
              <a:buSzPct val="123000"/>
              <a:buFont typeface="Times Roman"/>
              <a:buChar char="•"/>
              <a:defRPr sz="1274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Отказ на втором платеже.</a:t>
            </a:r>
            <a:br/>
            <a:r>
              <a:t>— payment_token_reuse, кэш методов, одна сессия; fallback — мягкий ре-онбординг платежа.</a:t>
            </a:r>
          </a:p>
          <a:p>
            <a:pPr marL="416052" indent="-288925" defTabSz="416052">
              <a:lnSpc>
                <a:spcPct val="100000"/>
              </a:lnSpc>
              <a:spcBef>
                <a:spcPts val="1000"/>
              </a:spcBef>
              <a:buSzPct val="123000"/>
              <a:buFont typeface="Times Roman"/>
              <a:buChar char="•"/>
              <a:defRPr sz="1274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Длинный TTV.</a:t>
            </a:r>
            <a:br/>
            <a:r>
              <a:t>— Сохраняем адрес/методы между шагами, предварительно рассчитываем fee/ETA.</a:t>
            </a:r>
          </a:p>
          <a:p>
            <a:pPr marL="416052" indent="-288925" defTabSz="416052">
              <a:lnSpc>
                <a:spcPct val="100000"/>
              </a:lnSpc>
              <a:spcBef>
                <a:spcPts val="1000"/>
              </a:spcBef>
              <a:buSzPct val="123000"/>
              <a:buFont typeface="Times Roman"/>
              <a:buChar char="•"/>
              <a:defRPr sz="1274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Экономика проседает в одном потоке.</a:t>
            </a:r>
            <a:br/>
            <a:r>
              <a:t>— Guardrail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CM2/order</a:t>
            </a:r>
            <a:r>
              <a:t>: при нарушении — авто-кап инсентивов/поднятие порога free/сужение слотов.</a:t>
            </a:r>
          </a:p>
          <a:p>
            <a:pPr defTabSz="416052">
              <a:lnSpc>
                <a:spcPct val="100000"/>
              </a:lnSpc>
              <a:spcBef>
                <a:spcPts val="0"/>
              </a:spcBef>
              <a:defRPr sz="1274">
                <a:solidFill>
                  <a:srgbClr val="808080"/>
                </a:solidFill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</a:p>
          <a:p>
            <a:pPr defTabSz="416052">
              <a:lnSpc>
                <a:spcPct val="100000"/>
              </a:lnSpc>
              <a:spcBef>
                <a:spcPts val="1300"/>
              </a:spcBef>
              <a:defRPr sz="1274">
                <a:latin typeface="PP Object Sans Heavy"/>
                <a:ea typeface="PP Object Sans Heavy"/>
                <a:cs typeface="PP Object Sans Heavy"/>
                <a:sym typeface="PP Object Sans Heavy"/>
              </a:defRPr>
            </a:pPr>
            <a:r>
              <a:t>Связь с уравнением роста</a:t>
            </a:r>
          </a:p>
          <a:p>
            <a:pPr defTabSz="416052">
              <a:lnSpc>
                <a:spcPct val="100000"/>
              </a:lnSpc>
              <a:spcBef>
                <a:spcPts val="1000"/>
              </a:spcBef>
              <a:defRPr sz="1274">
                <a:latin typeface="PP Object Sans Heavy"/>
                <a:ea typeface="PP Object Sans Heavy"/>
                <a:cs typeface="PP Object Sans Heavy"/>
                <a:sym typeface="PP Object Sans Heavy"/>
              </a:defRPr>
            </a:pPr>
            <a:r>
              <a:rPr>
                <a:latin typeface="PP Object Sans Regular"/>
                <a:ea typeface="PP Object Sans Regular"/>
                <a:cs typeface="PP Object Sans Regular"/>
                <a:sym typeface="PP Object Sans Regular"/>
              </a:rPr>
              <a:t>Слайд A3 бьёт по </a:t>
            </a:r>
            <a:r>
              <a:t>Checkout</a:t>
            </a:r>
            <a:r>
              <a:rPr>
                <a:latin typeface="PP Object Sans Regular"/>
                <a:ea typeface="PP Object Sans Regular"/>
                <a:cs typeface="PP Object Sans Regular"/>
                <a:sym typeface="PP Object Sans Regular"/>
              </a:rPr>
              <a:t> на самой уязвимой когорте — </a:t>
            </a:r>
            <a:r>
              <a:t>mixed-cart</a:t>
            </a:r>
            <a:r>
              <a:rPr>
                <a:latin typeface="PP Object Sans Regular"/>
                <a:ea typeface="PP Object Sans Regular"/>
                <a:cs typeface="PP Object Sans Regular"/>
                <a:sym typeface="PP Object Sans Regular"/>
              </a:rPr>
              <a:t>. Устраняя структурное трение, мы превращаем уже добытый </a:t>
            </a:r>
            <a:r>
              <a:t>ATC</a:t>
            </a:r>
            <a:r>
              <a:rPr>
                <a:latin typeface="PP Object Sans Regular"/>
                <a:ea typeface="PP Object Sans Regular"/>
                <a:cs typeface="PP Object Sans Regular"/>
                <a:sym typeface="PP Object Sans Regular"/>
              </a:rPr>
              <a:t> и </a:t>
            </a:r>
            <a:r>
              <a:t>карзины</a:t>
            </a:r>
            <a:r>
              <a:rPr>
                <a:latin typeface="PP Object Sans Regular"/>
                <a:ea typeface="PP Object Sans Regular"/>
                <a:cs typeface="PP Object Sans Regular"/>
                <a:sym typeface="PP Object Sans Regular"/>
              </a:rPr>
              <a:t> в оформленные </a:t>
            </a:r>
            <a:r>
              <a:t>заказы</a:t>
            </a:r>
            <a:r>
              <a:rPr>
                <a:latin typeface="PP Object Sans Regular"/>
                <a:ea typeface="PP Object Sans Regular"/>
                <a:cs typeface="PP Object Sans Regular"/>
                <a:sym typeface="PP Object Sans Regular"/>
              </a:rPr>
              <a:t> без иллюзии «единой корзины» и без хрупких правок платежей. Следующий — </a:t>
            </a:r>
            <a:r>
              <a:t>Слайд A4: UX-спека «Post-purchase прозрачность: SLA/ETA-виджет + 1-клик претензии»</a:t>
            </a:r>
            <a:r>
              <a:rPr>
                <a:latin typeface="PP Object Sans Regular"/>
                <a:ea typeface="PP Object Sans Regular"/>
                <a:cs typeface="PP Object Sans Regular"/>
                <a:sym typeface="PP Object Sans Regular"/>
              </a:rPr>
              <a:t>.</a:t>
            </a:r>
            <a:endParaRPr>
              <a:latin typeface="PP Object Sans Regular"/>
              <a:ea typeface="PP Object Sans Regular"/>
              <a:cs typeface="PP Object Sans Regular"/>
              <a:sym typeface="PP Object Sans Regular"/>
            </a:endParaR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-Приложение A — Слайд A4. UX-спека: «Post-purchase прозрачность» (SLA/ETA-виджет + 1-клик претензии)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83463">
              <a:lnSpc>
                <a:spcPct val="100000"/>
              </a:lnSpc>
              <a:spcBef>
                <a:spcPts val="900"/>
              </a:spcBef>
              <a:defRPr b="0" spc="0" sz="4030">
                <a:latin typeface="PP Object Sans Heavy"/>
                <a:ea typeface="PP Object Sans Heavy"/>
                <a:cs typeface="PP Object Sans Heavy"/>
                <a:sym typeface="PP Object Sans Heavy"/>
              </a:defRPr>
            </a:lvl1pPr>
          </a:lstStyle>
          <a:p>
            <a:pPr/>
            <a:r>
              <a:t>-Приложение A — Слайд A4. UX-спека: «Post-purchase прозрачность» (SLA/ETA-виджет + 1-клик претензии)</a:t>
            </a:r>
          </a:p>
        </p:txBody>
      </p:sp>
      <p:sp>
        <p:nvSpPr>
          <p:cNvPr id="264" name="Цель (метрики): ↑ Delivered-success +2–3 п.п., ↑ On-time +Y п.п., ↓ Contact rate −X%, ↓ медианная ошибка ETA &lt; Z мин, ↑ Repeat 30/90d +3–5 п.п. (лаг). Guardrails: NPS/CSAT не хуже, CM2/order ≥ 0, Share of negative UCM не растёт.…"/>
          <p:cNvSpPr txBox="1"/>
          <p:nvPr>
            <p:ph type="body" sz="half" idx="1"/>
          </p:nvPr>
        </p:nvSpPr>
        <p:spPr>
          <a:xfrm>
            <a:off x="1030417" y="2838656"/>
            <a:ext cx="10770838" cy="10651747"/>
          </a:xfrm>
          <a:prstGeom prst="rect">
            <a:avLst/>
          </a:prstGeom>
        </p:spPr>
        <p:txBody>
          <a:bodyPr/>
          <a:lstStyle/>
          <a:p>
            <a:pPr marL="0" indent="0" defTabSz="438911">
              <a:lnSpc>
                <a:spcPct val="100000"/>
              </a:lnSpc>
              <a:spcBef>
                <a:spcPts val="1100"/>
              </a:spcBef>
              <a:buSzTx/>
              <a:buNone/>
              <a:defRPr sz="863">
                <a:latin typeface="PP Object Sans Heavy"/>
                <a:ea typeface="PP Object Sans Heavy"/>
                <a:cs typeface="PP Object Sans Heavy"/>
                <a:sym typeface="PP Object Sans Heavy"/>
              </a:defRPr>
            </a:pPr>
            <a:r>
              <a:t>Цель (метрики):</a:t>
            </a:r>
            <a:br>
              <a:rPr>
                <a:latin typeface="PP Object Sans Regular"/>
                <a:ea typeface="PP Object Sans Regular"/>
                <a:cs typeface="PP Object Sans Regular"/>
                <a:sym typeface="PP Object Sans Regular"/>
              </a:rPr>
            </a:br>
            <a:r>
              <a:rPr>
                <a:latin typeface="PP Object Sans Regular"/>
                <a:ea typeface="PP Object Sans Regular"/>
                <a:cs typeface="PP Object Sans Regular"/>
                <a:sym typeface="PP Object Sans Regular"/>
              </a:rPr>
              <a:t>↑ </a:t>
            </a:r>
            <a:r>
              <a:t>Delivered-success +2–3 п.п.</a:t>
            </a:r>
            <a:r>
              <a:rPr>
                <a:latin typeface="PP Object Sans Regular"/>
                <a:ea typeface="PP Object Sans Regular"/>
                <a:cs typeface="PP Object Sans Regular"/>
                <a:sym typeface="PP Object Sans Regular"/>
              </a:rPr>
              <a:t>, ↑ </a:t>
            </a:r>
            <a:r>
              <a:t>On-time +Y п.п.</a:t>
            </a:r>
            <a:r>
              <a:rPr>
                <a:latin typeface="PP Object Sans Regular"/>
                <a:ea typeface="PP Object Sans Regular"/>
                <a:cs typeface="PP Object Sans Regular"/>
                <a:sym typeface="PP Object Sans Regular"/>
              </a:rPr>
              <a:t>, ↓ </a:t>
            </a:r>
            <a:r>
              <a:t>Contact rate −X%</a:t>
            </a:r>
            <a:r>
              <a:rPr>
                <a:latin typeface="PP Object Sans Regular"/>
                <a:ea typeface="PP Object Sans Regular"/>
                <a:cs typeface="PP Object Sans Regular"/>
                <a:sym typeface="PP Object Sans Regular"/>
              </a:rPr>
              <a:t>, ↓ медианная ошибка </a:t>
            </a:r>
            <a:r>
              <a:t>ETA &lt; Z мин</a:t>
            </a:r>
            <a:r>
              <a:rPr>
                <a:latin typeface="PP Object Sans Regular"/>
                <a:ea typeface="PP Object Sans Regular"/>
                <a:cs typeface="PP Object Sans Regular"/>
                <a:sym typeface="PP Object Sans Regular"/>
              </a:rPr>
              <a:t>, ↑ </a:t>
            </a:r>
            <a:r>
              <a:t>Repeat 30/90d +3–5 п.п.</a:t>
            </a:r>
            <a:r>
              <a:rPr>
                <a:latin typeface="PP Object Sans Regular"/>
                <a:ea typeface="PP Object Sans Regular"/>
                <a:cs typeface="PP Object Sans Regular"/>
                <a:sym typeface="PP Object Sans Regular"/>
              </a:rPr>
              <a:t> (лаг). Guardrails: </a:t>
            </a:r>
            <a:r>
              <a:t>NPS/CSAT не хуже</a:t>
            </a:r>
            <a:r>
              <a:rPr>
                <a:latin typeface="PP Object Sans Regular"/>
                <a:ea typeface="PP Object Sans Regular"/>
                <a:cs typeface="PP Object Sans Regular"/>
                <a:sym typeface="PP Object Sans Regular"/>
              </a:rPr>
              <a:t>, </a:t>
            </a:r>
            <a:r>
              <a:t>CM2/order ≥ 0</a:t>
            </a:r>
            <a:r>
              <a:rPr>
                <a:latin typeface="PP Object Sans Regular"/>
                <a:ea typeface="PP Object Sans Regular"/>
                <a:cs typeface="PP Object Sans Regular"/>
                <a:sym typeface="PP Object Sans Regular"/>
              </a:rPr>
              <a:t>, </a:t>
            </a:r>
            <a:r>
              <a:t>Share of negative UCM</a:t>
            </a:r>
            <a:r>
              <a:rPr>
                <a:latin typeface="PP Object Sans Regular"/>
                <a:ea typeface="PP Object Sans Regular"/>
                <a:cs typeface="PP Object Sans Regular"/>
                <a:sym typeface="PP Object Sans Regular"/>
              </a:rPr>
              <a:t> не растёт.</a:t>
            </a:r>
            <a:endParaRPr>
              <a:latin typeface="PP Object Sans Regular"/>
              <a:ea typeface="PP Object Sans Regular"/>
              <a:cs typeface="PP Object Sans Regular"/>
              <a:sym typeface="PP Object Sans Regular"/>
            </a:endParaRPr>
          </a:p>
          <a:p>
            <a:pPr marL="0" indent="0" defTabSz="438911">
              <a:lnSpc>
                <a:spcPct val="100000"/>
              </a:lnSpc>
              <a:spcBef>
                <a:spcPts val="1100"/>
              </a:spcBef>
              <a:buSzTx/>
              <a:buNone/>
              <a:defRPr sz="863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Инсайт:</a:t>
            </a:r>
            <a:r>
              <a:t> после оплаты пользователю важны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предсказуемость</a:t>
            </a:r>
            <a:r>
              <a:t> (ETA, статусы) и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контроль</a:t>
            </a:r>
            <a:r>
              <a:t> (самообслуживание претензий). Прозрачность снижает обращения и удерживает повтор, а структурированные претензии уменьшают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ExpReturns</a:t>
            </a:r>
            <a:r>
              <a:t> в юнит-экономике.</a:t>
            </a:r>
          </a:p>
          <a:p>
            <a:pPr marL="0" indent="0" defTabSz="438911">
              <a:lnSpc>
                <a:spcPct val="100000"/>
              </a:lnSpc>
              <a:spcBef>
                <a:spcPts val="0"/>
              </a:spcBef>
              <a:buSzTx/>
              <a:buNone/>
              <a:defRPr sz="863">
                <a:solidFill>
                  <a:srgbClr val="808080"/>
                </a:solidFill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</a:p>
          <a:p>
            <a:pPr marL="0" indent="0" defTabSz="438911">
              <a:lnSpc>
                <a:spcPct val="100000"/>
              </a:lnSpc>
              <a:spcBef>
                <a:spcPts val="1400"/>
              </a:spcBef>
              <a:buSzTx/>
              <a:buNone/>
              <a:defRPr sz="863">
                <a:latin typeface="PP Object Sans Heavy"/>
                <a:ea typeface="PP Object Sans Heavy"/>
                <a:cs typeface="PP Object Sans Heavy"/>
                <a:sym typeface="PP Object Sans Heavy"/>
              </a:defRPr>
            </a:pPr>
            <a:r>
              <a:t>IA &amp; флоу (MVP)</a:t>
            </a:r>
          </a:p>
          <a:p>
            <a:pPr marL="438911" indent="-304800" defTabSz="438911">
              <a:lnSpc>
                <a:spcPct val="100000"/>
              </a:lnSpc>
              <a:spcBef>
                <a:spcPts val="1100"/>
              </a:spcBef>
              <a:buFont typeface="Times Roman"/>
              <a:buAutoNum type="arabicPeriod" startAt="1"/>
              <a:defRPr sz="863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Экран заказа — «линией времени»</a:t>
            </a:r>
            <a:br/>
            <a:r>
              <a:t>Статусы: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Создан → В сборке → В пути / Готов к выдаче (C&amp;C) → Доставлен/Выдан</a:t>
            </a:r>
            <a:r>
              <a:t>.</a:t>
            </a:r>
            <a:br/>
            <a:r>
              <a:t>Для Маркета — группируем по продавцам (аккордеон), у каждого — собственные ETA/стоимость.</a:t>
            </a:r>
          </a:p>
          <a:p>
            <a:pPr marL="438911" indent="-304800" defTabSz="438911">
              <a:lnSpc>
                <a:spcPct val="100000"/>
              </a:lnSpc>
              <a:spcBef>
                <a:spcPts val="1100"/>
              </a:spcBef>
              <a:buFont typeface="Times Roman"/>
              <a:buAutoNum type="arabicPeriod" startAt="1"/>
              <a:defRPr sz="863">
                <a:latin typeface="PP Object Sans Heavy"/>
                <a:ea typeface="PP Object Sans Heavy"/>
                <a:cs typeface="PP Object Sans Heavy"/>
                <a:sym typeface="PP Object Sans Heavy"/>
              </a:defRPr>
            </a:pPr>
            <a:r>
              <a:t>SLA/ETA-виджет (над линией)</a:t>
            </a:r>
            <a:endParaRPr>
              <a:latin typeface="PP Object Sans Regular"/>
              <a:ea typeface="PP Object Sans Regular"/>
              <a:cs typeface="PP Object Sans Regular"/>
              <a:sym typeface="PP Object Sans Regular"/>
            </a:endParaRPr>
          </a:p>
          <a:p>
            <a:pPr lvl="1" marL="877823" indent="-304800" defTabSz="438911">
              <a:lnSpc>
                <a:spcPct val="100000"/>
              </a:lnSpc>
              <a:spcBef>
                <a:spcPts val="1100"/>
              </a:spcBef>
              <a:buFont typeface="Times Roman"/>
              <a:buChar char="◦"/>
              <a:defRPr sz="863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ETA</a:t>
            </a:r>
            <a:r>
              <a:t> c доверительным интервалом (например, «18:40 ±15 мин»).</a:t>
            </a:r>
          </a:p>
          <a:p>
            <a:pPr lvl="1" marL="877823" indent="-304800" defTabSz="438911">
              <a:lnSpc>
                <a:spcPct val="100000"/>
              </a:lnSpc>
              <a:spcBef>
                <a:spcPts val="1100"/>
              </a:spcBef>
              <a:buFont typeface="Times Roman"/>
              <a:buChar char="◦"/>
              <a:defRPr sz="863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Цветовая индикация риска</a:t>
            </a:r>
            <a:r>
              <a:t> (зелёный/жёлтый/красный) + «почему» (погода/пиковая нагрузка/пробки).</a:t>
            </a:r>
          </a:p>
          <a:p>
            <a:pPr lvl="1" marL="877823" indent="-304800" defTabSz="438911">
              <a:lnSpc>
                <a:spcPct val="100000"/>
              </a:lnSpc>
              <a:spcBef>
                <a:spcPts val="1100"/>
              </a:spcBef>
              <a:buFont typeface="Times Roman"/>
              <a:buChar char="◦"/>
              <a:defRPr sz="863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t>Блок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стоимости</a:t>
            </a:r>
            <a:r>
              <a:t>: «Доставка: {fee} ₽ / C&amp;C — бесплатно».</a:t>
            </a:r>
          </a:p>
          <a:p>
            <a:pPr marL="438911" indent="-304800" defTabSz="438911">
              <a:lnSpc>
                <a:spcPct val="100000"/>
              </a:lnSpc>
              <a:spcBef>
                <a:spcPts val="1100"/>
              </a:spcBef>
              <a:buFont typeface="Times Roman"/>
              <a:buAutoNum type="arabicPeriod" startAt="3"/>
              <a:defRPr sz="863">
                <a:latin typeface="PP Object Sans Heavy"/>
                <a:ea typeface="PP Object Sans Heavy"/>
                <a:cs typeface="PP Object Sans Heavy"/>
                <a:sym typeface="PP Object Sans Heavy"/>
              </a:defRPr>
            </a:pPr>
            <a:r>
              <a:t>Проактивные события</a:t>
            </a:r>
            <a:endParaRPr>
              <a:latin typeface="PP Object Sans Regular"/>
              <a:ea typeface="PP Object Sans Regular"/>
              <a:cs typeface="PP Object Sans Regular"/>
              <a:sym typeface="PP Object Sans Regular"/>
            </a:endParaRPr>
          </a:p>
          <a:p>
            <a:pPr lvl="1" marL="877823" indent="-304800" defTabSz="438911">
              <a:lnSpc>
                <a:spcPct val="100000"/>
              </a:lnSpc>
              <a:spcBef>
                <a:spcPts val="1100"/>
              </a:spcBef>
              <a:buFont typeface="Times Roman"/>
              <a:buChar char="◦"/>
              <a:defRPr sz="863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Риск задержки</a:t>
            </a:r>
            <a:r>
              <a:t> (&gt;Δ мин): пуш «Задержка на {Δ} мин». Кнопки: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Перенести слот</a:t>
            </a:r>
            <a:r>
              <a:t>,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Отменить с компенсацией cap</a:t>
            </a:r>
            <a:r>
              <a:t>,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Связаться</a:t>
            </a:r>
            <a:r>
              <a:t>.</a:t>
            </a:r>
          </a:p>
          <a:p>
            <a:pPr lvl="1" marL="877823" indent="-304800" defTabSz="438911">
              <a:lnSpc>
                <a:spcPct val="100000"/>
              </a:lnSpc>
              <a:spcBef>
                <a:spcPts val="1100"/>
              </a:spcBef>
              <a:buFont typeface="Times Roman"/>
              <a:buChar char="◦"/>
              <a:defRPr sz="863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Готово к выдаче (C&amp;C)</a:t>
            </a:r>
            <a:r>
              <a:t>: пуш +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QR/ПИН</a:t>
            </a:r>
            <a:r>
              <a:t>, часы магазина и ориентир очереди.</a:t>
            </a:r>
          </a:p>
          <a:p>
            <a:pPr marL="438911" indent="-304800" defTabSz="438911">
              <a:lnSpc>
                <a:spcPct val="100000"/>
              </a:lnSpc>
              <a:spcBef>
                <a:spcPts val="1100"/>
              </a:spcBef>
              <a:buFont typeface="Times Roman"/>
              <a:buAutoNum type="arabicPeriod" startAt="4"/>
              <a:defRPr sz="863">
                <a:latin typeface="PP Object Sans Heavy"/>
                <a:ea typeface="PP Object Sans Heavy"/>
                <a:cs typeface="PP Object Sans Heavy"/>
                <a:sym typeface="PP Object Sans Heavy"/>
              </a:defRPr>
            </a:pPr>
            <a:r>
              <a:t>Претензия в 1 клик (самообслуживание)</a:t>
            </a:r>
            <a:endParaRPr>
              <a:latin typeface="PP Object Sans Regular"/>
              <a:ea typeface="PP Object Sans Regular"/>
              <a:cs typeface="PP Object Sans Regular"/>
              <a:sym typeface="PP Object Sans Regular"/>
            </a:endParaRPr>
          </a:p>
          <a:p>
            <a:pPr lvl="1" marL="877823" indent="-304800" defTabSz="438911">
              <a:lnSpc>
                <a:spcPct val="100000"/>
              </a:lnSpc>
              <a:spcBef>
                <a:spcPts val="1100"/>
              </a:spcBef>
              <a:buFont typeface="Times Roman"/>
              <a:buChar char="◦"/>
              <a:defRPr sz="863">
                <a:latin typeface="PP Object Sans Heavy"/>
                <a:ea typeface="PP Object Sans Heavy"/>
                <a:cs typeface="PP Object Sans Heavy"/>
                <a:sym typeface="PP Object Sans Heavy"/>
              </a:defRPr>
            </a:pPr>
            <a:r>
              <a:rPr>
                <a:latin typeface="PP Object Sans Regular"/>
                <a:ea typeface="PP Object Sans Regular"/>
                <a:cs typeface="PP Object Sans Regular"/>
                <a:sym typeface="PP Object Sans Regular"/>
              </a:rPr>
              <a:t>Кнопка </a:t>
            </a:r>
            <a:r>
              <a:t>«Сообщить о проблеме»</a:t>
            </a:r>
            <a:r>
              <a:rPr>
                <a:latin typeface="PP Object Sans Regular"/>
                <a:ea typeface="PP Object Sans Regular"/>
                <a:cs typeface="PP Object Sans Regular"/>
                <a:sym typeface="PP Object Sans Regular"/>
              </a:rPr>
              <a:t> на карточке заказа.</a:t>
            </a:r>
            <a:endParaRPr>
              <a:latin typeface="PP Object Sans Regular"/>
              <a:ea typeface="PP Object Sans Regular"/>
              <a:cs typeface="PP Object Sans Regular"/>
              <a:sym typeface="PP Object Sans Regular"/>
            </a:endParaRPr>
          </a:p>
          <a:p>
            <a:pPr lvl="1" marL="877823" indent="-304800" defTabSz="438911">
              <a:lnSpc>
                <a:spcPct val="100000"/>
              </a:lnSpc>
              <a:spcBef>
                <a:spcPts val="1100"/>
              </a:spcBef>
              <a:buFont typeface="Times Roman"/>
              <a:buChar char="◦"/>
              <a:defRPr sz="863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t>Типы: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Недовложение</a:t>
            </a:r>
            <a:r>
              <a:t>,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Повреждение</a:t>
            </a:r>
            <a:r>
              <a:t>,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Не то</a:t>
            </a:r>
            <a:r>
              <a:t> (ошибочная сборка),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Задержка &gt;N ч</a:t>
            </a:r>
            <a:r>
              <a:t>,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Качество</a:t>
            </a:r>
            <a:r>
              <a:t> (FMCG),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Иное</a:t>
            </a:r>
            <a:r>
              <a:t>.</a:t>
            </a:r>
          </a:p>
          <a:p>
            <a:pPr lvl="1" marL="877823" indent="-304800" defTabSz="438911">
              <a:lnSpc>
                <a:spcPct val="100000"/>
              </a:lnSpc>
              <a:spcBef>
                <a:spcPts val="1100"/>
              </a:spcBef>
              <a:buFont typeface="Times Roman"/>
              <a:buChar char="◦"/>
              <a:defRPr sz="863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t>Для первых трёх —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guided-flow</a:t>
            </a:r>
            <a:r>
              <a:t>: выбрать позицию → количество → фото (необязательно) → подтверждение.</a:t>
            </a:r>
          </a:p>
          <a:p>
            <a:pPr lvl="1" marL="877823" indent="-304800" defTabSz="438911">
              <a:lnSpc>
                <a:spcPct val="100000"/>
              </a:lnSpc>
              <a:spcBef>
                <a:spcPts val="1100"/>
              </a:spcBef>
              <a:buFont typeface="Times Roman"/>
              <a:buChar char="◦"/>
              <a:defRPr sz="863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Авто-решение (rules):</a:t>
            </a:r>
            <a:r>
              <a:t> недовложение ≤K ₽ → мгновенный возврат, задержка &gt;N ч → фиксированная компенсация cap (без «перелива» скидок). Остальное — в CX c SLA.</a:t>
            </a:r>
          </a:p>
          <a:p>
            <a:pPr marL="438911" indent="-304800" defTabSz="438911">
              <a:lnSpc>
                <a:spcPct val="100000"/>
              </a:lnSpc>
              <a:spcBef>
                <a:spcPts val="1100"/>
              </a:spcBef>
              <a:buFont typeface="Times Roman"/>
              <a:buAutoNum type="arabicPeriod" startAt="4"/>
              <a:defRPr sz="863">
                <a:latin typeface="PP Object Sans Heavy"/>
                <a:ea typeface="PP Object Sans Heavy"/>
                <a:cs typeface="PP Object Sans Heavy"/>
                <a:sym typeface="PP Object Sans Heavy"/>
              </a:defRPr>
            </a:pPr>
            <a:r>
              <a:t>Трекер претензии</a:t>
            </a:r>
            <a:endParaRPr>
              <a:latin typeface="PP Object Sans Regular"/>
              <a:ea typeface="PP Object Sans Regular"/>
              <a:cs typeface="PP Object Sans Regular"/>
              <a:sym typeface="PP Object Sans Regular"/>
            </a:endParaRPr>
          </a:p>
          <a:p>
            <a:pPr lvl="1" marL="877823" indent="-304800" defTabSz="438911">
              <a:lnSpc>
                <a:spcPct val="100000"/>
              </a:lnSpc>
              <a:spcBef>
                <a:spcPts val="1100"/>
              </a:spcBef>
              <a:buFont typeface="Times Roman"/>
              <a:buChar char="◦"/>
              <a:defRPr sz="863">
                <a:latin typeface="PP Object Sans Heavy"/>
                <a:ea typeface="PP Object Sans Heavy"/>
                <a:cs typeface="PP Object Sans Heavy"/>
                <a:sym typeface="PP Object Sans Heavy"/>
              </a:defRPr>
            </a:pPr>
            <a:r>
              <a:rPr>
                <a:latin typeface="PP Object Sans Regular"/>
                <a:ea typeface="PP Object Sans Regular"/>
                <a:cs typeface="PP Object Sans Regular"/>
                <a:sym typeface="PP Object Sans Regular"/>
              </a:rPr>
              <a:t>Статусы: </a:t>
            </a:r>
            <a:r>
              <a:t>Принято → На проверке → Решено</a:t>
            </a:r>
            <a:r>
              <a:rPr>
                <a:latin typeface="PP Object Sans Regular"/>
                <a:ea typeface="PP Object Sans Regular"/>
                <a:cs typeface="PP Object Sans Regular"/>
                <a:sym typeface="PP Object Sans Regular"/>
              </a:rPr>
              <a:t> (+ ETA решения).</a:t>
            </a:r>
            <a:endParaRPr>
              <a:latin typeface="PP Object Sans Regular"/>
              <a:ea typeface="PP Object Sans Regular"/>
              <a:cs typeface="PP Object Sans Regular"/>
              <a:sym typeface="PP Object Sans Regular"/>
            </a:endParaRPr>
          </a:p>
          <a:p>
            <a:pPr lvl="1" marL="877823" indent="-304800" defTabSz="438911">
              <a:lnSpc>
                <a:spcPct val="100000"/>
              </a:lnSpc>
              <a:spcBef>
                <a:spcPts val="1100"/>
              </a:spcBef>
              <a:buFont typeface="Times Roman"/>
              <a:buChar char="◦"/>
              <a:defRPr sz="863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t>Видно способ и срок выплаты (карта/СБП: «до 1 раб. дня», бонус/кэшбэк — сразу).</a:t>
            </a:r>
          </a:p>
          <a:p>
            <a:pPr marL="438911" indent="-304800" defTabSz="438911">
              <a:lnSpc>
                <a:spcPct val="100000"/>
              </a:lnSpc>
              <a:spcBef>
                <a:spcPts val="1100"/>
              </a:spcBef>
              <a:buFont typeface="Times Roman"/>
              <a:buAutoNum type="arabicPeriod" startAt="6"/>
              <a:defRPr sz="863">
                <a:latin typeface="PP Object Sans Heavy"/>
                <a:ea typeface="PP Object Sans Heavy"/>
                <a:cs typeface="PP Object Sans Heavy"/>
                <a:sym typeface="PP Object Sans Heavy"/>
              </a:defRPr>
            </a:pPr>
            <a:r>
              <a:t>Финал</a:t>
            </a:r>
            <a:endParaRPr>
              <a:latin typeface="PP Object Sans Regular"/>
              <a:ea typeface="PP Object Sans Regular"/>
              <a:cs typeface="PP Object Sans Regular"/>
              <a:sym typeface="PP Object Sans Regular"/>
            </a:endParaRPr>
          </a:p>
          <a:p>
            <a:pPr lvl="1" marL="877823" indent="-304800" defTabSz="438911">
              <a:lnSpc>
                <a:spcPct val="100000"/>
              </a:lnSpc>
              <a:spcBef>
                <a:spcPts val="1100"/>
              </a:spcBef>
              <a:buFont typeface="Times Roman"/>
              <a:buChar char="◦"/>
              <a:defRPr sz="863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«Оценить доставку»</a:t>
            </a:r>
            <a:r>
              <a:t> (NPS/CSAT) + «Купить снова» (из истории заказа, 1-тап).</a:t>
            </a:r>
          </a:p>
          <a:p>
            <a:pPr marL="0" indent="0" defTabSz="438911">
              <a:lnSpc>
                <a:spcPct val="100000"/>
              </a:lnSpc>
              <a:spcBef>
                <a:spcPts val="0"/>
              </a:spcBef>
              <a:buSzTx/>
              <a:buNone/>
              <a:defRPr sz="863">
                <a:solidFill>
                  <a:srgbClr val="808080"/>
                </a:solidFill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</a:p>
          <a:p>
            <a:pPr marL="0" indent="0" defTabSz="438911">
              <a:lnSpc>
                <a:spcPct val="100000"/>
              </a:lnSpc>
              <a:spcBef>
                <a:spcPts val="1400"/>
              </a:spcBef>
              <a:buSzTx/>
              <a:buNone/>
              <a:defRPr sz="863">
                <a:latin typeface="PP Object Sans Heavy"/>
                <a:ea typeface="PP Object Sans Heavy"/>
                <a:cs typeface="PP Object Sans Heavy"/>
                <a:sym typeface="PP Object Sans Heavy"/>
              </a:defRPr>
            </a:pPr>
            <a:r>
              <a:t>Копирайт (готовые тексты)</a:t>
            </a:r>
          </a:p>
          <a:p>
            <a:pPr marL="438911" indent="-304800" defTabSz="438911">
              <a:lnSpc>
                <a:spcPct val="100000"/>
              </a:lnSpc>
              <a:spcBef>
                <a:spcPts val="1100"/>
              </a:spcBef>
              <a:buFont typeface="Times Roman"/>
              <a:defRPr sz="863">
                <a:latin typeface="PP Object Sans Heavy"/>
                <a:ea typeface="PP Object Sans Heavy"/>
                <a:cs typeface="PP Object Sans Heavy"/>
                <a:sym typeface="PP Object Sans Heavy"/>
              </a:defRPr>
            </a:pPr>
            <a:r>
              <a:rPr>
                <a:latin typeface="PP Object Sans Regular"/>
                <a:ea typeface="PP Object Sans Regular"/>
                <a:cs typeface="PP Object Sans Regular"/>
                <a:sym typeface="PP Object Sans Regular"/>
              </a:rPr>
              <a:t>ETA-виджет: </a:t>
            </a:r>
            <a:r>
              <a:t>«Прибудет ~ в {ETA} (±{band} мин)»</a:t>
            </a:r>
            <a:r>
              <a:rPr>
                <a:latin typeface="PP Object Sans Regular"/>
                <a:ea typeface="PP Object Sans Regular"/>
                <a:cs typeface="PP Object Sans Regular"/>
                <a:sym typeface="PP Object Sans Regular"/>
              </a:rPr>
              <a:t> • </a:t>
            </a:r>
            <a:r>
              <a:rPr i="1">
                <a:latin typeface="PP Object Sans Regular"/>
                <a:ea typeface="PP Object Sans Regular"/>
                <a:cs typeface="PP Object Sans Regular"/>
                <a:sym typeface="PP Object Sans Regular"/>
              </a:rPr>
              <a:t>Почему?</a:t>
            </a:r>
            <a:endParaRPr>
              <a:latin typeface="PP Object Sans Regular"/>
              <a:ea typeface="PP Object Sans Regular"/>
              <a:cs typeface="PP Object Sans Regular"/>
              <a:sym typeface="PP Object Sans Regular"/>
            </a:endParaRPr>
          </a:p>
          <a:p>
            <a:pPr marL="438911" indent="-304800" defTabSz="438911">
              <a:lnSpc>
                <a:spcPct val="100000"/>
              </a:lnSpc>
              <a:spcBef>
                <a:spcPts val="1100"/>
              </a:spcBef>
              <a:buFont typeface="Times Roman"/>
              <a:defRPr sz="863">
                <a:latin typeface="PP Object Sans Heavy"/>
                <a:ea typeface="PP Object Sans Heavy"/>
                <a:cs typeface="PP Object Sans Heavy"/>
                <a:sym typeface="PP Object Sans Heavy"/>
              </a:defRPr>
            </a:pPr>
            <a:r>
              <a:rPr>
                <a:latin typeface="PP Object Sans Regular"/>
                <a:ea typeface="PP Object Sans Regular"/>
                <a:cs typeface="PP Object Sans Regular"/>
                <a:sym typeface="PP Object Sans Regular"/>
              </a:rPr>
              <a:t>Риск-пуш: </a:t>
            </a:r>
            <a:r>
              <a:t>«Задержка ~{Δ} мин. Можно перенести или отменить с компенсацией»</a:t>
            </a:r>
            <a:r>
              <a:rPr>
                <a:latin typeface="PP Object Sans Regular"/>
                <a:ea typeface="PP Object Sans Regular"/>
                <a:cs typeface="PP Object Sans Regular"/>
                <a:sym typeface="PP Object Sans Regular"/>
              </a:rPr>
              <a:t> • </a:t>
            </a:r>
            <a:r>
              <a:rPr i="1">
                <a:latin typeface="PP Object Sans Regular"/>
                <a:ea typeface="PP Object Sans Regular"/>
                <a:cs typeface="PP Object Sans Regular"/>
                <a:sym typeface="PP Object Sans Regular"/>
              </a:rPr>
              <a:t>Перенести слот</a:t>
            </a:r>
            <a:r>
              <a:rPr>
                <a:latin typeface="PP Object Sans Regular"/>
                <a:ea typeface="PP Object Sans Regular"/>
                <a:cs typeface="PP Object Sans Regular"/>
                <a:sym typeface="PP Object Sans Regular"/>
              </a:rPr>
              <a:t> / </a:t>
            </a:r>
            <a:r>
              <a:rPr i="1">
                <a:latin typeface="PP Object Sans Regular"/>
                <a:ea typeface="PP Object Sans Regular"/>
                <a:cs typeface="PP Object Sans Regular"/>
                <a:sym typeface="PP Object Sans Regular"/>
              </a:rPr>
              <a:t>Отменить</a:t>
            </a:r>
            <a:endParaRPr>
              <a:latin typeface="PP Object Sans Regular"/>
              <a:ea typeface="PP Object Sans Regular"/>
              <a:cs typeface="PP Object Sans Regular"/>
              <a:sym typeface="PP Object Sans Regular"/>
            </a:endParaRPr>
          </a:p>
          <a:p>
            <a:pPr marL="438911" indent="-304800" defTabSz="438911">
              <a:lnSpc>
                <a:spcPct val="100000"/>
              </a:lnSpc>
              <a:spcBef>
                <a:spcPts val="1100"/>
              </a:spcBef>
              <a:buFont typeface="Times Roman"/>
              <a:defRPr sz="863">
                <a:latin typeface="PP Object Sans Heavy"/>
                <a:ea typeface="PP Object Sans Heavy"/>
                <a:cs typeface="PP Object Sans Heavy"/>
                <a:sym typeface="PP Object Sans Heavy"/>
              </a:defRPr>
            </a:pPr>
            <a:r>
              <a:rPr>
                <a:latin typeface="PP Object Sans Regular"/>
                <a:ea typeface="PP Object Sans Regular"/>
                <a:cs typeface="PP Object Sans Regular"/>
                <a:sym typeface="PP Object Sans Regular"/>
              </a:rPr>
              <a:t>C&amp;C: </a:t>
            </a:r>
            <a:r>
              <a:t>«Заказ готов к выдаче. Код {PIN} • Пункт на карте • Часы работы»</a:t>
            </a:r>
            <a:endParaRPr>
              <a:latin typeface="PP Object Sans Regular"/>
              <a:ea typeface="PP Object Sans Regular"/>
              <a:cs typeface="PP Object Sans Regular"/>
              <a:sym typeface="PP Object Sans Regular"/>
            </a:endParaRPr>
          </a:p>
          <a:p>
            <a:pPr marL="438911" indent="-304800" defTabSz="438911">
              <a:lnSpc>
                <a:spcPct val="100000"/>
              </a:lnSpc>
              <a:spcBef>
                <a:spcPts val="1100"/>
              </a:spcBef>
              <a:buFont typeface="Times Roman"/>
              <a:defRPr sz="863">
                <a:latin typeface="PP Object Sans Heavy"/>
                <a:ea typeface="PP Object Sans Heavy"/>
                <a:cs typeface="PP Object Sans Heavy"/>
                <a:sym typeface="PP Object Sans Heavy"/>
              </a:defRPr>
            </a:pPr>
            <a:r>
              <a:rPr>
                <a:latin typeface="PP Object Sans Regular"/>
                <a:ea typeface="PP Object Sans Regular"/>
                <a:cs typeface="PP Object Sans Regular"/>
                <a:sym typeface="PP Object Sans Regular"/>
              </a:rPr>
              <a:t>Претензии: </a:t>
            </a:r>
            <a:r>
              <a:t>«Что случилось?»</a:t>
            </a:r>
            <a:r>
              <a:rPr>
                <a:latin typeface="PP Object Sans Regular"/>
                <a:ea typeface="PP Object Sans Regular"/>
                <a:cs typeface="PP Object Sans Regular"/>
                <a:sym typeface="PP Object Sans Regular"/>
              </a:rPr>
              <a:t> → </a:t>
            </a:r>
            <a:r>
              <a:rPr i="1">
                <a:latin typeface="PP Object Sans Regular"/>
                <a:ea typeface="PP Object Sans Regular"/>
                <a:cs typeface="PP Object Sans Regular"/>
                <a:sym typeface="PP Object Sans Regular"/>
              </a:rPr>
              <a:t>Недовложение</a:t>
            </a:r>
            <a:r>
              <a:rPr>
                <a:latin typeface="PP Object Sans Regular"/>
                <a:ea typeface="PP Object Sans Regular"/>
                <a:cs typeface="PP Object Sans Regular"/>
                <a:sym typeface="PP Object Sans Regular"/>
              </a:rPr>
              <a:t> / </a:t>
            </a:r>
            <a:r>
              <a:rPr i="1">
                <a:latin typeface="PP Object Sans Regular"/>
                <a:ea typeface="PP Object Sans Regular"/>
                <a:cs typeface="PP Object Sans Regular"/>
                <a:sym typeface="PP Object Sans Regular"/>
              </a:rPr>
              <a:t>Повреждение</a:t>
            </a:r>
            <a:r>
              <a:rPr>
                <a:latin typeface="PP Object Sans Regular"/>
                <a:ea typeface="PP Object Sans Regular"/>
                <a:cs typeface="PP Object Sans Regular"/>
                <a:sym typeface="PP Object Sans Regular"/>
              </a:rPr>
              <a:t> / </a:t>
            </a:r>
            <a:r>
              <a:rPr i="1">
                <a:latin typeface="PP Object Sans Regular"/>
                <a:ea typeface="PP Object Sans Regular"/>
                <a:cs typeface="PP Object Sans Regular"/>
                <a:sym typeface="PP Object Sans Regular"/>
              </a:rPr>
              <a:t>Не тот товар</a:t>
            </a:r>
            <a:r>
              <a:rPr>
                <a:latin typeface="PP Object Sans Regular"/>
                <a:ea typeface="PP Object Sans Regular"/>
                <a:cs typeface="PP Object Sans Regular"/>
                <a:sym typeface="PP Object Sans Regular"/>
              </a:rPr>
              <a:t> / </a:t>
            </a:r>
            <a:r>
              <a:rPr i="1">
                <a:latin typeface="PP Object Sans Regular"/>
                <a:ea typeface="PP Object Sans Regular"/>
                <a:cs typeface="PP Object Sans Regular"/>
                <a:sym typeface="PP Object Sans Regular"/>
              </a:rPr>
              <a:t>Задержка</a:t>
            </a:r>
            <a:r>
              <a:rPr>
                <a:latin typeface="PP Object Sans Regular"/>
                <a:ea typeface="PP Object Sans Regular"/>
                <a:cs typeface="PP Object Sans Regular"/>
                <a:sym typeface="PP Object Sans Regular"/>
              </a:rPr>
              <a:t> / </a:t>
            </a:r>
            <a:r>
              <a:rPr i="1">
                <a:latin typeface="PP Object Sans Regular"/>
                <a:ea typeface="PP Object Sans Regular"/>
                <a:cs typeface="PP Object Sans Regular"/>
                <a:sym typeface="PP Object Sans Regular"/>
              </a:rPr>
              <a:t>Качество</a:t>
            </a:r>
            <a:r>
              <a:rPr>
                <a:latin typeface="PP Object Sans Regular"/>
                <a:ea typeface="PP Object Sans Regular"/>
                <a:cs typeface="PP Object Sans Regular"/>
                <a:sym typeface="PP Object Sans Regular"/>
              </a:rPr>
              <a:t> / </a:t>
            </a:r>
            <a:r>
              <a:rPr i="1">
                <a:latin typeface="PP Object Sans Regular"/>
                <a:ea typeface="PP Object Sans Regular"/>
                <a:cs typeface="PP Object Sans Regular"/>
                <a:sym typeface="PP Object Sans Regular"/>
              </a:rPr>
              <a:t>Иное</a:t>
            </a:r>
            <a:endParaRPr>
              <a:latin typeface="PP Object Sans Regular"/>
              <a:ea typeface="PP Object Sans Regular"/>
              <a:cs typeface="PP Object Sans Regular"/>
              <a:sym typeface="PP Object Sans Regular"/>
            </a:endParaRPr>
          </a:p>
          <a:p>
            <a:pPr marL="438911" indent="-304800" defTabSz="438911">
              <a:lnSpc>
                <a:spcPct val="100000"/>
              </a:lnSpc>
              <a:spcBef>
                <a:spcPts val="1100"/>
              </a:spcBef>
              <a:buFont typeface="Times Roman"/>
              <a:defRPr sz="863">
                <a:latin typeface="PP Object Sans Heavy"/>
                <a:ea typeface="PP Object Sans Heavy"/>
                <a:cs typeface="PP Object Sans Heavy"/>
                <a:sym typeface="PP Object Sans Heavy"/>
              </a:defRPr>
            </a:pPr>
            <a:r>
              <a:rPr>
                <a:latin typeface="PP Object Sans Regular"/>
                <a:ea typeface="PP Object Sans Regular"/>
                <a:cs typeface="PP Object Sans Regular"/>
                <a:sym typeface="PP Object Sans Regular"/>
              </a:rPr>
              <a:t>Авто-резолв: </a:t>
            </a:r>
            <a:r>
              <a:t>«Вернули {sum} ₽ тем же способом. Извините за неудобства»</a:t>
            </a:r>
            <a:endParaRPr>
              <a:latin typeface="PP Object Sans Regular"/>
              <a:ea typeface="PP Object Sans Regular"/>
              <a:cs typeface="PP Object Sans Regular"/>
              <a:sym typeface="PP Object Sans Regular"/>
            </a:endParaRPr>
          </a:p>
          <a:p>
            <a:pPr marL="0" indent="0" defTabSz="438911">
              <a:lnSpc>
                <a:spcPct val="100000"/>
              </a:lnSpc>
              <a:spcBef>
                <a:spcPts val="0"/>
              </a:spcBef>
              <a:buSzTx/>
              <a:buNone/>
              <a:defRPr sz="863">
                <a:solidFill>
                  <a:srgbClr val="808080"/>
                </a:solidFill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</a:p>
          <a:p>
            <a:pPr marL="0" indent="0" defTabSz="438911">
              <a:lnSpc>
                <a:spcPct val="100000"/>
              </a:lnSpc>
              <a:spcBef>
                <a:spcPts val="1400"/>
              </a:spcBef>
              <a:buSzTx/>
              <a:buNone/>
              <a:defRPr sz="863">
                <a:latin typeface="PP Object Sans Heavy"/>
                <a:ea typeface="PP Object Sans Heavy"/>
                <a:cs typeface="PP Object Sans Heavy"/>
                <a:sym typeface="PP Object Sans Heavy"/>
              </a:defRPr>
            </a:pPr>
            <a:r>
              <a:t>Состояния и крайние случаи</a:t>
            </a:r>
          </a:p>
          <a:p>
            <a:pPr marL="438911" indent="-304800" defTabSz="438911">
              <a:lnSpc>
                <a:spcPct val="100000"/>
              </a:lnSpc>
              <a:spcBef>
                <a:spcPts val="1100"/>
              </a:spcBef>
              <a:buFont typeface="Times Roman"/>
              <a:defRPr sz="863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Несколько продавцов (Маркет):</a:t>
            </a:r>
            <a:r>
              <a:t> «Доставки могут прийти частями»; отдельные ETA/fee по продавцам.</a:t>
            </a:r>
          </a:p>
          <a:p>
            <a:pPr marL="438911" indent="-304800" defTabSz="438911">
              <a:lnSpc>
                <a:spcPct val="100000"/>
              </a:lnSpc>
              <a:spcBef>
                <a:spcPts val="1100"/>
              </a:spcBef>
              <a:buFont typeface="Times Roman"/>
              <a:defRPr sz="863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Отключён гео/шторм:</a:t>
            </a:r>
            <a:r>
              <a:t> увеличиваем band ETA, включаем честные предупреждения.</a:t>
            </a:r>
          </a:p>
          <a:p>
            <a:pPr marL="438911" indent="-304800" defTabSz="438911">
              <a:lnSpc>
                <a:spcPct val="100000"/>
              </a:lnSpc>
              <a:spcBef>
                <a:spcPts val="1100"/>
              </a:spcBef>
              <a:buFont typeface="Times Roman"/>
              <a:defRPr sz="863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Нет фото в претензии:</a:t>
            </a:r>
            <a:r>
              <a:t> разрешаем авто-компенсацию по «недовложению» до cap.</a:t>
            </a:r>
          </a:p>
          <a:p>
            <a:pPr marL="438911" indent="-304800" defTabSz="438911">
              <a:lnSpc>
                <a:spcPct val="100000"/>
              </a:lnSpc>
              <a:spcBef>
                <a:spcPts val="1100"/>
              </a:spcBef>
              <a:buFont typeface="Times Roman"/>
              <a:defRPr sz="863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Смена метода возврата:</a:t>
            </a:r>
            <a:r>
              <a:t> при карте →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СБП</a:t>
            </a:r>
            <a:r>
              <a:t> как быстрый возврат (если согласовано).</a:t>
            </a:r>
          </a:p>
          <a:p>
            <a:pPr marL="438911" indent="-304800" defTabSz="438911">
              <a:lnSpc>
                <a:spcPct val="100000"/>
              </a:lnSpc>
              <a:spcBef>
                <a:spcPts val="1100"/>
              </a:spcBef>
              <a:buFont typeface="Times Roman"/>
              <a:defRPr sz="863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No-show C&amp;C:</a:t>
            </a:r>
            <a:r>
              <a:t> напоминание через 2 ч, далее отмена по правилам.</a:t>
            </a:r>
          </a:p>
        </p:txBody>
      </p:sp>
      <p:sp>
        <p:nvSpPr>
          <p:cNvPr id="265" name="нструментация (события)…"/>
          <p:cNvSpPr txBox="1"/>
          <p:nvPr/>
        </p:nvSpPr>
        <p:spPr>
          <a:xfrm>
            <a:off x="13150377" y="2838656"/>
            <a:ext cx="10770838" cy="110757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 defTabSz="288036">
              <a:lnSpc>
                <a:spcPct val="100000"/>
              </a:lnSpc>
              <a:spcBef>
                <a:spcPts val="900"/>
              </a:spcBef>
              <a:defRPr sz="945">
                <a:latin typeface="PP Object Sans Heavy"/>
                <a:ea typeface="PP Object Sans Heavy"/>
                <a:cs typeface="PP Object Sans Heavy"/>
                <a:sym typeface="PP Object Sans Heavy"/>
              </a:defRPr>
            </a:pPr>
            <a:r>
              <a:t>нструментация (события)</a:t>
            </a:r>
          </a:p>
          <a:p>
            <a:pPr marL="272649" indent="-184638" defTabSz="288036">
              <a:lnSpc>
                <a:spcPct val="100000"/>
              </a:lnSpc>
              <a:spcBef>
                <a:spcPts val="700"/>
              </a:spcBef>
              <a:buSzPct val="123000"/>
              <a:buFont typeface="Times Roman"/>
              <a:buChar char="•"/>
              <a:defRPr sz="945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t>order_status_update {status, eta, band, reason}</a:t>
            </a:r>
          </a:p>
          <a:p>
            <a:pPr marL="272649" indent="-184638" defTabSz="288036">
              <a:lnSpc>
                <a:spcPct val="100000"/>
              </a:lnSpc>
              <a:spcBef>
                <a:spcPts val="700"/>
              </a:spcBef>
              <a:buSzPct val="123000"/>
              <a:buFont typeface="Times Roman"/>
              <a:buChar char="•"/>
              <a:defRPr sz="945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t>eta_risk_flag {level, delta_min}</a:t>
            </a:r>
          </a:p>
          <a:p>
            <a:pPr marL="272649" indent="-184638" defTabSz="288036">
              <a:lnSpc>
                <a:spcPct val="100000"/>
              </a:lnSpc>
              <a:spcBef>
                <a:spcPts val="700"/>
              </a:spcBef>
              <a:buSzPct val="123000"/>
              <a:buFont typeface="Times Roman"/>
              <a:buChar char="•"/>
              <a:defRPr sz="945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t>pickup_ready {pin, store_id} / pickup_no_show</a:t>
            </a:r>
          </a:p>
          <a:p>
            <a:pPr marL="288036" indent="-200025" defTabSz="288036">
              <a:lnSpc>
                <a:spcPct val="100000"/>
              </a:lnSpc>
              <a:spcBef>
                <a:spcPts val="700"/>
              </a:spcBef>
              <a:buSzPct val="123000"/>
              <a:buFont typeface="Times Roman"/>
              <a:buChar char="•"/>
              <a:defRPr sz="945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t>claim_one_click_open/submit {type, items, sum_claimed}</a:t>
            </a:r>
          </a:p>
          <a:p>
            <a:pPr marL="272649" indent="-184638" defTabSz="288036">
              <a:lnSpc>
                <a:spcPct val="100000"/>
              </a:lnSpc>
              <a:spcBef>
                <a:spcPts val="700"/>
              </a:spcBef>
              <a:buSzPct val="123000"/>
              <a:buFont typeface="Times Roman"/>
              <a:buChar char="•"/>
              <a:defRPr sz="945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t>claim_auto_resolved {rule_id, sum_refunded, ttr_ms}</a:t>
            </a:r>
          </a:p>
          <a:p>
            <a:pPr marL="288036" indent="-200025" defTabSz="288036">
              <a:lnSpc>
                <a:spcPct val="100000"/>
              </a:lnSpc>
              <a:spcBef>
                <a:spcPts val="700"/>
              </a:spcBef>
              <a:buSzPct val="123000"/>
              <a:buFont typeface="Times Roman"/>
              <a:buChar char="•"/>
              <a:defRPr sz="945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t>contact_open {reason}</a:t>
            </a:r>
          </a:p>
          <a:p>
            <a:pPr marL="288036" indent="-200025" defTabSz="288036">
              <a:lnSpc>
                <a:spcPct val="100000"/>
              </a:lnSpc>
              <a:spcBef>
                <a:spcPts val="700"/>
              </a:spcBef>
              <a:buSzPct val="123000"/>
              <a:buFont typeface="Times Roman"/>
              <a:buChar char="•"/>
              <a:defRPr sz="945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t>nps_prompt_shown/submitted {score}</a:t>
            </a:r>
          </a:p>
          <a:p>
            <a:pPr marL="272649" indent="-184638" defTabSz="288036">
              <a:lnSpc>
                <a:spcPct val="100000"/>
              </a:lnSpc>
              <a:spcBef>
                <a:spcPts val="700"/>
              </a:spcBef>
              <a:buSzPct val="123000"/>
              <a:buFont typeface="Times Roman"/>
              <a:buChar char="•"/>
              <a:defRPr sz="945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Lag/health:</a:t>
            </a:r>
            <a:r>
              <a:t> eta_changed, status_delay_ms (для OMS-синхронизации).</a:t>
            </a:r>
          </a:p>
          <a:p>
            <a:pPr defTabSz="288036">
              <a:lnSpc>
                <a:spcPct val="100000"/>
              </a:lnSpc>
              <a:spcBef>
                <a:spcPts val="0"/>
              </a:spcBef>
              <a:defRPr sz="945">
                <a:solidFill>
                  <a:srgbClr val="808080"/>
                </a:solidFill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</a:p>
          <a:p>
            <a:pPr defTabSz="288036">
              <a:lnSpc>
                <a:spcPct val="100000"/>
              </a:lnSpc>
              <a:spcBef>
                <a:spcPts val="900"/>
              </a:spcBef>
              <a:defRPr sz="945">
                <a:latin typeface="PP Object Sans Heavy"/>
                <a:ea typeface="PP Object Sans Heavy"/>
                <a:cs typeface="PP Object Sans Heavy"/>
                <a:sym typeface="PP Object Sans Heavy"/>
              </a:defRPr>
            </a:pPr>
            <a:r>
              <a:t>Эксперимент (H1, кластерный diff-in-diff)</a:t>
            </a:r>
          </a:p>
          <a:p>
            <a:pPr marL="288036" indent="-200025" defTabSz="288036">
              <a:lnSpc>
                <a:spcPct val="100000"/>
              </a:lnSpc>
              <a:spcBef>
                <a:spcPts val="700"/>
              </a:spcBef>
              <a:buSzPct val="123000"/>
              <a:buFont typeface="Times Roman"/>
              <a:buChar char="•"/>
              <a:defRPr sz="945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Дизайн:</a:t>
            </a:r>
            <a:r>
              <a:t> регионы/СЦ как кластеры; (A) как есть, (B) ETA-виджет + проактивные события + 1-клик претензии. 28–42 дня.</a:t>
            </a:r>
          </a:p>
          <a:p>
            <a:pPr marL="288036" indent="-200025" defTabSz="288036">
              <a:lnSpc>
                <a:spcPct val="100000"/>
              </a:lnSpc>
              <a:spcBef>
                <a:spcPts val="700"/>
              </a:spcBef>
              <a:buSzPct val="123000"/>
              <a:buFont typeface="Times Roman"/>
              <a:buChar char="•"/>
              <a:defRPr sz="945">
                <a:latin typeface="PP Object Sans Heavy"/>
                <a:ea typeface="PP Object Sans Heavy"/>
                <a:cs typeface="PP Object Sans Heavy"/>
                <a:sym typeface="PP Object Sans Heavy"/>
              </a:defRPr>
            </a:pPr>
            <a:r>
              <a:t>Primary:</a:t>
            </a:r>
            <a:r>
              <a:rPr>
                <a:latin typeface="PP Object Sans Regular"/>
                <a:ea typeface="PP Object Sans Regular"/>
                <a:cs typeface="PP Object Sans Regular"/>
                <a:sym typeface="PP Object Sans Regular"/>
              </a:rPr>
              <a:t> </a:t>
            </a:r>
            <a:r>
              <a:t>Delivered-success +2–3 п.п.</a:t>
            </a:r>
            <a:r>
              <a:rPr>
                <a:latin typeface="PP Object Sans Regular"/>
                <a:ea typeface="PP Object Sans Regular"/>
                <a:cs typeface="PP Object Sans Regular"/>
                <a:sym typeface="PP Object Sans Regular"/>
              </a:rPr>
              <a:t>, </a:t>
            </a:r>
            <a:r>
              <a:t>On-time +Y п.п.</a:t>
            </a:r>
            <a:endParaRPr>
              <a:latin typeface="PP Object Sans Regular"/>
              <a:ea typeface="PP Object Sans Regular"/>
              <a:cs typeface="PP Object Sans Regular"/>
              <a:sym typeface="PP Object Sans Regular"/>
            </a:endParaRPr>
          </a:p>
          <a:p>
            <a:pPr marL="288036" indent="-200025" defTabSz="288036">
              <a:lnSpc>
                <a:spcPct val="100000"/>
              </a:lnSpc>
              <a:spcBef>
                <a:spcPts val="700"/>
              </a:spcBef>
              <a:buSzPct val="123000"/>
              <a:buFont typeface="Times Roman"/>
              <a:buChar char="•"/>
              <a:defRPr sz="945">
                <a:latin typeface="PP Object Sans Heavy"/>
                <a:ea typeface="PP Object Sans Heavy"/>
                <a:cs typeface="PP Object Sans Heavy"/>
                <a:sym typeface="PP Object Sans Heavy"/>
              </a:defRPr>
            </a:pPr>
            <a:r>
              <a:t>Secondary:</a:t>
            </a:r>
            <a:r>
              <a:rPr>
                <a:latin typeface="PP Object Sans Regular"/>
                <a:ea typeface="PP Object Sans Regular"/>
                <a:cs typeface="PP Object Sans Regular"/>
                <a:sym typeface="PP Object Sans Regular"/>
              </a:rPr>
              <a:t> </a:t>
            </a:r>
            <a:r>
              <a:t>Contact rate −X%</a:t>
            </a:r>
            <a:r>
              <a:rPr>
                <a:latin typeface="PP Object Sans Regular"/>
                <a:ea typeface="PP Object Sans Regular"/>
                <a:cs typeface="PP Object Sans Regular"/>
                <a:sym typeface="PP Object Sans Regular"/>
              </a:rPr>
              <a:t>, </a:t>
            </a:r>
            <a:r>
              <a:t>ETA error ↓</a:t>
            </a:r>
            <a:r>
              <a:rPr>
                <a:latin typeface="PP Object Sans Regular"/>
                <a:ea typeface="PP Object Sans Regular"/>
                <a:cs typeface="PP Object Sans Regular"/>
                <a:sym typeface="PP Object Sans Regular"/>
              </a:rPr>
              <a:t>, </a:t>
            </a:r>
            <a:r>
              <a:t>Repeat 30/90d +3–5 п.п.</a:t>
            </a:r>
            <a:r>
              <a:rPr>
                <a:latin typeface="PP Object Sans Regular"/>
                <a:ea typeface="PP Object Sans Regular"/>
                <a:cs typeface="PP Object Sans Regular"/>
                <a:sym typeface="PP Object Sans Regular"/>
              </a:rPr>
              <a:t>, </a:t>
            </a:r>
            <a:r>
              <a:t>NPS/CSAT ≥</a:t>
            </a:r>
            <a:r>
              <a:rPr>
                <a:latin typeface="PP Object Sans Regular"/>
                <a:ea typeface="PP Object Sans Regular"/>
                <a:cs typeface="PP Object Sans Regular"/>
                <a:sym typeface="PP Object Sans Regular"/>
              </a:rPr>
              <a:t> базиса.</a:t>
            </a:r>
            <a:endParaRPr>
              <a:latin typeface="PP Object Sans Regular"/>
              <a:ea typeface="PP Object Sans Regular"/>
              <a:cs typeface="PP Object Sans Regular"/>
              <a:sym typeface="PP Object Sans Regular"/>
            </a:endParaRPr>
          </a:p>
          <a:p>
            <a:pPr marL="288036" indent="-200025" defTabSz="288036">
              <a:lnSpc>
                <a:spcPct val="100000"/>
              </a:lnSpc>
              <a:spcBef>
                <a:spcPts val="700"/>
              </a:spcBef>
              <a:buSzPct val="123000"/>
              <a:buFont typeface="Times Roman"/>
              <a:buChar char="•"/>
              <a:defRPr sz="945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Сегменты:</a:t>
            </a:r>
            <a:r>
              <a:t> Delivery vs C&amp;C, FMCG vs GM, high-risk слоты, «несколько продавцов».</a:t>
            </a:r>
          </a:p>
          <a:p>
            <a:pPr marL="288036" indent="-200025" defTabSz="288036">
              <a:lnSpc>
                <a:spcPct val="100000"/>
              </a:lnSpc>
              <a:spcBef>
                <a:spcPts val="700"/>
              </a:spcBef>
              <a:buSzPct val="123000"/>
              <a:buFont typeface="Times Roman"/>
              <a:buChar char="•"/>
              <a:defRPr sz="945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Decision gate:</a:t>
            </a:r>
            <a:r>
              <a:t> обе Primary ≥ MDE, guardrails ок → rollout по кластерам (25→50→100%).</a:t>
            </a:r>
          </a:p>
          <a:p>
            <a:pPr defTabSz="288036">
              <a:lnSpc>
                <a:spcPct val="100000"/>
              </a:lnSpc>
              <a:spcBef>
                <a:spcPts val="0"/>
              </a:spcBef>
              <a:defRPr sz="945">
                <a:solidFill>
                  <a:srgbClr val="808080"/>
                </a:solidFill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</a:p>
          <a:p>
            <a:pPr defTabSz="288036">
              <a:lnSpc>
                <a:spcPct val="100000"/>
              </a:lnSpc>
              <a:spcBef>
                <a:spcPts val="900"/>
              </a:spcBef>
              <a:defRPr sz="945">
                <a:latin typeface="PP Object Sans Heavy"/>
                <a:ea typeface="PP Object Sans Heavy"/>
                <a:cs typeface="PP Object Sans Heavy"/>
                <a:sym typeface="PP Object Sans Heavy"/>
              </a:defRPr>
            </a:pPr>
            <a:r>
              <a:t>Производительность и доступность</a:t>
            </a:r>
          </a:p>
          <a:p>
            <a:pPr marL="288036" indent="-200025" defTabSz="288036">
              <a:lnSpc>
                <a:spcPct val="100000"/>
              </a:lnSpc>
              <a:spcBef>
                <a:spcPts val="700"/>
              </a:spcBef>
              <a:buSzPct val="123000"/>
              <a:buFont typeface="Times Roman"/>
              <a:buChar char="•"/>
              <a:defRPr sz="945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t>Обновление ETA/статусов в UI ≤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5 мин</a:t>
            </a:r>
            <a:r>
              <a:t> (polling/stream).</a:t>
            </a:r>
          </a:p>
          <a:p>
            <a:pPr marL="288036" indent="-200025" defTabSz="288036">
              <a:lnSpc>
                <a:spcPct val="100000"/>
              </a:lnSpc>
              <a:spcBef>
                <a:spcPts val="700"/>
              </a:spcBef>
              <a:buSzPct val="123000"/>
              <a:buFont typeface="Times Roman"/>
              <a:buChar char="•"/>
              <a:defRPr sz="945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t>Пуш-нагрузка: кэп по пользователю и сценарию (не «спамим»).</a:t>
            </a:r>
          </a:p>
          <a:p>
            <a:pPr marL="288036" indent="-200025" defTabSz="288036">
              <a:lnSpc>
                <a:spcPct val="100000"/>
              </a:lnSpc>
              <a:spcBef>
                <a:spcPts val="700"/>
              </a:spcBef>
              <a:buSzPct val="123000"/>
              <a:buFont typeface="Times Roman"/>
              <a:buChar char="•"/>
              <a:defRPr sz="945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t>Skeleton в заказе ≤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300 мс</a:t>
            </a:r>
            <a:r>
              <a:t>; A11y: крупные таргеты, контраст WCAG AA.</a:t>
            </a:r>
          </a:p>
          <a:p>
            <a:pPr defTabSz="288036">
              <a:lnSpc>
                <a:spcPct val="100000"/>
              </a:lnSpc>
              <a:spcBef>
                <a:spcPts val="0"/>
              </a:spcBef>
              <a:defRPr sz="945">
                <a:solidFill>
                  <a:srgbClr val="808080"/>
                </a:solidFill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</a:p>
          <a:p>
            <a:pPr defTabSz="288036">
              <a:lnSpc>
                <a:spcPct val="100000"/>
              </a:lnSpc>
              <a:spcBef>
                <a:spcPts val="900"/>
              </a:spcBef>
              <a:defRPr sz="945">
                <a:latin typeface="PP Object Sans Heavy"/>
                <a:ea typeface="PP Object Sans Heavy"/>
                <a:cs typeface="PP Object Sans Heavy"/>
                <a:sym typeface="PP Object Sans Heavy"/>
              </a:defRPr>
            </a:pPr>
            <a:r>
              <a:t>Компоненты и API</a:t>
            </a:r>
          </a:p>
          <a:p>
            <a:pPr marL="304704" indent="-216693" defTabSz="288036">
              <a:lnSpc>
                <a:spcPct val="100000"/>
              </a:lnSpc>
              <a:spcBef>
                <a:spcPts val="700"/>
              </a:spcBef>
              <a:buSzPct val="123000"/>
              <a:buFont typeface="Times Roman"/>
              <a:buChar char="•"/>
              <a:defRPr sz="945">
                <a:latin typeface="PP Object Sans Heavy"/>
                <a:ea typeface="PP Object Sans Heavy"/>
                <a:cs typeface="PP Object Sans Heavy"/>
                <a:sym typeface="PP Object Sans Heavy"/>
              </a:defRPr>
            </a:pPr>
            <a:r>
              <a:rPr>
                <a:latin typeface="PP Object Sans Regular"/>
                <a:ea typeface="PP Object Sans Regular"/>
                <a:cs typeface="PP Object Sans Regular"/>
                <a:sym typeface="PP Object Sans Regular"/>
              </a:rPr>
              <a:t>UI: </a:t>
            </a:r>
            <a:r>
              <a:t>OrderTimeline</a:t>
            </a:r>
            <a:r>
              <a:rPr>
                <a:latin typeface="PP Object Sans Regular"/>
                <a:ea typeface="PP Object Sans Regular"/>
                <a:cs typeface="PP Object Sans Regular"/>
                <a:sym typeface="PP Object Sans Regular"/>
              </a:rPr>
              <a:t>, </a:t>
            </a:r>
            <a:r>
              <a:t>EtaWidget</a:t>
            </a:r>
            <a:r>
              <a:rPr>
                <a:latin typeface="PP Object Sans Regular"/>
                <a:ea typeface="PP Object Sans Regular"/>
                <a:cs typeface="PP Object Sans Regular"/>
                <a:sym typeface="PP Object Sans Regular"/>
              </a:rPr>
              <a:t>, </a:t>
            </a:r>
            <a:r>
              <a:t>ClaimOneClick</a:t>
            </a:r>
            <a:r>
              <a:rPr>
                <a:latin typeface="PP Object Sans Regular"/>
                <a:ea typeface="PP Object Sans Regular"/>
                <a:cs typeface="PP Object Sans Regular"/>
                <a:sym typeface="PP Object Sans Regular"/>
              </a:rPr>
              <a:t>, </a:t>
            </a:r>
            <a:r>
              <a:t>SellerAccordion</a:t>
            </a:r>
            <a:r>
              <a:rPr>
                <a:latin typeface="PP Object Sans Regular"/>
                <a:ea typeface="PP Object Sans Regular"/>
                <a:cs typeface="PP Object Sans Regular"/>
                <a:sym typeface="PP Object Sans Regular"/>
              </a:rPr>
              <a:t>, </a:t>
            </a:r>
            <a:r>
              <a:t>PickupCard</a:t>
            </a:r>
            <a:r>
              <a:rPr>
                <a:latin typeface="PP Object Sans Regular"/>
                <a:ea typeface="PP Object Sans Regular"/>
                <a:cs typeface="PP Object Sans Regular"/>
                <a:sym typeface="PP Object Sans Regular"/>
              </a:rPr>
              <a:t>.</a:t>
            </a:r>
            <a:endParaRPr>
              <a:latin typeface="PP Object Sans Regular"/>
              <a:ea typeface="PP Object Sans Regular"/>
              <a:cs typeface="PP Object Sans Regular"/>
              <a:sym typeface="PP Object Sans Regular"/>
            </a:endParaRPr>
          </a:p>
          <a:p>
            <a:pPr marL="288036" indent="-200025" defTabSz="288036">
              <a:lnSpc>
                <a:spcPct val="100000"/>
              </a:lnSpc>
              <a:spcBef>
                <a:spcPts val="700"/>
              </a:spcBef>
              <a:buSzPct val="123000"/>
              <a:buFont typeface="Times Roman"/>
              <a:buChar char="•"/>
              <a:defRPr sz="945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t>API:</a:t>
            </a:r>
          </a:p>
          <a:p>
            <a:pPr lvl="1" marL="560685" indent="-184638" defTabSz="288036">
              <a:lnSpc>
                <a:spcPct val="100000"/>
              </a:lnSpc>
              <a:spcBef>
                <a:spcPts val="700"/>
              </a:spcBef>
              <a:buSzPct val="123000"/>
              <a:buFont typeface="Times Roman"/>
              <a:buChar char="◦"/>
              <a:defRPr sz="945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t>GET /orders/{id}/status (status, eta, band, seller_groups)</a:t>
            </a:r>
          </a:p>
          <a:p>
            <a:pPr lvl="1" marL="560685" indent="-184638" defTabSz="288036">
              <a:lnSpc>
                <a:spcPct val="100000"/>
              </a:lnSpc>
              <a:spcBef>
                <a:spcPts val="700"/>
              </a:spcBef>
              <a:buSzPct val="123000"/>
              <a:buFont typeface="Times Roman"/>
              <a:buChar char="◦"/>
              <a:defRPr sz="945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t>POST /claims/oneclick (type, items[], sum, evidence)</a:t>
            </a:r>
          </a:p>
          <a:p>
            <a:pPr lvl="1" marL="560685" indent="-184638" defTabSz="288036">
              <a:lnSpc>
                <a:spcPct val="100000"/>
              </a:lnSpc>
              <a:spcBef>
                <a:spcPts val="700"/>
              </a:spcBef>
              <a:buSzPct val="123000"/>
              <a:buFont typeface="Times Roman"/>
              <a:buChar char="◦"/>
              <a:defRPr sz="945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t>POST /refunds (method=card/sbp/bonus, amount)</a:t>
            </a:r>
          </a:p>
          <a:p>
            <a:pPr lvl="1" marL="576072" indent="-200025" defTabSz="288036">
              <a:lnSpc>
                <a:spcPct val="100000"/>
              </a:lnSpc>
              <a:spcBef>
                <a:spcPts val="700"/>
              </a:spcBef>
              <a:buSzPct val="123000"/>
              <a:buFont typeface="Times Roman"/>
              <a:buChar char="◦"/>
              <a:defRPr sz="945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t>POST /notifications/status (templates)</a:t>
            </a:r>
          </a:p>
          <a:p>
            <a:pPr marL="304704" indent="-216693" defTabSz="288036">
              <a:lnSpc>
                <a:spcPct val="100000"/>
              </a:lnSpc>
              <a:spcBef>
                <a:spcPts val="700"/>
              </a:spcBef>
              <a:buSzPct val="123000"/>
              <a:buFont typeface="Times Roman"/>
              <a:buChar char="•"/>
              <a:defRPr sz="945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t>Флаги: feature_eta_widget, feature_claim_one_click, feature_delay_mitigation.</a:t>
            </a:r>
          </a:p>
          <a:p>
            <a:pPr defTabSz="288036">
              <a:lnSpc>
                <a:spcPct val="100000"/>
              </a:lnSpc>
              <a:spcBef>
                <a:spcPts val="0"/>
              </a:spcBef>
              <a:defRPr sz="945">
                <a:solidFill>
                  <a:srgbClr val="808080"/>
                </a:solidFill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</a:p>
          <a:p>
            <a:pPr defTabSz="288036">
              <a:lnSpc>
                <a:spcPct val="100000"/>
              </a:lnSpc>
              <a:spcBef>
                <a:spcPts val="900"/>
              </a:spcBef>
              <a:defRPr sz="945">
                <a:latin typeface="PP Object Sans Heavy"/>
                <a:ea typeface="PP Object Sans Heavy"/>
                <a:cs typeface="PP Object Sans Heavy"/>
                <a:sym typeface="PP Object Sans Heavy"/>
              </a:defRPr>
            </a:pPr>
            <a:r>
              <a:t>Правила (rules) и связь с юнит-экономикой</a:t>
            </a:r>
          </a:p>
          <a:p>
            <a:pPr marL="288036" indent="-200025" defTabSz="288036">
              <a:lnSpc>
                <a:spcPct val="100000"/>
              </a:lnSpc>
              <a:spcBef>
                <a:spcPts val="700"/>
              </a:spcBef>
              <a:buSzPct val="123000"/>
              <a:buFont typeface="Times Roman"/>
              <a:buChar char="•"/>
              <a:defRPr sz="945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Auto-resolve cap:</a:t>
            </a:r>
            <a:r>
              <a:t> недовложение ≤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K ₽</a:t>
            </a:r>
            <a:r>
              <a:t> → мгновенный возврат тем же способом; «задержка &gt;N ч» → фикс-компенсация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≤ cap</a:t>
            </a:r>
            <a:r>
              <a:t>.</a:t>
            </a:r>
          </a:p>
          <a:p>
            <a:pPr marL="288036" indent="-200025" defTabSz="288036">
              <a:lnSpc>
                <a:spcPct val="100000"/>
              </a:lnSpc>
              <a:spcBef>
                <a:spcPts val="700"/>
              </a:spcBef>
              <a:buSzPct val="123000"/>
              <a:buFont typeface="Times Roman"/>
              <a:buChar char="•"/>
              <a:defRPr sz="945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UCM-линк:</a:t>
            </a:r>
            <a:r>
              <a:t> снижаем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ExpReturns</a:t>
            </a:r>
            <a:r>
              <a:t> и «ручные» компенсации; на дашборде — вклад в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CM2/order</a:t>
            </a:r>
            <a:r>
              <a:t> и долю «минусовых»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UCM</a:t>
            </a:r>
            <a:r>
              <a:t>.</a:t>
            </a:r>
          </a:p>
          <a:p>
            <a:pPr marL="288036" indent="-200025" defTabSz="288036">
              <a:lnSpc>
                <a:spcPct val="100000"/>
              </a:lnSpc>
              <a:spcBef>
                <a:spcPts val="700"/>
              </a:spcBef>
              <a:buSzPct val="123000"/>
              <a:buFont typeface="Times Roman"/>
              <a:buChar char="•"/>
              <a:defRPr sz="945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Оплата:</a:t>
            </a:r>
            <a:r>
              <a:t> при возвратах — приоритет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СБП</a:t>
            </a:r>
            <a:r>
              <a:t> (если можно) для ускорения TTR.</a:t>
            </a:r>
          </a:p>
          <a:p>
            <a:pPr defTabSz="288036">
              <a:lnSpc>
                <a:spcPct val="100000"/>
              </a:lnSpc>
              <a:spcBef>
                <a:spcPts val="0"/>
              </a:spcBef>
              <a:defRPr sz="945">
                <a:solidFill>
                  <a:srgbClr val="808080"/>
                </a:solidFill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</a:p>
          <a:p>
            <a:pPr defTabSz="288036">
              <a:lnSpc>
                <a:spcPct val="100000"/>
              </a:lnSpc>
              <a:spcBef>
                <a:spcPts val="900"/>
              </a:spcBef>
              <a:defRPr sz="945">
                <a:latin typeface="PP Object Sans Heavy"/>
                <a:ea typeface="PP Object Sans Heavy"/>
                <a:cs typeface="PP Object Sans Heavy"/>
                <a:sym typeface="PP Object Sans Heavy"/>
              </a:defRPr>
            </a:pPr>
            <a:r>
              <a:t>Риски → меры</a:t>
            </a:r>
          </a:p>
          <a:p>
            <a:pPr marL="288036" indent="-200025" defTabSz="288036">
              <a:lnSpc>
                <a:spcPct val="100000"/>
              </a:lnSpc>
              <a:spcBef>
                <a:spcPts val="700"/>
              </a:spcBef>
              <a:buSzPct val="123000"/>
              <a:buFont typeface="Times Roman"/>
              <a:buChar char="•"/>
              <a:defRPr sz="945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Рост обращений из-за «1-клик претензий».</a:t>
            </a:r>
            <a:r>
              <a:t> → авто-категоризация, SLA саппорта, лимиты по каналу, гайды в UI.</a:t>
            </a:r>
          </a:p>
          <a:p>
            <a:pPr marL="288036" indent="-200025" defTabSz="288036">
              <a:lnSpc>
                <a:spcPct val="100000"/>
              </a:lnSpc>
              <a:spcBef>
                <a:spcPts val="700"/>
              </a:spcBef>
              <a:buSzPct val="123000"/>
              <a:buFont typeface="Times Roman"/>
              <a:buChar char="•"/>
              <a:defRPr sz="945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Несинхрон OMS ↔ приложение.</a:t>
            </a:r>
            <a:r>
              <a:t> → health-метрики (status_delay_ms), fallback «Мы уточняем ETA…» + тишинные кэпы пушей.</a:t>
            </a:r>
          </a:p>
          <a:p>
            <a:pPr marL="288036" indent="-200025" defTabSz="288036">
              <a:lnSpc>
                <a:spcPct val="100000"/>
              </a:lnSpc>
              <a:spcBef>
                <a:spcPts val="700"/>
              </a:spcBef>
              <a:buSzPct val="123000"/>
              <a:buFont typeface="Times Roman"/>
              <a:buChar char="•"/>
              <a:defRPr sz="945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Злоупотребления компенсациями.</a:t>
            </a:r>
            <a:r>
              <a:t> → пороги cap, поведенческий скоринг (Data/ML), чёрные списки на авто-резолв.</a:t>
            </a:r>
          </a:p>
          <a:p>
            <a:pPr defTabSz="288036">
              <a:lnSpc>
                <a:spcPct val="100000"/>
              </a:lnSpc>
              <a:spcBef>
                <a:spcPts val="0"/>
              </a:spcBef>
              <a:defRPr sz="945">
                <a:solidFill>
                  <a:srgbClr val="808080"/>
                </a:solidFill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</a:p>
          <a:p>
            <a:pPr defTabSz="288036">
              <a:lnSpc>
                <a:spcPct val="100000"/>
              </a:lnSpc>
              <a:spcBef>
                <a:spcPts val="900"/>
              </a:spcBef>
              <a:defRPr sz="945">
                <a:latin typeface="PP Object Sans Heavy"/>
                <a:ea typeface="PP Object Sans Heavy"/>
                <a:cs typeface="PP Object Sans Heavy"/>
                <a:sym typeface="PP Object Sans Heavy"/>
              </a:defRPr>
            </a:pPr>
            <a:r>
              <a:t>DoD (Definition of Done)</a:t>
            </a:r>
          </a:p>
          <a:p>
            <a:pPr marL="288036" indent="-200025" defTabSz="288036">
              <a:lnSpc>
                <a:spcPct val="100000"/>
              </a:lnSpc>
              <a:spcBef>
                <a:spcPts val="700"/>
              </a:spcBef>
              <a:buSzPct val="123000"/>
              <a:buFont typeface="Times Roman"/>
              <a:buChar char="•"/>
              <a:defRPr sz="945">
                <a:latin typeface="PP Object Sans Heavy"/>
                <a:ea typeface="PP Object Sans Heavy"/>
                <a:cs typeface="PP Object Sans Heavy"/>
                <a:sym typeface="PP Object Sans Heavy"/>
              </a:defRPr>
            </a:pPr>
            <a:r>
              <a:t>Delivered-success ≥ +2–3 п.п.</a:t>
            </a:r>
            <a:r>
              <a:rPr>
                <a:latin typeface="PP Object Sans Regular"/>
                <a:ea typeface="PP Object Sans Regular"/>
                <a:cs typeface="PP Object Sans Regular"/>
                <a:sym typeface="PP Object Sans Regular"/>
              </a:rPr>
              <a:t>, </a:t>
            </a:r>
            <a:r>
              <a:t>On-time ≥ +Y п.п.</a:t>
            </a:r>
            <a:r>
              <a:rPr>
                <a:latin typeface="PP Object Sans Regular"/>
                <a:ea typeface="PP Object Sans Regular"/>
                <a:cs typeface="PP Object Sans Regular"/>
                <a:sym typeface="PP Object Sans Regular"/>
              </a:rPr>
              <a:t>, </a:t>
            </a:r>
            <a:r>
              <a:t>Contact rate ≤ −X%</a:t>
            </a:r>
            <a:r>
              <a:rPr>
                <a:latin typeface="PP Object Sans Regular"/>
                <a:ea typeface="PP Object Sans Regular"/>
                <a:cs typeface="PP Object Sans Regular"/>
                <a:sym typeface="PP Object Sans Regular"/>
              </a:rPr>
              <a:t>, </a:t>
            </a:r>
            <a:r>
              <a:t>ETA error ≤ Z мин</a:t>
            </a:r>
            <a:r>
              <a:rPr>
                <a:latin typeface="PP Object Sans Regular"/>
                <a:ea typeface="PP Object Sans Regular"/>
                <a:cs typeface="PP Object Sans Regular"/>
                <a:sym typeface="PP Object Sans Regular"/>
              </a:rPr>
              <a:t>; SRM=0.</a:t>
            </a:r>
            <a:endParaRPr>
              <a:latin typeface="PP Object Sans Regular"/>
              <a:ea typeface="PP Object Sans Regular"/>
              <a:cs typeface="PP Object Sans Regular"/>
              <a:sym typeface="PP Object Sans Regular"/>
            </a:endParaRPr>
          </a:p>
          <a:p>
            <a:pPr marL="288036" indent="-200025" defTabSz="288036">
              <a:lnSpc>
                <a:spcPct val="100000"/>
              </a:lnSpc>
              <a:spcBef>
                <a:spcPts val="700"/>
              </a:spcBef>
              <a:buSzPct val="123000"/>
              <a:buFont typeface="Times Roman"/>
              <a:buChar char="•"/>
              <a:defRPr sz="945">
                <a:latin typeface="PP Object Sans Heavy"/>
                <a:ea typeface="PP Object Sans Heavy"/>
                <a:cs typeface="PP Object Sans Heavy"/>
                <a:sym typeface="PP Object Sans Heavy"/>
              </a:defRPr>
            </a:pPr>
            <a:r>
              <a:t>NPS/CSAT не хуже</a:t>
            </a:r>
            <a:r>
              <a:rPr>
                <a:latin typeface="PP Object Sans Regular"/>
                <a:ea typeface="PP Object Sans Regular"/>
                <a:cs typeface="PP Object Sans Regular"/>
                <a:sym typeface="PP Object Sans Regular"/>
              </a:rPr>
              <a:t>; </a:t>
            </a:r>
            <a:r>
              <a:t>CM2/order ≥ 0</a:t>
            </a:r>
            <a:r>
              <a:rPr>
                <a:latin typeface="PP Object Sans Regular"/>
                <a:ea typeface="PP Object Sans Regular"/>
                <a:cs typeface="PP Object Sans Regular"/>
                <a:sym typeface="PP Object Sans Regular"/>
              </a:rPr>
              <a:t>; </a:t>
            </a:r>
            <a:r>
              <a:t>Share of negative UCM</a:t>
            </a:r>
            <a:r>
              <a:rPr>
                <a:latin typeface="PP Object Sans Regular"/>
                <a:ea typeface="PP Object Sans Regular"/>
                <a:cs typeface="PP Object Sans Regular"/>
                <a:sym typeface="PP Object Sans Regular"/>
              </a:rPr>
              <a:t> не растёт.</a:t>
            </a:r>
            <a:endParaRPr>
              <a:latin typeface="PP Object Sans Regular"/>
              <a:ea typeface="PP Object Sans Regular"/>
              <a:cs typeface="PP Object Sans Regular"/>
              <a:sym typeface="PP Object Sans Regular"/>
            </a:endParaRPr>
          </a:p>
          <a:p>
            <a:pPr marL="288036" indent="-200025" defTabSz="288036">
              <a:lnSpc>
                <a:spcPct val="100000"/>
              </a:lnSpc>
              <a:spcBef>
                <a:spcPts val="700"/>
              </a:spcBef>
              <a:buSzPct val="123000"/>
              <a:buFont typeface="Times Roman"/>
              <a:buChar char="•"/>
              <a:defRPr sz="945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t>Все ключевые события пишутся; OMS-статусы обновляются ≤5 мин; шаблоны уведомлений активны.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Приложение B — Слайд B1. Список исследований и бенчмарков: что уже учтено, что дособираем (RF &amp; International)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83463">
              <a:lnSpc>
                <a:spcPct val="100000"/>
              </a:lnSpc>
              <a:spcBef>
                <a:spcPts val="900"/>
              </a:spcBef>
              <a:defRPr b="0" spc="0" sz="4030">
                <a:latin typeface="PP Object Sans Heavy"/>
                <a:ea typeface="PP Object Sans Heavy"/>
                <a:cs typeface="PP Object Sans Heavy"/>
                <a:sym typeface="PP Object Sans Heavy"/>
              </a:defRPr>
            </a:lvl1pPr>
          </a:lstStyle>
          <a:p>
            <a:pPr/>
            <a:r>
              <a:t>Приложение B — Слайд B1. Список исследований и бенчмарков: что уже учтено, что дособираем (RF &amp; International)</a:t>
            </a:r>
          </a:p>
        </p:txBody>
      </p:sp>
      <p:sp>
        <p:nvSpPr>
          <p:cNvPr id="268" name="Что уже учтено (внутреннее):…"/>
          <p:cNvSpPr txBox="1"/>
          <p:nvPr>
            <p:ph type="body" sz="half" idx="1"/>
          </p:nvPr>
        </p:nvSpPr>
        <p:spPr>
          <a:xfrm>
            <a:off x="1030417" y="2838656"/>
            <a:ext cx="10770838" cy="10651747"/>
          </a:xfrm>
          <a:prstGeom prst="rect">
            <a:avLst/>
          </a:prstGeom>
        </p:spPr>
        <p:txBody>
          <a:bodyPr/>
          <a:lstStyle/>
          <a:p>
            <a:pPr marL="0" indent="0" defTabSz="457200">
              <a:lnSpc>
                <a:spcPct val="100000"/>
              </a:lnSpc>
              <a:spcBef>
                <a:spcPts val="1200"/>
              </a:spcBef>
              <a:buSzTx/>
              <a:buNone/>
              <a:defRPr b="1"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Что уже учтено (внутреннее):</a:t>
            </a:r>
            <a:endParaRPr b="0"/>
          </a:p>
          <a:p>
            <a:pPr marL="457200" indent="-317500" defTabSz="457200">
              <a:lnSpc>
                <a:spcPct val="100000"/>
              </a:lnSpc>
              <a:spcBef>
                <a:spcPts val="1200"/>
              </a:spcBef>
              <a:buSzPct val="100000"/>
              <a:buFont typeface="Times Roman"/>
              <a:buAutoNum type="arabicPeriod" startAt="1"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База отзывов -</a:t>
            </a:r>
            <a:r>
              <a:t> 665 сигналов (Магнит 372 / Маркет 293) — карта болей и приоритизация.</a:t>
            </a:r>
          </a:p>
          <a:p>
            <a:pPr marL="457200" indent="-317500" defTabSz="457200">
              <a:lnSpc>
                <a:spcPct val="100000"/>
              </a:lnSpc>
              <a:spcBef>
                <a:spcPts val="1200"/>
              </a:spcBef>
              <a:buSzPct val="100000"/>
              <a:buFont typeface="Times Roman"/>
              <a:buAutoNum type="arabicPeriod" startAt="1"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UX-аудит</a:t>
            </a:r>
            <a:r>
              <a:t> скринов: главная/поиск, PLP/PDP, обе корзины, checkout, post-purchase.</a:t>
            </a:r>
          </a:p>
          <a:p>
            <a:pPr marL="0" indent="0" defTabSz="457200">
              <a:lnSpc>
                <a:spcPct val="100000"/>
              </a:lnSpc>
              <a:spcBef>
                <a:spcPts val="1400"/>
              </a:spcBef>
              <a:buSzTx/>
              <a:buNone/>
              <a:defRPr b="1" sz="18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Что дособираем (decision-grade, без «додумываний»)</a:t>
            </a:r>
          </a:p>
          <a:p>
            <a:pPr marL="0" indent="0" defTabSz="457200">
              <a:lnSpc>
                <a:spcPct val="100000"/>
              </a:lnSpc>
              <a:spcBef>
                <a:spcPts val="1400"/>
              </a:spcBef>
              <a:buSzTx/>
              <a:buNone/>
              <a:defRPr b="1" sz="14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A. Поле (качественные исследования, RF)</a:t>
            </a:r>
          </a:p>
          <a:p>
            <a:pPr marL="457200" indent="-317500" defTabSz="457200">
              <a:lnSpc>
                <a:spcPct val="100000"/>
              </a:lnSpc>
              <a:spcBef>
                <a:spcPts val="1200"/>
              </a:spcBef>
              <a:buFont typeface="Times Roman"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Юзабилити-тесты (8×90 мин)</a:t>
            </a:r>
            <a:r>
              <a:t>:</a:t>
            </a:r>
            <a:br/>
            <a:r>
              <a:t>Темы: «Единый вход/два таба», </a:t>
            </a:r>
            <a:r>
              <a:rPr b="1"/>
              <a:t>quick-add на PLP</a:t>
            </a:r>
            <a:r>
              <a:t>, «мост» для mixed-cart, ETA/претензии 1-клик.</a:t>
            </a:r>
            <a:br/>
            <a:r>
              <a:t>Сегменты: новичок/повтор; Москва/регионы; Delivery/C&amp;C; low-end устройства.</a:t>
            </a:r>
            <a:br/>
            <a:r>
              <a:rPr b="1"/>
              <a:t>Output:</a:t>
            </a:r>
            <a:r>
              <a:t> барьеры по шагам воронки, тексты и микро-копирайт, Miro-клиппинг.</a:t>
            </a:r>
          </a:p>
          <a:p>
            <a:pPr marL="457200" indent="-317500" defTabSz="457200">
              <a:lnSpc>
                <a:spcPct val="100000"/>
              </a:lnSpc>
              <a:spcBef>
                <a:spcPts val="1200"/>
              </a:spcBef>
              <a:buFont typeface="Times Roman"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Интервью миссий (12×60 мин)</a:t>
            </a:r>
            <a:r>
              <a:t>: FMCG еженедельно, GM/питомцы/красота — раз в месяц; ожидания по pickup vs delivery, «что значит удобно/быстро/прозрачно».</a:t>
            </a:r>
          </a:p>
          <a:p>
            <a:pPr marL="457200" indent="-317500" defTabSz="457200">
              <a:lnSpc>
                <a:spcPct val="100000"/>
              </a:lnSpc>
              <a:spcBef>
                <a:spcPts val="1200"/>
              </a:spcBef>
              <a:buFont typeface="Times Roman"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Дневники (N=30, 10 дней)</a:t>
            </a:r>
            <a:r>
              <a:t>: как формируют корзины (повтор/списки/бандлы), реакции на ETA и задержки.</a:t>
            </a:r>
          </a:p>
          <a:p>
            <a:pPr marL="0" indent="0" defTabSz="457200">
              <a:lnSpc>
                <a:spcPct val="100000"/>
              </a:lnSpc>
              <a:spcBef>
                <a:spcPts val="1400"/>
              </a:spcBef>
              <a:buSzTx/>
              <a:buNone/>
              <a:defRPr b="1" sz="14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B. Количественные (продуктовая аналитика, RF)</a:t>
            </a:r>
          </a:p>
          <a:p>
            <a:pPr marL="457200" indent="-317500" defTabSz="457200">
              <a:lnSpc>
                <a:spcPct val="100000"/>
              </a:lnSpc>
              <a:spcBef>
                <a:spcPts val="1200"/>
              </a:spcBef>
              <a:buFont typeface="Times Roman"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Логирование/метрики</a:t>
            </a:r>
            <a:r>
              <a:t> (новые события мы уже зафиксировали на слайдах A1–A4): </a:t>
            </a:r>
            <a:r>
              <a:rPr sz="1300">
                <a:latin typeface="Courier"/>
                <a:ea typeface="Courier"/>
                <a:cs typeface="Courier"/>
                <a:sym typeface="Courier"/>
              </a:rPr>
              <a:t>view/click_shop_entry</a:t>
            </a:r>
            <a:r>
              <a:t>, </a:t>
            </a:r>
            <a:r>
              <a:rPr sz="1300">
                <a:latin typeface="Courier"/>
                <a:ea typeface="Courier"/>
                <a:cs typeface="Courier"/>
                <a:sym typeface="Courier"/>
              </a:rPr>
              <a:t>source_badge_shown</a:t>
            </a:r>
            <a:r>
              <a:t>, </a:t>
            </a:r>
            <a:r>
              <a:rPr sz="1300">
                <a:latin typeface="Courier"/>
                <a:ea typeface="Courier"/>
                <a:cs typeface="Courier"/>
                <a:sym typeface="Courier"/>
              </a:rPr>
              <a:t>plp_quick_add</a:t>
            </a:r>
            <a:r>
              <a:t>, </a:t>
            </a:r>
            <a:r>
              <a:rPr sz="1300">
                <a:latin typeface="Courier"/>
                <a:ea typeface="Courier"/>
                <a:cs typeface="Courier"/>
                <a:sym typeface="Courier"/>
              </a:rPr>
              <a:t>cart_mixed_flag</a:t>
            </a:r>
            <a:r>
              <a:t>, </a:t>
            </a:r>
            <a:r>
              <a:rPr sz="1300">
                <a:latin typeface="Courier"/>
                <a:ea typeface="Courier"/>
                <a:cs typeface="Courier"/>
                <a:sym typeface="Courier"/>
              </a:rPr>
              <a:t>cta_split_checkout_click</a:t>
            </a:r>
            <a:r>
              <a:t>, </a:t>
            </a:r>
            <a:r>
              <a:rPr sz="1300">
                <a:latin typeface="Courier"/>
                <a:ea typeface="Courier"/>
                <a:cs typeface="Courier"/>
                <a:sym typeface="Courier"/>
              </a:rPr>
              <a:t>order_status_update(ETA)</a:t>
            </a:r>
            <a:r>
              <a:t>, </a:t>
            </a:r>
            <a:r>
              <a:rPr sz="1300">
                <a:latin typeface="Courier"/>
                <a:ea typeface="Courier"/>
                <a:cs typeface="Courier"/>
                <a:sym typeface="Courier"/>
              </a:rPr>
              <a:t>claim_one_click(type)</a:t>
            </a:r>
            <a:r>
              <a:t> и пр.</a:t>
            </a:r>
          </a:p>
          <a:p>
            <a:pPr marL="457200" indent="-317500" defTabSz="457200">
              <a:lnSpc>
                <a:spcPct val="100000"/>
              </a:lnSpc>
              <a:spcBef>
                <a:spcPts val="1200"/>
              </a:spcBef>
              <a:buFont typeface="Times Roman"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Базовые срезы</a:t>
            </a:r>
            <a:r>
              <a:t>: Views/CTR/Intent/ATC/Checkout/Fulfillment по новичок/повтор, Delivery/C&amp;C, категориям (FMCG vs GM), регионам, mixed vs non-mixed.</a:t>
            </a:r>
          </a:p>
          <a:p>
            <a:pPr marL="457200" indent="-317500" defTabSz="457200">
              <a:lnSpc>
                <a:spcPct val="100000"/>
              </a:lnSpc>
              <a:spcBef>
                <a:spcPts val="1200"/>
              </a:spcBef>
              <a:buFont typeface="Times Roman"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A/B-дизайны</a:t>
            </a:r>
            <a:r>
              <a:t> под 4 инициативы (см. Слайд 5) — мощность, MDE, guardrails.</a:t>
            </a:r>
          </a:p>
          <a:p>
            <a:pPr marL="0" indent="0" defTabSz="457200">
              <a:lnSpc>
                <a:spcPct val="100000"/>
              </a:lnSpc>
              <a:spcBef>
                <a:spcPts val="1400"/>
              </a:spcBef>
              <a:buSzTx/>
              <a:buNone/>
              <a:defRPr b="1" sz="14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C. Бенчмарки UX-паттернов (переснять потоками, video-треки)</a:t>
            </a:r>
          </a:p>
          <a:p>
            <a:pPr marL="457200" indent="-317500" defTabSz="457200">
              <a:lnSpc>
                <a:spcPct val="100000"/>
              </a:lnSpc>
              <a:spcBef>
                <a:spcPts val="1200"/>
              </a:spcBef>
              <a:buFont typeface="Times Roman"/>
              <a:defRPr b="1"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Навигация/единый вход/бейдж источника</a:t>
            </a:r>
            <a:r>
              <a:rPr b="0"/>
              <a:t>: </a:t>
            </a:r>
            <a:r>
              <a:t>Instacart, Walmart, Amazon (multi-seller), Carrefour, Ocado</a:t>
            </a:r>
            <a:r>
              <a:rPr b="0"/>
              <a:t>.</a:t>
            </a:r>
            <a:endParaRPr b="0"/>
          </a:p>
          <a:p>
            <a:pPr marL="457200" indent="-317500" defTabSz="457200">
              <a:lnSpc>
                <a:spcPct val="100000"/>
              </a:lnSpc>
              <a:spcBef>
                <a:spcPts val="1200"/>
              </a:spcBef>
              <a:buFont typeface="Times Roman"/>
              <a:defRPr b="1"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Quick-add и «покупай снова» над сгибом</a:t>
            </a:r>
            <a:r>
              <a:rPr b="0"/>
              <a:t>: </a:t>
            </a:r>
            <a:r>
              <a:t>Instacart, Amazon Fresh, Walmart</a:t>
            </a:r>
            <a:r>
              <a:rPr b="0"/>
              <a:t>.</a:t>
            </a:r>
            <a:endParaRPr b="0"/>
          </a:p>
          <a:p>
            <a:pPr marL="457200" indent="-317500" defTabSz="457200">
              <a:lnSpc>
                <a:spcPct val="100000"/>
              </a:lnSpc>
              <a:spcBef>
                <a:spcPts val="1200"/>
              </a:spcBef>
              <a:buFont typeface="Times Roman"/>
              <a:defRPr b="1"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Split-checkout для multi-seller</a:t>
            </a:r>
            <a:r>
              <a:rPr b="0"/>
              <a:t>: </a:t>
            </a:r>
            <a:r>
              <a:t>Amazon, AliExpress</a:t>
            </a:r>
            <a:r>
              <a:rPr b="0"/>
              <a:t>.</a:t>
            </a:r>
            <a:endParaRPr b="0"/>
          </a:p>
          <a:p>
            <a:pPr marL="457200" indent="-317500" defTabSz="457200">
              <a:lnSpc>
                <a:spcPct val="100000"/>
              </a:lnSpc>
              <a:spcBef>
                <a:spcPts val="1200"/>
              </a:spcBef>
              <a:buFont typeface="Times Roman"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Post-purchase: ETA/события/самообслуживание претензий</a:t>
            </a:r>
            <a:r>
              <a:t>: </a:t>
            </a:r>
            <a:r>
              <a:rPr b="1"/>
              <a:t>Ocado, Walmart, Amazon</a:t>
            </a:r>
            <a:r>
              <a:t>.</a:t>
            </a:r>
            <a:br/>
            <a:r>
              <a:t>Наша цель — снять </a:t>
            </a:r>
            <a:r>
              <a:rPr b="1"/>
              <a:t>конкретные микро-паттерны</a:t>
            </a:r>
            <a:r>
              <a:t> (формулировки, последовательность, виджеты) и перенести их в A/B-спеки.</a:t>
            </a:r>
            <a:br/>
          </a:p>
        </p:txBody>
      </p:sp>
      <p:sp>
        <p:nvSpPr>
          <p:cNvPr id="269" name="D. Рыночные цифры (RF) — контекст для приоритизации…"/>
          <p:cNvSpPr txBox="1"/>
          <p:nvPr/>
        </p:nvSpPr>
        <p:spPr>
          <a:xfrm>
            <a:off x="13150377" y="2838656"/>
            <a:ext cx="10770838" cy="110757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 defTabSz="457200">
              <a:lnSpc>
                <a:spcPct val="100000"/>
              </a:lnSpc>
              <a:spcBef>
                <a:spcPts val="1400"/>
              </a:spcBef>
              <a:defRPr b="1" sz="14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D. Рыночные цифры (RF) — контекст для приоритизации</a:t>
            </a:r>
          </a:p>
          <a:p>
            <a:pPr marL="457200" indent="-317500" defTabSz="457200">
              <a:lnSpc>
                <a:spcPct val="100000"/>
              </a:lnSpc>
              <a:spcBef>
                <a:spcPts val="1200"/>
              </a:spcBef>
              <a:buSzPct val="123000"/>
              <a:buFont typeface="Times Roman"/>
              <a:buChar char="•"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E-commerce РФ 2024–2025</a:t>
            </a:r>
            <a:r>
              <a:t> (объём/доля в retail): отчёты </a:t>
            </a:r>
            <a:r>
              <a:rPr b="1"/>
              <a:t>АКИТ</a:t>
            </a:r>
            <a:r>
              <a:t>; в 2024 онлайн-торговля ~16,2% розницы (публичные данные АКИТ, февраль 2025). </a:t>
            </a:r>
            <a:r>
              <a:rPr u="sng">
                <a:solidFill>
                  <a:srgbClr val="0000EE"/>
                </a:solidFill>
                <a:hlinkClick r:id="rId2" invalidUrl="" action="" tgtFrame="" tooltip="" history="1" highlightClick="0" endSnd="0"/>
              </a:rPr>
              <a:t>akit.ru+1</a:t>
            </a:r>
          </a:p>
          <a:p>
            <a:pPr marL="457200" indent="-317500" defTabSz="457200">
              <a:lnSpc>
                <a:spcPct val="100000"/>
              </a:lnSpc>
              <a:spcBef>
                <a:spcPts val="1200"/>
              </a:spcBef>
              <a:buSzPct val="123000"/>
              <a:buFont typeface="Times Roman"/>
              <a:buChar char="•"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Data Insight «Интернет-торговля в России 2024»</a:t>
            </a:r>
            <a:r>
              <a:t> — структура рынка/категории/логистика. </a:t>
            </a:r>
            <a:r>
              <a:rPr u="sng">
                <a:solidFill>
                  <a:srgbClr val="0000EE"/>
                </a:solidFill>
                <a:hlinkClick r:id="rId3" invalidUrl="" action="" tgtFrame="" tooltip="" history="1" highlightClick="0" endSnd="0"/>
              </a:rPr>
              <a:t>datainsight.ru</a:t>
            </a:r>
          </a:p>
          <a:p>
            <a:pPr marL="457200" indent="-317500" defTabSz="457200">
              <a:lnSpc>
                <a:spcPct val="100000"/>
              </a:lnSpc>
              <a:spcBef>
                <a:spcPts val="1200"/>
              </a:spcBef>
              <a:buSzPct val="123000"/>
              <a:buFont typeface="Times Roman"/>
              <a:buChar char="•"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Приём SBP в ритейле</a:t>
            </a:r>
            <a:r>
              <a:t> (инфраструктурная готовность дешёвых оплат): ЦБ РФ — 13,4 млрд операций через СБП в 2024; ~2,2 млн торговых точек принимают SBP на начало 2025. </a:t>
            </a:r>
            <a:r>
              <a:rPr u="sng">
                <a:solidFill>
                  <a:srgbClr val="0000EE"/>
                </a:solidFill>
                <a:hlinkClick r:id="rId4" invalidUrl="" action="" tgtFrame="" tooltip="" history="1" highlightClick="0" endSnd="0"/>
              </a:rPr>
              <a:t>Центральный банк России+1</a:t>
            </a:r>
          </a:p>
          <a:p>
            <a:pPr marL="457200" indent="-317500" defTabSz="457200">
              <a:lnSpc>
                <a:spcPct val="100000"/>
              </a:lnSpc>
              <a:spcBef>
                <a:spcPts val="1200"/>
              </a:spcBef>
              <a:buSzPct val="123000"/>
              <a:buFont typeface="Times Roman"/>
              <a:buChar char="•"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NSPK / Mir</a:t>
            </a:r>
            <a:r>
              <a:t> (контекст способов оплаты и комиссий): справки ЦБ РФ/NSPK. </a:t>
            </a:r>
            <a:r>
              <a:rPr u="sng">
                <a:solidFill>
                  <a:srgbClr val="0000EE"/>
                </a:solidFill>
                <a:hlinkClick r:id="rId5" invalidUrl="" action="" tgtFrame="" tooltip="" history="1" highlightClick="0" endSnd="0"/>
              </a:rPr>
              <a:t>Центральный банк России+1</a:t>
            </a:r>
          </a:p>
          <a:p>
            <a:pPr defTabSz="457200">
              <a:lnSpc>
                <a:spcPct val="100000"/>
              </a:lnSpc>
              <a:spcBef>
                <a:spcPts val="1400"/>
              </a:spcBef>
              <a:defRPr b="1" sz="14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E. Международные бенчмарки (содержательные отчёты)</a:t>
            </a:r>
          </a:p>
          <a:p>
            <a:pPr marL="457200" indent="-317500" defTabSz="457200">
              <a:lnSpc>
                <a:spcPct val="100000"/>
              </a:lnSpc>
              <a:spcBef>
                <a:spcPts val="1200"/>
              </a:spcBef>
              <a:buSzPct val="123000"/>
              <a:buFont typeface="Times Roman"/>
              <a:buChar char="•"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McKinsey — State of Grocery Europe 2025</a:t>
            </a:r>
            <a:r>
              <a:t> (ассортимент, поведение, экономика; роль AI/операционной эффективности). </a:t>
            </a:r>
            <a:r>
              <a:rPr u="sng">
                <a:solidFill>
                  <a:srgbClr val="0000EE"/>
                </a:solidFill>
                <a:hlinkClick r:id="rId6" invalidUrl="" action="" tgtFrame="" tooltip="" history="1" highlightClick="0" endSnd="0"/>
              </a:rPr>
              <a:t>McKinsey &amp; Company</a:t>
            </a:r>
          </a:p>
          <a:p>
            <a:pPr marL="457200" indent="-317500" defTabSz="457200">
              <a:lnSpc>
                <a:spcPct val="100000"/>
              </a:lnSpc>
              <a:spcBef>
                <a:spcPts val="1200"/>
              </a:spcBef>
              <a:buSzPct val="123000"/>
              <a:buFont typeface="Times Roman"/>
              <a:buChar char="•"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McKinsey — Global/Regional State of Grocery</a:t>
            </a:r>
            <a:r>
              <a:t> (NA/SEA/China/South Africa версии 2022–2024) — тренды экспозиции, last-mile, омниканал. </a:t>
            </a:r>
            <a:r>
              <a:rPr u="sng">
                <a:solidFill>
                  <a:srgbClr val="0000EE"/>
                </a:solidFill>
                <a:hlinkClick r:id="rId7" invalidUrl="" action="" tgtFrame="" tooltip="" history="1" highlightClick="0" endSnd="0"/>
              </a:rPr>
              <a:t>McKinsey &amp; Company+1</a:t>
            </a:r>
          </a:p>
          <a:p>
            <a:pPr defTabSz="457200">
              <a:lnSpc>
                <a:spcPct val="100000"/>
              </a:lnSpc>
              <a:spcBef>
                <a:spcPts val="1200"/>
              </a:spcBef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Используем </a:t>
            </a:r>
            <a:r>
              <a:rPr b="1"/>
              <a:t>как ориентиры</a:t>
            </a:r>
            <a:r>
              <a:t> для расстановки фокусов (C&amp;C vs Delivery, роли экспозиции и повтора) — без «переноса цифр» в РФ.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1200">
                <a:solidFill>
                  <a:srgbClr val="80808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 defTabSz="457200">
              <a:lnSpc>
                <a:spcPct val="100000"/>
              </a:lnSpc>
              <a:spcBef>
                <a:spcPts val="1400"/>
              </a:spcBef>
              <a:defRPr b="1" sz="18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Запросы в компанию (что нужно прямо сейчас)</a:t>
            </a:r>
          </a:p>
          <a:p>
            <a:pPr marL="457200" indent="-317500" defTabSz="457200">
              <a:lnSpc>
                <a:spcPct val="100000"/>
              </a:lnSpc>
              <a:spcBef>
                <a:spcPts val="1200"/>
              </a:spcBef>
              <a:buSzPct val="100000"/>
              <a:buFont typeface="Times Roman"/>
              <a:buAutoNum type="arabicPeriod" startAt="1"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Доступ к витринам событий</a:t>
            </a:r>
            <a:r>
              <a:t> (прод): перечисленные выше события + справочники </a:t>
            </a:r>
            <a:r>
              <a:rPr sz="1300">
                <a:latin typeface="Courier"/>
                <a:ea typeface="Courier"/>
                <a:cs typeface="Courier"/>
                <a:sym typeface="Courier"/>
              </a:rPr>
              <a:t>user_id/flow_id/order_id</a:t>
            </a:r>
            <a:r>
              <a:t>.</a:t>
            </a:r>
          </a:p>
          <a:p>
            <a:pPr marL="457200" indent="-317500" defTabSz="457200">
              <a:lnSpc>
                <a:spcPct val="100000"/>
              </a:lnSpc>
              <a:spcBef>
                <a:spcPts val="1200"/>
              </a:spcBef>
              <a:buSzPct val="100000"/>
              <a:buFont typeface="Times Roman"/>
              <a:buAutoNum type="arabicPeriod" startAt="1"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Категорийные данные</a:t>
            </a:r>
            <a:r>
              <a:t>: </a:t>
            </a:r>
            <a:r>
              <a:rPr sz="1300">
                <a:latin typeface="Courier"/>
                <a:ea typeface="Courier"/>
                <a:cs typeface="Courier"/>
                <a:sym typeface="Courier"/>
              </a:rPr>
              <a:t>AOV_cat</a:t>
            </a:r>
            <a:r>
              <a:t>, </a:t>
            </a:r>
            <a:r>
              <a:rPr sz="1300">
                <a:latin typeface="Courier"/>
                <a:ea typeface="Courier"/>
                <a:cs typeface="Courier"/>
                <a:sym typeface="Courier"/>
              </a:rPr>
              <a:t>share_cat</a:t>
            </a:r>
            <a:r>
              <a:t> по Delivery/C&amp;C; маржинальность, ExpReturns по категориям.</a:t>
            </a:r>
          </a:p>
          <a:p>
            <a:pPr marL="457200" indent="-317500" defTabSz="457200">
              <a:lnSpc>
                <a:spcPct val="100000"/>
              </a:lnSpc>
              <a:spcBef>
                <a:spcPts val="1200"/>
              </a:spcBef>
              <a:buSzPct val="100000"/>
              <a:buFont typeface="Times Roman"/>
              <a:buAutoNum type="arabicPeriod" startAt="1"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Оплаты/логистика</a:t>
            </a:r>
            <a:r>
              <a:t>: комиссии по методам (карта/SBP/Мир Pay), переменная логистика по СЦ/слотам, нормы пикинга.</a:t>
            </a:r>
          </a:p>
          <a:p>
            <a:pPr marL="457200" indent="-317500" defTabSz="457200">
              <a:lnSpc>
                <a:spcPct val="100000"/>
              </a:lnSpc>
              <a:spcBef>
                <a:spcPts val="1200"/>
              </a:spcBef>
              <a:buSzPct val="100000"/>
              <a:buFont typeface="Times Roman"/>
              <a:buAutoNum type="arabicPeriod" startAt="1"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Саппорт</a:t>
            </a:r>
            <a:r>
              <a:t>: выгрузка причин обращений/претензий (после-покупка).</a:t>
            </a:r>
          </a:p>
          <a:p>
            <a:pPr marL="457200" indent="-317500" defTabSz="457200">
              <a:lnSpc>
                <a:spcPct val="100000"/>
              </a:lnSpc>
              <a:spcBef>
                <a:spcPts val="1200"/>
              </a:spcBef>
              <a:buSzPct val="100000"/>
              <a:buFont typeface="Times Roman"/>
              <a:buAutoNum type="arabicPeriod" startAt="1"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UX-конкурентка</a:t>
            </a:r>
            <a:r>
              <a:t>: разрешение на запись видео-трейсов (только для внутреннего бенчмаркинга).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1200">
                <a:solidFill>
                  <a:srgbClr val="80808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 defTabSz="457200">
              <a:lnSpc>
                <a:spcPct val="100000"/>
              </a:lnSpc>
              <a:spcBef>
                <a:spcPts val="1400"/>
              </a:spcBef>
              <a:defRPr b="1" sz="18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Что отдаём на следующих слайдах Приложения B</a:t>
            </a:r>
          </a:p>
          <a:p>
            <a:pPr marL="457200" indent="-317500" defTabSz="457200">
              <a:lnSpc>
                <a:spcPct val="100000"/>
              </a:lnSpc>
              <a:spcBef>
                <a:spcPts val="1200"/>
              </a:spcBef>
              <a:buSzPct val="123000"/>
              <a:buFont typeface="Times Roman"/>
              <a:buChar char="•"/>
              <a:defRPr b="1"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B2. План полевых исследований (скрининг, сценарии, гайды, выборка, тайминг).</a:t>
            </a:r>
            <a:endParaRPr b="0"/>
          </a:p>
          <a:p>
            <a:pPr marL="457200" indent="-317500" defTabSz="457200">
              <a:lnSpc>
                <a:spcPct val="100000"/>
              </a:lnSpc>
              <a:spcBef>
                <a:spcPts val="1200"/>
              </a:spcBef>
              <a:buSzPct val="123000"/>
              <a:buFont typeface="Times Roman"/>
              <a:buChar char="•"/>
              <a:defRPr b="1"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B3. Таблица бенчмарков: паттерн → где смотреть → как измеряем → как адаптируем в A/B.</a:t>
            </a:r>
            <a:endParaRPr b="0"/>
          </a:p>
          <a:p>
            <a:pPr marL="457200" indent="-317500" defTabSz="457200">
              <a:lnSpc>
                <a:spcPct val="100000"/>
              </a:lnSpc>
              <a:spcBef>
                <a:spcPts val="1200"/>
              </a:spcBef>
              <a:buSzPct val="123000"/>
              <a:buFont typeface="Times Roman"/>
              <a:buChar char="•"/>
              <a:defRPr b="1"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B4. «Data Ready» чек-лист для аналитики и расчётов NSM/GMV/P&amp;L.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Приложение B — Слайд B2 (обновлённый). Валидация гипотез: чек-лист для тестового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83463">
              <a:lnSpc>
                <a:spcPct val="100000"/>
              </a:lnSpc>
              <a:spcBef>
                <a:spcPts val="900"/>
              </a:spcBef>
              <a:defRPr b="0" spc="0" sz="4030">
                <a:latin typeface="PP Object Sans Heavy"/>
                <a:ea typeface="PP Object Sans Heavy"/>
                <a:cs typeface="PP Object Sans Heavy"/>
                <a:sym typeface="PP Object Sans Heavy"/>
              </a:defRPr>
            </a:lvl1pPr>
          </a:lstStyle>
          <a:p>
            <a:pPr/>
            <a:r>
              <a:t>Приложение B — Слайд B2 (обновлённый). Валидация гипотез: чек-лист для тестового</a:t>
            </a:r>
          </a:p>
        </p:txBody>
      </p:sp>
      <p:sp>
        <p:nvSpPr>
          <p:cNvPr id="272" name="ель: минимально необходимое, чтобы подтвердить 4 инициативы без разворота большого ресёрча.…"/>
          <p:cNvSpPr txBox="1"/>
          <p:nvPr>
            <p:ph type="body" sz="half" idx="1"/>
          </p:nvPr>
        </p:nvSpPr>
        <p:spPr>
          <a:xfrm>
            <a:off x="1030417" y="2838656"/>
            <a:ext cx="10770838" cy="10651747"/>
          </a:xfrm>
          <a:prstGeom prst="rect">
            <a:avLst/>
          </a:prstGeom>
        </p:spPr>
        <p:txBody>
          <a:bodyPr/>
          <a:lstStyle/>
          <a:p>
            <a:pPr marL="0" indent="0" defTabSz="448055">
              <a:lnSpc>
                <a:spcPct val="100000"/>
              </a:lnSpc>
              <a:spcBef>
                <a:spcPts val="1100"/>
              </a:spcBef>
              <a:buSzTx/>
              <a:buNone/>
              <a:defRPr sz="196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ель:</a:t>
            </a:r>
            <a:r>
              <a:t> минимально необходимое, чтобы подтвердить 4 инициативы </a:t>
            </a:r>
            <a:r>
              <a:rPr b="1"/>
              <a:t>без разворота большого ресёрча</a:t>
            </a:r>
            <a:r>
              <a:t>.</a:t>
            </a:r>
          </a:p>
          <a:p>
            <a:pPr marL="0" indent="0" defTabSz="448055">
              <a:lnSpc>
                <a:spcPct val="100000"/>
              </a:lnSpc>
              <a:spcBef>
                <a:spcPts val="1100"/>
              </a:spcBef>
              <a:buSzTx/>
              <a:buNone/>
              <a:defRPr b="1" sz="196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Что уже опирается на данные (✓):</a:t>
            </a:r>
            <a:endParaRPr b="0"/>
          </a:p>
          <a:p>
            <a:pPr marL="448055" indent="-311150" defTabSz="448055">
              <a:lnSpc>
                <a:spcPct val="100000"/>
              </a:lnSpc>
              <a:spcBef>
                <a:spcPts val="1100"/>
              </a:spcBef>
              <a:buFont typeface="Times Roman"/>
              <a:defRPr sz="196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✓ 665 пользовательских сигналов из вашей базы (Магнит/Маркет) — карта болей.</a:t>
            </a:r>
          </a:p>
          <a:p>
            <a:pPr marL="448055" indent="-311150" defTabSz="448055">
              <a:lnSpc>
                <a:spcPct val="100000"/>
              </a:lnSpc>
              <a:spcBef>
                <a:spcPts val="1100"/>
              </a:spcBef>
              <a:buFont typeface="Times Roman"/>
              <a:defRPr sz="196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✓ UX-аудит скринов: входы, PLP/PDP, две корзины, checkout, post-purchase.</a:t>
            </a:r>
          </a:p>
          <a:p>
            <a:pPr marL="448055" indent="-311150" defTabSz="448055">
              <a:lnSpc>
                <a:spcPct val="100000"/>
              </a:lnSpc>
              <a:spcBef>
                <a:spcPts val="1100"/>
              </a:spcBef>
              <a:buFont typeface="Times Roman"/>
              <a:defRPr sz="196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✓ Факты тестового: OMNI MAU, ин-апп Маркета, текущий NSM=~1%.</a:t>
            </a:r>
          </a:p>
          <a:p>
            <a:pPr marL="0" indent="0" defTabSz="448055">
              <a:lnSpc>
                <a:spcPct val="100000"/>
              </a:lnSpc>
              <a:spcBef>
                <a:spcPts val="1100"/>
              </a:spcBef>
              <a:buSzTx/>
              <a:buNone/>
              <a:defRPr b="1" sz="196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Что подтвердить на проде (быстрыми A/B, 0–8 недель):</a:t>
            </a:r>
            <a:endParaRPr b="0"/>
          </a:p>
          <a:p>
            <a:pPr marL="448055" indent="-311150" defTabSz="448055">
              <a:lnSpc>
                <a:spcPct val="100000"/>
              </a:lnSpc>
              <a:spcBef>
                <a:spcPts val="1100"/>
              </a:spcBef>
              <a:buSzPct val="100000"/>
              <a:buFont typeface="Times Roman"/>
              <a:buAutoNum type="arabicPeriod" startAt="1"/>
              <a:defRPr b="1" sz="196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Навигация/единый вход → Exposure/CTR</a:t>
            </a:r>
            <a:br>
              <a:rPr b="0"/>
            </a:br>
            <a:r>
              <a:rPr b="0"/>
              <a:t>– MDE: Views </a:t>
            </a:r>
            <a:r>
              <a:t>+15–20 п.п.</a:t>
            </a:r>
            <a:r>
              <a:rPr b="0"/>
              <a:t>, CTR </a:t>
            </a:r>
            <a:r>
              <a:t>+0.3–0.5 п.п.</a:t>
            </a:r>
            <a:br>
              <a:rPr b="0"/>
            </a:br>
            <a:r>
              <a:rPr b="0"/>
              <a:t>– События: </a:t>
            </a:r>
            <a:r>
              <a:rPr b="0">
                <a:latin typeface="Courier"/>
                <a:ea typeface="Courier"/>
                <a:cs typeface="Courier"/>
                <a:sym typeface="Courier"/>
              </a:rPr>
              <a:t>view/click_shop_entry</a:t>
            </a:r>
            <a:r>
              <a:rPr b="0"/>
              <a:t>, </a:t>
            </a:r>
            <a:r>
              <a:rPr b="0">
                <a:latin typeface="Courier"/>
                <a:ea typeface="Courier"/>
                <a:cs typeface="Courier"/>
                <a:sym typeface="Courier"/>
              </a:rPr>
              <a:t>source_badge_shown</a:t>
            </a:r>
            <a:r>
              <a:rPr b="0"/>
              <a:t>.</a:t>
            </a:r>
            <a:endParaRPr b="0"/>
          </a:p>
          <a:p>
            <a:pPr marL="448055" indent="-311150" defTabSz="448055">
              <a:lnSpc>
                <a:spcPct val="100000"/>
              </a:lnSpc>
              <a:spcBef>
                <a:spcPts val="1100"/>
              </a:spcBef>
              <a:buSzPct val="100000"/>
              <a:buFont typeface="Times Roman"/>
              <a:buAutoNum type="arabicPeriod" startAt="1"/>
              <a:defRPr b="1" sz="196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Quick-add/повтор → ATC/AOV</a:t>
            </a:r>
            <a:br>
              <a:rPr b="0"/>
            </a:br>
            <a:r>
              <a:rPr b="0"/>
              <a:t>– MDE: ATC </a:t>
            </a:r>
            <a:r>
              <a:t>+1–2 п.п.</a:t>
            </a:r>
            <a:r>
              <a:rPr b="0"/>
              <a:t>, AOV </a:t>
            </a:r>
            <a:r>
              <a:t>+8–12%</a:t>
            </a:r>
            <a:br>
              <a:rPr b="0"/>
            </a:br>
            <a:r>
              <a:rPr b="0"/>
              <a:t>– События: </a:t>
            </a:r>
            <a:r>
              <a:rPr b="0">
                <a:latin typeface="Courier"/>
                <a:ea typeface="Courier"/>
                <a:cs typeface="Courier"/>
                <a:sym typeface="Courier"/>
              </a:rPr>
              <a:t>plp_quick_add</a:t>
            </a:r>
            <a:r>
              <a:rPr b="0"/>
              <a:t>, </a:t>
            </a:r>
            <a:r>
              <a:rPr b="0">
                <a:latin typeface="Courier"/>
                <a:ea typeface="Courier"/>
                <a:cs typeface="Courier"/>
                <a:sym typeface="Courier"/>
              </a:rPr>
              <a:t>atc_latency_ms</a:t>
            </a:r>
            <a:r>
              <a:rPr b="0"/>
              <a:t>, </a:t>
            </a:r>
            <a:r>
              <a:rPr b="0">
                <a:latin typeface="Courier"/>
                <a:ea typeface="Courier"/>
                <a:cs typeface="Courier"/>
                <a:sym typeface="Courier"/>
              </a:rPr>
              <a:t>multiadd_submit</a:t>
            </a:r>
            <a:r>
              <a:rPr b="0"/>
              <a:t>.</a:t>
            </a:r>
            <a:endParaRPr b="0"/>
          </a:p>
          <a:p>
            <a:pPr marL="448055" indent="-311150" defTabSz="448055">
              <a:lnSpc>
                <a:spcPct val="100000"/>
              </a:lnSpc>
              <a:spcBef>
                <a:spcPts val="1100"/>
              </a:spcBef>
              <a:buSzPct val="100000"/>
              <a:buFont typeface="Times Roman"/>
              <a:buAutoNum type="arabicPeriod" startAt="1"/>
              <a:defRPr b="1" sz="196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Мост mixed-cart → Checkout CVR</a:t>
            </a:r>
            <a:br>
              <a:rPr b="0"/>
            </a:br>
            <a:r>
              <a:rPr b="0"/>
              <a:t>– MDE: Checkout (mixed) </a:t>
            </a:r>
            <a:r>
              <a:t>+3–5 п.п.</a:t>
            </a:r>
            <a:br>
              <a:rPr b="0"/>
            </a:br>
            <a:r>
              <a:rPr b="0"/>
              <a:t>– События: </a:t>
            </a:r>
            <a:r>
              <a:rPr b="0">
                <a:latin typeface="Courier"/>
                <a:ea typeface="Courier"/>
                <a:cs typeface="Courier"/>
                <a:sym typeface="Courier"/>
              </a:rPr>
              <a:t>cart_mixed_flag</a:t>
            </a:r>
            <a:r>
              <a:rPr b="0"/>
              <a:t>, </a:t>
            </a:r>
            <a:r>
              <a:rPr b="0">
                <a:latin typeface="Courier"/>
                <a:ea typeface="Courier"/>
                <a:cs typeface="Courier"/>
                <a:sym typeface="Courier"/>
              </a:rPr>
              <a:t>cta_split_checkout_click</a:t>
            </a:r>
            <a:r>
              <a:rPr b="0"/>
              <a:t>.</a:t>
            </a:r>
            <a:endParaRPr b="0"/>
          </a:p>
          <a:p>
            <a:pPr marL="448055" indent="-311150" defTabSz="448055">
              <a:lnSpc>
                <a:spcPct val="100000"/>
              </a:lnSpc>
              <a:spcBef>
                <a:spcPts val="1100"/>
              </a:spcBef>
              <a:buSzPct val="100000"/>
              <a:buFont typeface="Times Roman"/>
              <a:buAutoNum type="arabicPeriod" startAt="1"/>
              <a:defRPr b="1" sz="196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ETA/претензии → Fulfillment/Repeat</a:t>
            </a:r>
            <a:br>
              <a:rPr b="0"/>
            </a:br>
            <a:r>
              <a:rPr b="0"/>
              <a:t>– MDE: Delivered-success </a:t>
            </a:r>
            <a:r>
              <a:t>+2–3 п.п.</a:t>
            </a:r>
            <a:r>
              <a:rPr b="0"/>
              <a:t>, On-time </a:t>
            </a:r>
            <a:r>
              <a:t>+Y п.п.</a:t>
            </a:r>
            <a:br>
              <a:rPr b="0"/>
            </a:br>
            <a:r>
              <a:rPr b="0"/>
              <a:t>– События: </a:t>
            </a:r>
            <a:r>
              <a:rPr b="0">
                <a:latin typeface="Courier"/>
                <a:ea typeface="Courier"/>
                <a:cs typeface="Courier"/>
                <a:sym typeface="Courier"/>
              </a:rPr>
              <a:t>order_status_update(ETA)</a:t>
            </a:r>
            <a:r>
              <a:rPr b="0"/>
              <a:t>, </a:t>
            </a:r>
            <a:r>
              <a:rPr b="0">
                <a:latin typeface="Courier"/>
                <a:ea typeface="Courier"/>
                <a:cs typeface="Courier"/>
                <a:sym typeface="Courier"/>
              </a:rPr>
              <a:t>claim_one_click</a:t>
            </a:r>
            <a:r>
              <a:rPr b="0"/>
              <a:t>.</a:t>
            </a:r>
            <a:endParaRPr b="0"/>
          </a:p>
          <a:p>
            <a:pPr marL="0" indent="0" defTabSz="448055">
              <a:lnSpc>
                <a:spcPct val="100000"/>
              </a:lnSpc>
              <a:spcBef>
                <a:spcPts val="1100"/>
              </a:spcBef>
              <a:buSzTx/>
              <a:buNone/>
              <a:defRPr b="1" sz="196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Guardrails (обязательно в каждом тесте):</a:t>
            </a:r>
            <a:endParaRPr b="0"/>
          </a:p>
          <a:p>
            <a:pPr marL="448055" indent="-311150" defTabSz="448055">
              <a:lnSpc>
                <a:spcPct val="100000"/>
              </a:lnSpc>
              <a:spcBef>
                <a:spcPts val="1100"/>
              </a:spcBef>
              <a:buFont typeface="Times Roman"/>
              <a:defRPr sz="196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CM2/order ≥ 0</a:t>
            </a:r>
            <a:r>
              <a:t> (Delivery и C&amp;C), </a:t>
            </a:r>
            <a:r>
              <a:rPr b="1"/>
              <a:t>NPS/CSAT не хуже</a:t>
            </a:r>
            <a:r>
              <a:t>, </a:t>
            </a:r>
            <a:r>
              <a:rPr b="1"/>
              <a:t>SRM=0</a:t>
            </a:r>
            <a:r>
              <a:t>.</a:t>
            </a:r>
          </a:p>
          <a:p>
            <a:pPr marL="448055" indent="-311150" defTabSz="448055">
              <a:lnSpc>
                <a:spcPct val="100000"/>
              </a:lnSpc>
              <a:spcBef>
                <a:spcPts val="1100"/>
              </a:spcBef>
              <a:buFont typeface="Times Roman"/>
              <a:defRPr sz="196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Каннибализация офлайна ≤ </a:t>
            </a:r>
            <a:r>
              <a:rPr b="1"/>
              <a:t>K%</a:t>
            </a:r>
            <a:r>
              <a:t> (geo-holdouts).</a:t>
            </a:r>
          </a:p>
          <a:p>
            <a:pPr marL="0" indent="0" defTabSz="448055">
              <a:lnSpc>
                <a:spcPct val="100000"/>
              </a:lnSpc>
              <a:spcBef>
                <a:spcPts val="1100"/>
              </a:spcBef>
              <a:buSzTx/>
              <a:buNone/>
              <a:defRPr b="1" sz="196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Вопросы компании (ровно то, что просит формат тестового):</a:t>
            </a:r>
            <a:endParaRPr b="0"/>
          </a:p>
          <a:p>
            <a:pPr marL="448055" indent="-311150" defTabSz="448055">
              <a:lnSpc>
                <a:spcPct val="100000"/>
              </a:lnSpc>
              <a:spcBef>
                <a:spcPts val="1100"/>
              </a:spcBef>
              <a:buFont typeface="Times Roman"/>
              <a:defRPr b="1" sz="196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0"/>
              <a:t>Доступ к метрикам </a:t>
            </a:r>
            <a:r>
              <a:t>aMAU, Fulfillment_success, AOV_cat/share_cat</a:t>
            </a:r>
            <a:r>
              <a:rPr b="0"/>
              <a:t> (Delivery/C&amp;C).</a:t>
            </a:r>
            <a:endParaRPr b="0"/>
          </a:p>
          <a:p>
            <a:pPr marL="448055" indent="-311150" defTabSz="448055">
              <a:lnSpc>
                <a:spcPct val="100000"/>
              </a:lnSpc>
              <a:spcBef>
                <a:spcPts val="1100"/>
              </a:spcBef>
              <a:buFont typeface="Times Roman"/>
              <a:defRPr sz="196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Комиссии платёжных методов, переменная логистика, нормы пикинга (для CM2/UCM).</a:t>
            </a:r>
          </a:p>
          <a:p>
            <a:pPr marL="448055" indent="-311150" defTabSz="448055">
              <a:lnSpc>
                <a:spcPct val="100000"/>
              </a:lnSpc>
              <a:spcBef>
                <a:spcPts val="1100"/>
              </a:spcBef>
              <a:buFont typeface="Times Roman"/>
              <a:defRPr sz="196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OMS-статусы/ETA, шаблоны уведомлений (для инициативы по пост-покупке).</a:t>
            </a:r>
          </a:p>
        </p:txBody>
      </p:sp>
      <p:sp>
        <p:nvSpPr>
          <p:cNvPr id="273" name="-"/>
          <p:cNvSpPr txBox="1"/>
          <p:nvPr/>
        </p:nvSpPr>
        <p:spPr>
          <a:xfrm>
            <a:off x="13150377" y="2838656"/>
            <a:ext cx="10770838" cy="110757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defTabSz="457200">
              <a:lnSpc>
                <a:spcPct val="100000"/>
              </a:lnSpc>
              <a:spcBef>
                <a:spcPts val="1400"/>
              </a:spcBef>
              <a:defRPr b="1" sz="14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-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Приложение B — Слайд B3. Бенчмарки: «паттерн → где смотреть → как мерим → как адаптируем в A/B»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83463">
              <a:lnSpc>
                <a:spcPct val="100000"/>
              </a:lnSpc>
              <a:defRPr b="0" spc="0" sz="403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lvl1pPr>
          </a:lstStyle>
          <a:p>
            <a:pPr/>
            <a:r>
              <a:t>Приложение B — Слайд B3. Бенчмарки: «паттерн → где смотреть → как мерим → как адаптируем в A/B»</a:t>
            </a:r>
          </a:p>
        </p:txBody>
      </p:sp>
      <p:graphicFrame>
        <p:nvGraphicFramePr>
          <p:cNvPr id="276" name="Table 1"/>
          <p:cNvGraphicFramePr/>
          <p:nvPr/>
        </p:nvGraphicFramePr>
        <p:xfrm>
          <a:off x="1478366" y="3365913"/>
          <a:ext cx="21538373" cy="8586427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416080"/>
                <a:gridCol w="2943770"/>
                <a:gridCol w="3060360"/>
                <a:gridCol w="4179443"/>
                <a:gridCol w="2619574"/>
                <a:gridCol w="8306443"/>
              </a:tblGrid>
              <a:tr h="659517">
                <a:tc>
                  <a:txBody>
                    <a:bodyPr/>
                    <a:lstStyle/>
                    <a:p>
                      <a:pPr defTabSz="457200"/>
                      <a:r>
                        <a:rPr b="1"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#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defTabSz="457200"/>
                      <a:r>
                        <a:rPr b="1"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UX-паттерн (что именно)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defTabSz="457200"/>
                      <a:r>
                        <a:rPr b="1"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Где смотреть (реф-примеры)*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defTabSz="457200"/>
                      <a:r>
                        <a:rPr b="1"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Что записать (артефакты)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defTabSz="457200"/>
                      <a:r>
                        <a:rPr b="1"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Как мерим успех (продуктовые метрики)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defTabSz="457200"/>
                      <a:r>
                        <a:rPr b="1"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Как адаптируем в A/B (варианты + события)</a:t>
                      </a:r>
                    </a:p>
                  </a:txBody>
                  <a:tcPr marL="12700" marR="12700" marT="12700" marB="12700" anchor="ctr" anchorCtr="0" horzOverflow="overflow"/>
                </a:tc>
              </a:tr>
              <a:tr h="659517">
                <a:tc>
                  <a:txBody>
                    <a:bodyPr/>
                    <a:lstStyle/>
                    <a:p>
                      <a:pPr algn="r" defTabSz="457200"/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1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b="1"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Единый вход «Покупки» + 2 таба каналов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Instacart, Walmart, Carrefour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Видео: расположение входа, текст про различия каналов, поведение при таче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Views ↑, CTR входов ↑, Mixed-cart rate ↔/↓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defRPr sz="1200">
                          <a:latin typeface="Times Roman"/>
                          <a:ea typeface="Times Roman"/>
                          <a:cs typeface="Times Roman"/>
                          <a:sym typeface="Times Roman"/>
                        </a:defRPr>
                      </a:pPr>
                      <a:r>
                        <a:t>V1/V2/V3 позиция входа и копи; события </a:t>
                      </a:r>
                      <a:r>
                        <a:rPr sz="1300">
                          <a:latin typeface="Courier"/>
                          <a:ea typeface="Courier"/>
                          <a:cs typeface="Courier"/>
                          <a:sym typeface="Courier"/>
                        </a:rPr>
                        <a:t>view/click_shop_entry</a:t>
                      </a:r>
                      <a:r>
                        <a:t>, </a:t>
                      </a:r>
                      <a:r>
                        <a:rPr sz="1300">
                          <a:latin typeface="Courier"/>
                          <a:ea typeface="Courier"/>
                          <a:cs typeface="Courier"/>
                          <a:sym typeface="Courier"/>
                        </a:rPr>
                        <a:t>tab_source_select</a:t>
                      </a:r>
                      <a:r>
                        <a:t>, </a:t>
                      </a:r>
                      <a:r>
                        <a:rPr sz="1300">
                          <a:latin typeface="Courier"/>
                          <a:ea typeface="Courier"/>
                          <a:cs typeface="Courier"/>
                          <a:sym typeface="Courier"/>
                        </a:rPr>
                        <a:t>source_badge_shown</a:t>
                      </a:r>
                    </a:p>
                  </a:txBody>
                  <a:tcPr marL="12700" marR="12700" marT="12700" marB="12700" anchor="ctr" anchorCtr="0" horzOverflow="overflow"/>
                </a:tc>
              </a:tr>
              <a:tr h="659517">
                <a:tc>
                  <a:txBody>
                    <a:bodyPr/>
                    <a:lstStyle/>
                    <a:p>
                      <a:pPr algn="r" defTabSz="457200"/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2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b="1"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Бейдж источника на PLP/PDP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Amazon (“Sold by / Fulfilled by”), Instacart (store badge)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Скрины карточек, место бейджа, короткий хинт при смене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CTR PLP→PDP ↑, Drop@Mixed-Cart ↓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defRPr sz="1200">
                          <a:latin typeface="Times Roman"/>
                          <a:ea typeface="Times Roman"/>
                          <a:cs typeface="Times Roman"/>
                          <a:sym typeface="Times Roman"/>
                        </a:defRPr>
                      </a:pPr>
                      <a:r>
                        <a:t>A/B «есть/нет бейджа» и вариант копи; события </a:t>
                      </a:r>
                      <a:r>
                        <a:rPr sz="1300">
                          <a:latin typeface="Courier"/>
                          <a:ea typeface="Courier"/>
                          <a:cs typeface="Courier"/>
                          <a:sym typeface="Courier"/>
                        </a:rPr>
                        <a:t>source_badge_shown</a:t>
                      </a:r>
                      <a:r>
                        <a:t>, </a:t>
                      </a:r>
                      <a:r>
                        <a:rPr sz="1300">
                          <a:latin typeface="Courier"/>
                          <a:ea typeface="Courier"/>
                          <a:cs typeface="Courier"/>
                          <a:sym typeface="Courier"/>
                        </a:rPr>
                        <a:t>source_switch_hint_view/confirm</a:t>
                      </a:r>
                    </a:p>
                  </a:txBody>
                  <a:tcPr marL="12700" marR="12700" marT="12700" marB="12700" anchor="ctr" anchorCtr="0" horzOverflow="overflow"/>
                </a:tc>
              </a:tr>
              <a:tr h="659517">
                <a:tc>
                  <a:txBody>
                    <a:bodyPr/>
                    <a:lstStyle/>
                    <a:p>
                      <a:pPr algn="r" defTabSz="457200"/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3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b="1"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Quick-add на PLP (безатрибутные SKU)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Instacart, Walmart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Гифы нажатия “+”, тост/undo, мини-корзина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ATC CVR ↑, ATC-latency ↓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defRPr sz="1200">
                          <a:latin typeface="Times Roman"/>
                          <a:ea typeface="Times Roman"/>
                          <a:cs typeface="Times Roman"/>
                          <a:sym typeface="Times Roman"/>
                        </a:defRPr>
                      </a:pPr>
                      <a:r>
                        <a:t>A/B “+” vs baseline; </a:t>
                      </a:r>
                      <a:r>
                        <a:rPr sz="1300">
                          <a:latin typeface="Courier"/>
                          <a:ea typeface="Courier"/>
                          <a:cs typeface="Courier"/>
                          <a:sym typeface="Courier"/>
                        </a:rPr>
                        <a:t>plp_quick_add</a:t>
                      </a:r>
                      <a:r>
                        <a:t>, </a:t>
                      </a:r>
                      <a:r>
                        <a:rPr sz="1300">
                          <a:latin typeface="Courier"/>
                          <a:ea typeface="Courier"/>
                          <a:cs typeface="Courier"/>
                          <a:sym typeface="Courier"/>
                        </a:rPr>
                        <a:t>atc_latency_ms</a:t>
                      </a:r>
                      <a:r>
                        <a:t>, </a:t>
                      </a:r>
                      <a:r>
                        <a:rPr sz="1300">
                          <a:latin typeface="Courier"/>
                          <a:ea typeface="Courier"/>
                          <a:cs typeface="Courier"/>
                          <a:sym typeface="Courier"/>
                        </a:rPr>
                        <a:t>minicart_open</a:t>
                      </a:r>
                    </a:p>
                  </a:txBody>
                  <a:tcPr marL="12700" marR="12700" marT="12700" marB="12700" anchor="ctr" anchorCtr="0" horzOverflow="overflow"/>
                </a:tc>
              </a:tr>
              <a:tr h="659517">
                <a:tc>
                  <a:txBody>
                    <a:bodyPr/>
                    <a:lstStyle/>
                    <a:p>
                      <a:pPr algn="r" defTabSz="457200"/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4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b="1"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Компактный селектор вариантов из PLP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Amazon, Carrefour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Видео bottom-sheet: выбор варианта, возврат в ленту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ATC CVR ↑ (вариативные), PDP visits ↔/↓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defRPr sz="1200">
                          <a:latin typeface="Times Roman"/>
                          <a:ea typeface="Times Roman"/>
                          <a:cs typeface="Times Roman"/>
                          <a:sym typeface="Times Roman"/>
                        </a:defRPr>
                      </a:pPr>
                      <a:r>
                        <a:t>A/B «селектор vs переход в PDP»; </a:t>
                      </a:r>
                      <a:r>
                        <a:rPr sz="1300">
                          <a:latin typeface="Courier"/>
                          <a:ea typeface="Courier"/>
                          <a:cs typeface="Courier"/>
                          <a:sym typeface="Courier"/>
                        </a:rPr>
                        <a:t>plp_variant_open/select</a:t>
                      </a:r>
                    </a:p>
                  </a:txBody>
                  <a:tcPr marL="12700" marR="12700" marT="12700" marB="12700" anchor="ctr" anchorCtr="0" horzOverflow="overflow"/>
                </a:tc>
              </a:tr>
              <a:tr h="659517">
                <a:tc>
                  <a:txBody>
                    <a:bodyPr/>
                    <a:lstStyle/>
                    <a:p>
                      <a:pPr algn="r" defTabSz="457200"/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5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b="1"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Мультивыбор + «Добавить выбранные»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Amazon lists, Instacart multi-select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Скрины чекбоксов, текст CTA, суммирование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AOV ↑, ATC/Session ↑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defRPr sz="1200">
                          <a:latin typeface="Times Roman"/>
                          <a:ea typeface="Times Roman"/>
                          <a:cs typeface="Times Roman"/>
                          <a:sym typeface="Times Roman"/>
                        </a:defRPr>
                      </a:pPr>
                      <a:r>
                        <a:t>A/B «мультивыбор on/off»; </a:t>
                      </a:r>
                      <a:r>
                        <a:rPr sz="1300">
                          <a:latin typeface="Courier"/>
                          <a:ea typeface="Courier"/>
                          <a:cs typeface="Courier"/>
                          <a:sym typeface="Courier"/>
                        </a:rPr>
                        <a:t>multiadd_select/submit</a:t>
                      </a:r>
                    </a:p>
                  </a:txBody>
                  <a:tcPr marL="12700" marR="12700" marT="12700" marB="12700" anchor="ctr" anchorCtr="0" horzOverflow="overflow"/>
                </a:tc>
              </a:tr>
              <a:tr h="659517">
                <a:tc>
                  <a:txBody>
                    <a:bodyPr/>
                    <a:lstStyle/>
                    <a:p>
                      <a:pPr algn="r" defTabSz="457200"/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6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b="1"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Повтор «Покупай снова/Мои 20» над сгибом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Amazon “Buy it again”, Instacart “Your items”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Позиция блока, размер карточек, копи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ATC из блока ↑, AOV ↑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defRPr sz="1200">
                          <a:latin typeface="Times Roman"/>
                          <a:ea typeface="Times Roman"/>
                          <a:cs typeface="Times Roman"/>
                          <a:sym typeface="Times Roman"/>
                        </a:defRPr>
                      </a:pPr>
                      <a:r>
                        <a:t>A/B порядок блоков; </a:t>
                      </a:r>
                      <a:r>
                        <a:rPr sz="1300">
                          <a:latin typeface="Courier"/>
                          <a:ea typeface="Courier"/>
                          <a:cs typeface="Courier"/>
                          <a:sym typeface="Courier"/>
                        </a:rPr>
                        <a:t>list_type=reorder</a:t>
                      </a:r>
                      <a:r>
                        <a:t>, </a:t>
                      </a:r>
                      <a:r>
                        <a:rPr sz="1300">
                          <a:latin typeface="Courier"/>
                          <a:ea typeface="Courier"/>
                          <a:cs typeface="Courier"/>
                          <a:sym typeface="Courier"/>
                        </a:rPr>
                        <a:t>atc_from_reorder</a:t>
                      </a:r>
                    </a:p>
                  </a:txBody>
                  <a:tcPr marL="12700" marR="12700" marT="12700" marB="12700" anchor="ctr" anchorCtr="0" horzOverflow="overflow"/>
                </a:tc>
              </a:tr>
              <a:tr h="659517">
                <a:tc>
                  <a:txBody>
                    <a:bodyPr/>
                    <a:lstStyle/>
                    <a:p>
                      <a:pPr algn="r" defTabSz="457200"/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7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b="1"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Нудж до порога бесплатной доставки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Amazon, Ocado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Формулировки «Ещё на … — и free», 3 быстрых предложения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AOV ≥ AOV* ↑, CM2/order ↔/↑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defRPr sz="1300">
                          <a:latin typeface="Courier"/>
                          <a:ea typeface="Courier"/>
                          <a:cs typeface="Courier"/>
                          <a:sym typeface="Courier"/>
                        </a:defRPr>
                      </a:pPr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A/B размер дельты (200/300/400); </a:t>
                      </a:r>
                      <a:r>
                        <a:t>autotopup_offer_shown/clicked/accepted</a:t>
                      </a:r>
                    </a:p>
                  </a:txBody>
                  <a:tcPr marL="12700" marR="12700" marT="12700" marB="12700" anchor="ctr" anchorCtr="0" horzOverflow="overflow"/>
                </a:tc>
              </a:tr>
              <a:tr h="659517">
                <a:tc>
                  <a:txBody>
                    <a:bodyPr/>
                    <a:lstStyle/>
                    <a:p>
                      <a:pPr algn="r" defTabSz="457200"/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8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b="1"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Инфо-бар «смешанная корзина» + split-checkout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Amazon (multi-seller), AliExpress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Текст бара, порядок оформления, прозрачность fee/ETA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Checkout CVR (mixed) ↑, Pay-success ↔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defRPr sz="1300">
                          <a:latin typeface="Courier"/>
                          <a:ea typeface="Courier"/>
                          <a:cs typeface="Courier"/>
                          <a:sym typeface="Courier"/>
                        </a:defRPr>
                      </a:pPr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A/B «мост on/off»; </a:t>
                      </a:r>
                      <a:r>
                        <a:t>cart_mixed_flag</a:t>
                      </a:r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, </a:t>
                      </a:r>
                      <a:r>
                        <a:t>cta_split_checkout_click</a:t>
                      </a:r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, </a:t>
                      </a:r>
                      <a:r>
                        <a:t>checkout_flow_id</a:t>
                      </a:r>
                    </a:p>
                  </a:txBody>
                  <a:tcPr marL="12700" marR="12700" marT="12700" marB="12700" anchor="ctr" anchorCtr="0" horzOverflow="overflow"/>
                </a:tc>
              </a:tr>
              <a:tr h="659517">
                <a:tc>
                  <a:txBody>
                    <a:bodyPr/>
                    <a:lstStyle/>
                    <a:p>
                      <a:pPr algn="r" defTabSz="457200"/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9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b="1"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Повтор метода оплаты (token reuse)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Amazon, крупные маркетплейсы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Видео: как сохраняют метод, что пишут при повторе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Pay-success ↑, Checkout time ↓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defRPr sz="1200">
                          <a:latin typeface="Times Roman"/>
                          <a:ea typeface="Times Roman"/>
                          <a:cs typeface="Times Roman"/>
                          <a:sym typeface="Times Roman"/>
                        </a:defRPr>
                      </a:pPr>
                      <a:r>
                        <a:t>A/B «reuse on/off»; </a:t>
                      </a:r>
                      <a:r>
                        <a:rPr sz="1300">
                          <a:latin typeface="Courier"/>
                          <a:ea typeface="Courier"/>
                          <a:cs typeface="Courier"/>
                          <a:sym typeface="Courier"/>
                        </a:rPr>
                        <a:t>payment_token_reuse</a:t>
                      </a:r>
                    </a:p>
                  </a:txBody>
                  <a:tcPr marL="12700" marR="12700" marT="12700" marB="12700" anchor="ctr" anchorCtr="0" horzOverflow="overflow"/>
                </a:tc>
              </a:tr>
              <a:tr h="659517">
                <a:tc>
                  <a:txBody>
                    <a:bodyPr/>
                    <a:lstStyle/>
                    <a:p>
                      <a:pPr algn="r" defTabSz="457200"/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10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b="1"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ETA-виджет с диапазоном и причинами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Ocado, Amazon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Скрины ETA ±band, «почему задержка»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On-time ↑, ETA-error ↓, Contact rate ↓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defRPr sz="1200">
                          <a:latin typeface="Times Roman"/>
                          <a:ea typeface="Times Roman"/>
                          <a:cs typeface="Times Roman"/>
                          <a:sym typeface="Times Roman"/>
                        </a:defRPr>
                      </a:pPr>
                      <a:r>
                        <a:t>A/B «band on/off», «пояснение on/off»; </a:t>
                      </a:r>
                      <a:r>
                        <a:rPr sz="1300">
                          <a:latin typeface="Courier"/>
                          <a:ea typeface="Courier"/>
                          <a:cs typeface="Courier"/>
                          <a:sym typeface="Courier"/>
                        </a:rPr>
                        <a:t>order_status_update(eta,band)</a:t>
                      </a:r>
                      <a:r>
                        <a:t>, </a:t>
                      </a:r>
                      <a:r>
                        <a:rPr sz="1300">
                          <a:latin typeface="Courier"/>
                          <a:ea typeface="Courier"/>
                          <a:cs typeface="Courier"/>
                          <a:sym typeface="Courier"/>
                        </a:rPr>
                        <a:t>eta_risk_flag</a:t>
                      </a:r>
                    </a:p>
                  </a:txBody>
                  <a:tcPr marL="12700" marR="12700" marT="12700" marB="12700" anchor="ctr" anchorCtr="0" horzOverflow="overflow"/>
                </a:tc>
              </a:tr>
              <a:tr h="659517">
                <a:tc>
                  <a:txBody>
                    <a:bodyPr/>
                    <a:lstStyle/>
                    <a:p>
                      <a:pPr algn="r" defTabSz="457200"/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11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b="1"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Проактивные уведомления о риске задержки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Amazon, Uber-тип сервисы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Тексты пушей, CTA (перенести/отменить)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Contact rate ↓, Cancel по рискам управляемый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defRPr sz="1300">
                          <a:latin typeface="Courier"/>
                          <a:ea typeface="Courier"/>
                          <a:cs typeface="Courier"/>
                          <a:sym typeface="Courier"/>
                        </a:defRPr>
                      </a:pPr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A/B тексты/тайминги; </a:t>
                      </a:r>
                      <a:r>
                        <a:t>notification_sent/click</a:t>
                      </a:r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, </a:t>
                      </a:r>
                      <a:r>
                        <a:t>slot_reschedule</a:t>
                      </a:r>
                    </a:p>
                  </a:txBody>
                  <a:tcPr marL="12700" marR="12700" marT="12700" marB="12700" anchor="ctr" anchorCtr="0" horzOverflow="overflow"/>
                </a:tc>
              </a:tr>
              <a:tr h="659517">
                <a:tc>
                  <a:txBody>
                    <a:bodyPr/>
                    <a:lstStyle/>
                    <a:p>
                      <a:pPr algn="r" defTabSz="457200"/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12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b="1"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Претензия в 1 клик + авто-резолв до cap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Amazon returns/self-service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Флоу выбора типа/позиции, копи auto-refund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TTR претензии ↓, Repeat ↑, ExpReturns ↓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defRPr sz="1300">
                          <a:latin typeface="Courier"/>
                          <a:ea typeface="Courier"/>
                          <a:cs typeface="Courier"/>
                          <a:sym typeface="Courier"/>
                        </a:defRPr>
                      </a:pPr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A/B cap уровни/копи; </a:t>
                      </a:r>
                      <a:r>
                        <a:t>claim_one_click_open/submit</a:t>
                      </a:r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, </a:t>
                      </a:r>
                      <a:r>
                        <a:t>claim_auto_resolved</a:t>
                      </a:r>
                    </a:p>
                  </a:txBody>
                  <a:tcPr marL="12700" marR="12700" marT="12700" marB="12700" anchor="ctr" anchorCtr="0" horzOverflow="overflow"/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Приложение B — Слайд B4. Data Ready чек-лист для NSM/GMV/P&amp;L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defTabSz="347472">
              <a:lnSpc>
                <a:spcPct val="100000"/>
              </a:lnSpc>
              <a:defRPr b="0" spc="0" sz="4940">
                <a:latin typeface="PP Object Sans Regular"/>
                <a:ea typeface="PP Object Sans Regular"/>
                <a:cs typeface="PP Object Sans Regular"/>
                <a:sym typeface="PP Object Sans Regular"/>
              </a:defRPr>
            </a:pPr>
            <a:r>
              <a:t>Приложение B — Слайд B4. </a:t>
            </a:r>
            <a:r>
              <a:rPr>
                <a:latin typeface="PP Object Sans Heavy"/>
                <a:ea typeface="PP Object Sans Heavy"/>
                <a:cs typeface="PP Object Sans Heavy"/>
                <a:sym typeface="PP Object Sans Heavy"/>
              </a:rPr>
              <a:t>Data Ready чек-лист</a:t>
            </a:r>
            <a:r>
              <a:t> для NSM/GMV/P&amp;L</a:t>
            </a:r>
          </a:p>
        </p:txBody>
      </p:sp>
      <p:sp>
        <p:nvSpPr>
          <p:cNvPr id="279" name="Зачем: запустить A/B H1 и ежедневный C-level дашборд, честно считать NSM = MBC, MDC, GMV и юнит-экономику (CM2/UCM) с едиными определениями.…"/>
          <p:cNvSpPr txBox="1"/>
          <p:nvPr>
            <p:ph type="body" sz="half" idx="1"/>
          </p:nvPr>
        </p:nvSpPr>
        <p:spPr>
          <a:xfrm>
            <a:off x="1206500" y="3687966"/>
            <a:ext cx="9667117" cy="8256012"/>
          </a:xfrm>
          <a:prstGeom prst="rect">
            <a:avLst/>
          </a:prstGeom>
        </p:spPr>
        <p:txBody>
          <a:bodyPr/>
          <a:lstStyle/>
          <a:p>
            <a:pPr marL="0" indent="0" defTabSz="356615">
              <a:lnSpc>
                <a:spcPct val="100000"/>
              </a:lnSpc>
              <a:spcBef>
                <a:spcPts val="900"/>
              </a:spcBef>
              <a:buSzTx/>
              <a:buNone/>
              <a:defRPr sz="935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Зачем:</a:t>
            </a:r>
            <a:r>
              <a:t> запустить A/B H1 и ежедневный C-level дашборд, честно считать </a:t>
            </a:r>
            <a:r>
              <a:rPr b="1"/>
              <a:t>NSM = MBC</a:t>
            </a:r>
            <a:r>
              <a:t>, </a:t>
            </a:r>
            <a:r>
              <a:rPr b="1"/>
              <a:t>MDC</a:t>
            </a:r>
            <a:r>
              <a:t>, </a:t>
            </a:r>
            <a:r>
              <a:rPr b="1"/>
              <a:t>GMV</a:t>
            </a:r>
            <a:r>
              <a:t> и </a:t>
            </a:r>
            <a:r>
              <a:rPr b="1"/>
              <a:t>юнит-экономику</a:t>
            </a:r>
            <a:r>
              <a:t> (CM2/UCM) с едиными определениями.</a:t>
            </a:r>
          </a:p>
          <a:p>
            <a:pPr marL="0" indent="0" defTabSz="356615">
              <a:lnSpc>
                <a:spcPct val="100000"/>
              </a:lnSpc>
              <a:spcBef>
                <a:spcPts val="0"/>
              </a:spcBef>
              <a:buSzTx/>
              <a:buNone/>
              <a:defRPr sz="935">
                <a:solidFill>
                  <a:srgbClr val="80808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 marL="0" indent="0" defTabSz="356615">
              <a:lnSpc>
                <a:spcPct val="100000"/>
              </a:lnSpc>
              <a:spcBef>
                <a:spcPts val="1000"/>
              </a:spcBef>
              <a:buSzTx/>
              <a:buNone/>
              <a:defRPr b="1" sz="1092">
                <a:latin typeface="Times Roman"/>
                <a:ea typeface="Times Roman"/>
                <a:cs typeface="Times Roman"/>
                <a:sym typeface="Times Roman"/>
              </a:defRPr>
            </a:pPr>
            <a:r>
              <a:t>1) Идентичность и атрибуция (сквозная связка OMNI ↔ Market)</a:t>
            </a:r>
          </a:p>
          <a:p>
            <a:pPr marL="356615" indent="-247650" defTabSz="356615">
              <a:lnSpc>
                <a:spcPct val="100000"/>
              </a:lnSpc>
              <a:spcBef>
                <a:spcPts val="900"/>
              </a:spcBef>
              <a:buFont typeface="Times Roman"/>
              <a:defRPr sz="935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Единые ключи:</a:t>
            </a:r>
            <a:r>
              <a:t> </a:t>
            </a:r>
            <a:r>
              <a:rPr sz="1013">
                <a:latin typeface="Courier"/>
                <a:ea typeface="Courier"/>
                <a:cs typeface="Courier"/>
                <a:sym typeface="Courier"/>
              </a:rPr>
              <a:t>user_id</a:t>
            </a:r>
            <a:r>
              <a:t> · </a:t>
            </a:r>
            <a:r>
              <a:rPr sz="1013">
                <a:latin typeface="Courier"/>
                <a:ea typeface="Courier"/>
                <a:cs typeface="Courier"/>
                <a:sym typeface="Courier"/>
              </a:rPr>
              <a:t>device_id</a:t>
            </a:r>
            <a:r>
              <a:t> · </a:t>
            </a:r>
            <a:r>
              <a:rPr sz="1013">
                <a:latin typeface="Courier"/>
                <a:ea typeface="Courier"/>
                <a:cs typeface="Courier"/>
                <a:sym typeface="Courier"/>
              </a:rPr>
              <a:t>session_id</a:t>
            </a:r>
            <a:r>
              <a:t> · </a:t>
            </a:r>
            <a:r>
              <a:rPr sz="1013">
                <a:latin typeface="Courier"/>
                <a:ea typeface="Courier"/>
                <a:cs typeface="Courier"/>
                <a:sym typeface="Courier"/>
              </a:rPr>
              <a:t>flow_id</a:t>
            </a:r>
            <a:r>
              <a:t> · </a:t>
            </a:r>
            <a:r>
              <a:rPr sz="1013">
                <a:latin typeface="Courier"/>
                <a:ea typeface="Courier"/>
                <a:cs typeface="Courier"/>
                <a:sym typeface="Courier"/>
              </a:rPr>
              <a:t>order_id</a:t>
            </a:r>
            <a:r>
              <a:t> (оба заказа при mixed — связаны общим </a:t>
            </a:r>
            <a:r>
              <a:rPr sz="1013">
                <a:latin typeface="Courier"/>
                <a:ea typeface="Courier"/>
                <a:cs typeface="Courier"/>
                <a:sym typeface="Courier"/>
              </a:rPr>
              <a:t>flow_id</a:t>
            </a:r>
            <a:r>
              <a:t>).</a:t>
            </a:r>
          </a:p>
          <a:p>
            <a:pPr marL="356615" indent="-247650" defTabSz="356615">
              <a:lnSpc>
                <a:spcPct val="100000"/>
              </a:lnSpc>
              <a:spcBef>
                <a:spcPts val="900"/>
              </a:spcBef>
              <a:buFont typeface="Times Roman"/>
              <a:defRPr sz="1013">
                <a:latin typeface="Courier"/>
                <a:ea typeface="Courier"/>
                <a:cs typeface="Courier"/>
                <a:sym typeface="Courier"/>
              </a:defRPr>
            </a:pPr>
            <a:r>
              <a:rPr b="1" sz="935">
                <a:latin typeface="Times Roman"/>
                <a:ea typeface="Times Roman"/>
                <a:cs typeface="Times Roman"/>
                <a:sym typeface="Times Roman"/>
              </a:rPr>
              <a:t>Маркировка источника:</a:t>
            </a:r>
            <a:r>
              <a:rPr sz="935">
                <a:latin typeface="Times Roman"/>
                <a:ea typeface="Times Roman"/>
                <a:cs typeface="Times Roman"/>
                <a:sym typeface="Times Roman"/>
              </a:rPr>
              <a:t> </a:t>
            </a:r>
            <a:r>
              <a:t>source = omni_inapp | omni_deeplink | market_standalone</a:t>
            </a:r>
            <a:r>
              <a:rPr sz="935">
                <a:latin typeface="Times Roman"/>
                <a:ea typeface="Times Roman"/>
                <a:cs typeface="Times Roman"/>
                <a:sym typeface="Times Roman"/>
              </a:rPr>
              <a:t> (в NSM берём только первые два).</a:t>
            </a:r>
            <a:endParaRPr sz="935">
              <a:latin typeface="Times Roman"/>
              <a:ea typeface="Times Roman"/>
              <a:cs typeface="Times Roman"/>
              <a:sym typeface="Times Roman"/>
            </a:endParaRPr>
          </a:p>
          <a:p>
            <a:pPr marL="356615" indent="-247650" defTabSz="356615">
              <a:lnSpc>
                <a:spcPct val="100000"/>
              </a:lnSpc>
              <a:spcBef>
                <a:spcPts val="900"/>
              </a:spcBef>
              <a:buFont typeface="Times Roman"/>
              <a:defRPr sz="935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Анти-дубликаты:</a:t>
            </a:r>
            <a:r>
              <a:t> правило идемпотентности по (</a:t>
            </a:r>
            <a:r>
              <a:rPr sz="1013">
                <a:latin typeface="Courier"/>
                <a:ea typeface="Courier"/>
                <a:cs typeface="Courier"/>
                <a:sym typeface="Courier"/>
              </a:rPr>
              <a:t>order_id</a:t>
            </a:r>
            <a:r>
              <a:t>,</a:t>
            </a:r>
            <a:r>
              <a:rPr sz="1013">
                <a:latin typeface="Courier"/>
                <a:ea typeface="Courier"/>
                <a:cs typeface="Courier"/>
                <a:sym typeface="Courier"/>
              </a:rPr>
              <a:t>payment_id</a:t>
            </a:r>
            <a:r>
              <a:t>,</a:t>
            </a:r>
            <a:r>
              <a:rPr sz="1013">
                <a:latin typeface="Courier"/>
                <a:ea typeface="Courier"/>
                <a:cs typeface="Courier"/>
                <a:sym typeface="Courier"/>
              </a:rPr>
              <a:t>ts</a:t>
            </a:r>
            <a:r>
              <a:t>).</a:t>
            </a:r>
          </a:p>
          <a:p>
            <a:pPr marL="356615" indent="-247650" defTabSz="356615">
              <a:lnSpc>
                <a:spcPct val="100000"/>
              </a:lnSpc>
              <a:spcBef>
                <a:spcPts val="900"/>
              </a:spcBef>
              <a:buFont typeface="Times Roman"/>
              <a:defRPr sz="935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Календарь:</a:t>
            </a:r>
            <a:r>
              <a:t> «месяц» для NSM = </a:t>
            </a:r>
            <a:r>
              <a:rPr b="1"/>
              <a:t>календарный месяц</a:t>
            </a:r>
            <a:r>
              <a:t>; вычисления в </a:t>
            </a:r>
            <a:r>
              <a:rPr b="1"/>
              <a:t>UTC</a:t>
            </a:r>
            <a:r>
              <a:t> + хранение локального offset для витрин.</a:t>
            </a:r>
          </a:p>
          <a:p>
            <a:pPr marL="356615" indent="-247650" defTabSz="356615">
              <a:lnSpc>
                <a:spcPct val="100000"/>
              </a:lnSpc>
              <a:spcBef>
                <a:spcPts val="900"/>
              </a:spcBef>
              <a:buFont typeface="Times Roman"/>
              <a:defRPr sz="1013">
                <a:latin typeface="Courier"/>
                <a:ea typeface="Courier"/>
                <a:cs typeface="Courier"/>
                <a:sym typeface="Courier"/>
              </a:defRPr>
            </a:pPr>
            <a:r>
              <a:rPr b="1" sz="935">
                <a:latin typeface="Times Roman"/>
                <a:ea typeface="Times Roman"/>
                <a:cs typeface="Times Roman"/>
                <a:sym typeface="Times Roman"/>
              </a:rPr>
              <a:t>aMAU:</a:t>
            </a:r>
            <a:r>
              <a:rPr sz="935">
                <a:latin typeface="Times Roman"/>
                <a:ea typeface="Times Roman"/>
                <a:cs typeface="Times Roman"/>
                <a:sym typeface="Times Roman"/>
              </a:rPr>
              <a:t> поля </a:t>
            </a:r>
            <a:r>
              <a:t>availability_flag</a:t>
            </a:r>
            <a:r>
              <a:rPr sz="935">
                <a:latin typeface="Times Roman"/>
                <a:ea typeface="Times Roman"/>
                <a:cs typeface="Times Roman"/>
                <a:sym typeface="Times Roman"/>
              </a:rPr>
              <a:t>, </a:t>
            </a:r>
            <a:r>
              <a:t>eligibility_flag</a:t>
            </a:r>
            <a:r>
              <a:rPr sz="935">
                <a:latin typeface="Times Roman"/>
                <a:ea typeface="Times Roman"/>
                <a:cs typeface="Times Roman"/>
                <a:sym typeface="Times Roman"/>
              </a:rPr>
              <a:t>, </a:t>
            </a:r>
            <a:r>
              <a:t>exposure_seen_flag</a:t>
            </a:r>
            <a:r>
              <a:rPr sz="935">
                <a:latin typeface="Times Roman"/>
                <a:ea typeface="Times Roman"/>
                <a:cs typeface="Times Roman"/>
                <a:sym typeface="Times Roman"/>
              </a:rPr>
              <a:t> для расчёта </a:t>
            </a:r>
            <a:r>
              <a:rPr b="1" sz="935">
                <a:latin typeface="Times Roman"/>
                <a:ea typeface="Times Roman"/>
                <a:cs typeface="Times Roman"/>
                <a:sym typeface="Times Roman"/>
              </a:rPr>
              <a:t>addressable MAU</a:t>
            </a:r>
            <a:r>
              <a:rPr sz="935">
                <a:latin typeface="Times Roman"/>
                <a:ea typeface="Times Roman"/>
                <a:cs typeface="Times Roman"/>
                <a:sym typeface="Times Roman"/>
              </a:rPr>
              <a:t>.</a:t>
            </a:r>
            <a:endParaRPr sz="935">
              <a:latin typeface="Times Roman"/>
              <a:ea typeface="Times Roman"/>
              <a:cs typeface="Times Roman"/>
              <a:sym typeface="Times Roman"/>
            </a:endParaRPr>
          </a:p>
          <a:p>
            <a:pPr marL="0" indent="0" defTabSz="356615">
              <a:lnSpc>
                <a:spcPct val="100000"/>
              </a:lnSpc>
              <a:spcBef>
                <a:spcPts val="0"/>
              </a:spcBef>
              <a:buSzTx/>
              <a:buNone/>
              <a:defRPr sz="935">
                <a:solidFill>
                  <a:srgbClr val="80808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 marL="0" indent="0" defTabSz="356615">
              <a:lnSpc>
                <a:spcPct val="100000"/>
              </a:lnSpc>
              <a:spcBef>
                <a:spcPts val="1000"/>
              </a:spcBef>
              <a:buSzTx/>
              <a:buNone/>
              <a:defRPr b="1" sz="1092">
                <a:latin typeface="Times Roman"/>
                <a:ea typeface="Times Roman"/>
                <a:cs typeface="Times Roman"/>
                <a:sym typeface="Times Roman"/>
              </a:defRPr>
            </a:pPr>
            <a:r>
              <a:t>2) События и схемы (минимальный must-have в проде)</a:t>
            </a:r>
          </a:p>
          <a:p>
            <a:pPr marL="356615" indent="-247650" defTabSz="356615">
              <a:lnSpc>
                <a:spcPct val="100000"/>
              </a:lnSpc>
              <a:spcBef>
                <a:spcPts val="900"/>
              </a:spcBef>
              <a:buFont typeface="Times Roman"/>
              <a:defRPr sz="1013">
                <a:latin typeface="Courier"/>
                <a:ea typeface="Courier"/>
                <a:cs typeface="Courier"/>
                <a:sym typeface="Courier"/>
              </a:defRPr>
            </a:pPr>
            <a:r>
              <a:rPr b="1" sz="935">
                <a:latin typeface="Times Roman"/>
                <a:ea typeface="Times Roman"/>
                <a:cs typeface="Times Roman"/>
                <a:sym typeface="Times Roman"/>
              </a:rPr>
              <a:t>Воронка:</a:t>
            </a:r>
            <a:br>
              <a:rPr sz="935">
                <a:latin typeface="Times Roman"/>
                <a:ea typeface="Times Roman"/>
                <a:cs typeface="Times Roman"/>
                <a:sym typeface="Times Roman"/>
              </a:rPr>
            </a:br>
            <a:r>
              <a:t>view_shop_entry</a:t>
            </a:r>
            <a:r>
              <a:rPr sz="935">
                <a:latin typeface="Times Roman"/>
                <a:ea typeface="Times Roman"/>
                <a:cs typeface="Times Roman"/>
                <a:sym typeface="Times Roman"/>
              </a:rPr>
              <a:t>, </a:t>
            </a:r>
            <a:r>
              <a:t>click_shop_entry</a:t>
            </a:r>
            <a:r>
              <a:rPr sz="935">
                <a:latin typeface="Times Roman"/>
                <a:ea typeface="Times Roman"/>
                <a:cs typeface="Times Roman"/>
                <a:sym typeface="Times Roman"/>
              </a:rPr>
              <a:t>, </a:t>
            </a:r>
            <a:r>
              <a:t>tab_source_select</a:t>
            </a:r>
            <a:r>
              <a:rPr sz="935">
                <a:latin typeface="Times Roman"/>
                <a:ea typeface="Times Roman"/>
                <a:cs typeface="Times Roman"/>
                <a:sym typeface="Times Roman"/>
              </a:rPr>
              <a:t>,</a:t>
            </a:r>
            <a:br>
              <a:rPr sz="935">
                <a:latin typeface="Times Roman"/>
                <a:ea typeface="Times Roman"/>
                <a:cs typeface="Times Roman"/>
                <a:sym typeface="Times Roman"/>
              </a:rPr>
            </a:br>
            <a:r>
              <a:t>plp_quick_add</a:t>
            </a:r>
            <a:r>
              <a:rPr sz="935">
                <a:latin typeface="Times Roman"/>
                <a:ea typeface="Times Roman"/>
                <a:cs typeface="Times Roman"/>
                <a:sym typeface="Times Roman"/>
              </a:rPr>
              <a:t>, </a:t>
            </a:r>
            <a:r>
              <a:t>plp_variant_open/select</a:t>
            </a:r>
            <a:r>
              <a:rPr sz="935">
                <a:latin typeface="Times Roman"/>
                <a:ea typeface="Times Roman"/>
                <a:cs typeface="Times Roman"/>
                <a:sym typeface="Times Roman"/>
              </a:rPr>
              <a:t>, </a:t>
            </a:r>
            <a:r>
              <a:t>multiadd_select/submit</a:t>
            </a:r>
            <a:r>
              <a:rPr sz="935">
                <a:latin typeface="Times Roman"/>
                <a:ea typeface="Times Roman"/>
                <a:cs typeface="Times Roman"/>
                <a:sym typeface="Times Roman"/>
              </a:rPr>
              <a:t>,</a:t>
            </a:r>
            <a:br>
              <a:rPr sz="935">
                <a:latin typeface="Times Roman"/>
                <a:ea typeface="Times Roman"/>
                <a:cs typeface="Times Roman"/>
                <a:sym typeface="Times Roman"/>
              </a:rPr>
            </a:br>
            <a:r>
              <a:t>cart_mixed_flag</a:t>
            </a:r>
            <a:r>
              <a:rPr sz="935">
                <a:latin typeface="Times Roman"/>
                <a:ea typeface="Times Roman"/>
                <a:cs typeface="Times Roman"/>
                <a:sym typeface="Times Roman"/>
              </a:rPr>
              <a:t>, </a:t>
            </a:r>
            <a:r>
              <a:t>cta_split_checkout_click</a:t>
            </a:r>
            <a:r>
              <a:rPr sz="935">
                <a:latin typeface="Times Roman"/>
                <a:ea typeface="Times Roman"/>
                <a:cs typeface="Times Roman"/>
                <a:sym typeface="Times Roman"/>
              </a:rPr>
              <a:t>, </a:t>
            </a:r>
            <a:r>
              <a:t>checkout_flow_id</a:t>
            </a:r>
            <a:r>
              <a:rPr sz="935">
                <a:latin typeface="Times Roman"/>
                <a:ea typeface="Times Roman"/>
                <a:cs typeface="Times Roman"/>
                <a:sym typeface="Times Roman"/>
              </a:rPr>
              <a:t>, </a:t>
            </a:r>
            <a:r>
              <a:t>pay_success/fail</a:t>
            </a:r>
            <a:r>
              <a:rPr sz="935">
                <a:latin typeface="Times Roman"/>
                <a:ea typeface="Times Roman"/>
                <a:cs typeface="Times Roman"/>
                <a:sym typeface="Times Roman"/>
              </a:rPr>
              <a:t>.</a:t>
            </a:r>
            <a:endParaRPr sz="935">
              <a:latin typeface="Times Roman"/>
              <a:ea typeface="Times Roman"/>
              <a:cs typeface="Times Roman"/>
              <a:sym typeface="Times Roman"/>
            </a:endParaRPr>
          </a:p>
          <a:p>
            <a:pPr marL="356615" indent="-247650" defTabSz="356615">
              <a:lnSpc>
                <a:spcPct val="100000"/>
              </a:lnSpc>
              <a:spcBef>
                <a:spcPts val="900"/>
              </a:spcBef>
              <a:buFont typeface="Times Roman"/>
              <a:defRPr sz="1013">
                <a:latin typeface="Courier"/>
                <a:ea typeface="Courier"/>
                <a:cs typeface="Courier"/>
                <a:sym typeface="Courier"/>
              </a:defRPr>
            </a:pPr>
            <a:r>
              <a:rPr b="1" sz="935">
                <a:latin typeface="Times Roman"/>
                <a:ea typeface="Times Roman"/>
                <a:cs typeface="Times Roman"/>
                <a:sym typeface="Times Roman"/>
              </a:rPr>
              <a:t>Post-purchase:</a:t>
            </a:r>
            <a:br>
              <a:rPr sz="935">
                <a:latin typeface="Times Roman"/>
                <a:ea typeface="Times Roman"/>
                <a:cs typeface="Times Roman"/>
                <a:sym typeface="Times Roman"/>
              </a:rPr>
            </a:br>
            <a:r>
              <a:t>order_status_update{status, eta, band}</a:t>
            </a:r>
            <a:r>
              <a:rPr sz="935">
                <a:latin typeface="Times Roman"/>
                <a:ea typeface="Times Roman"/>
                <a:cs typeface="Times Roman"/>
                <a:sym typeface="Times Roman"/>
              </a:rPr>
              <a:t>, </a:t>
            </a:r>
            <a:r>
              <a:t>eta_risk_flag</a:t>
            </a:r>
            <a:r>
              <a:rPr sz="935">
                <a:latin typeface="Times Roman"/>
                <a:ea typeface="Times Roman"/>
                <a:cs typeface="Times Roman"/>
                <a:sym typeface="Times Roman"/>
              </a:rPr>
              <a:t>,</a:t>
            </a:r>
            <a:br>
              <a:rPr sz="935">
                <a:latin typeface="Times Roman"/>
                <a:ea typeface="Times Roman"/>
                <a:cs typeface="Times Roman"/>
                <a:sym typeface="Times Roman"/>
              </a:rPr>
            </a:br>
            <a:r>
              <a:t>claim_one_click_open/submit</a:t>
            </a:r>
            <a:r>
              <a:rPr sz="935">
                <a:latin typeface="Times Roman"/>
                <a:ea typeface="Times Roman"/>
                <a:cs typeface="Times Roman"/>
                <a:sym typeface="Times Roman"/>
              </a:rPr>
              <a:t>, </a:t>
            </a:r>
            <a:r>
              <a:t>claim_auto_resolved</a:t>
            </a:r>
            <a:r>
              <a:rPr sz="935">
                <a:latin typeface="Times Roman"/>
                <a:ea typeface="Times Roman"/>
                <a:cs typeface="Times Roman"/>
                <a:sym typeface="Times Roman"/>
              </a:rPr>
              <a:t>, </a:t>
            </a:r>
            <a:r>
              <a:t>contact_reason</a:t>
            </a:r>
            <a:r>
              <a:rPr sz="935">
                <a:latin typeface="Times Roman"/>
                <a:ea typeface="Times Roman"/>
                <a:cs typeface="Times Roman"/>
                <a:sym typeface="Times Roman"/>
              </a:rPr>
              <a:t>.</a:t>
            </a:r>
            <a:endParaRPr sz="935">
              <a:latin typeface="Times Roman"/>
              <a:ea typeface="Times Roman"/>
              <a:cs typeface="Times Roman"/>
              <a:sym typeface="Times Roman"/>
            </a:endParaRPr>
          </a:p>
          <a:p>
            <a:pPr marL="356615" indent="-247650" defTabSz="356615">
              <a:lnSpc>
                <a:spcPct val="100000"/>
              </a:lnSpc>
              <a:spcBef>
                <a:spcPts val="900"/>
              </a:spcBef>
              <a:buFont typeface="Times Roman"/>
              <a:defRPr sz="1013">
                <a:latin typeface="Courier"/>
                <a:ea typeface="Courier"/>
                <a:cs typeface="Courier"/>
                <a:sym typeface="Courier"/>
              </a:defRPr>
            </a:pPr>
            <a:r>
              <a:rPr b="1" sz="935">
                <a:latin typeface="Times Roman"/>
                <a:ea typeface="Times Roman"/>
                <a:cs typeface="Times Roman"/>
                <a:sym typeface="Times Roman"/>
              </a:rPr>
              <a:t>Обязательные поля:</a:t>
            </a:r>
            <a:r>
              <a:rPr sz="935">
                <a:latin typeface="Times Roman"/>
                <a:ea typeface="Times Roman"/>
                <a:cs typeface="Times Roman"/>
                <a:sym typeface="Times Roman"/>
              </a:rPr>
              <a:t> </a:t>
            </a:r>
            <a:r>
              <a:t>user_id, flow_id, order_id, source, ts, device_tier, geo_id</a:t>
            </a:r>
            <a:r>
              <a:rPr sz="935">
                <a:latin typeface="Times Roman"/>
                <a:ea typeface="Times Roman"/>
                <a:cs typeface="Times Roman"/>
                <a:sym typeface="Times Roman"/>
              </a:rPr>
              <a:t>.</a:t>
            </a:r>
            <a:endParaRPr sz="935">
              <a:latin typeface="Times Roman"/>
              <a:ea typeface="Times Roman"/>
              <a:cs typeface="Times Roman"/>
              <a:sym typeface="Times Roman"/>
            </a:endParaRPr>
          </a:p>
          <a:p>
            <a:pPr marL="356615" indent="-247650" defTabSz="356615">
              <a:lnSpc>
                <a:spcPct val="100000"/>
              </a:lnSpc>
              <a:spcBef>
                <a:spcPts val="900"/>
              </a:spcBef>
              <a:buFont typeface="Times Roman"/>
              <a:defRPr sz="935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СЛА событий:</a:t>
            </a:r>
            <a:r>
              <a:t> лаг ≤ </a:t>
            </a:r>
            <a:r>
              <a:rPr b="1"/>
              <a:t>5 мин</a:t>
            </a:r>
            <a:r>
              <a:t>, дроп пакетов ≤ </a:t>
            </a:r>
            <a:r>
              <a:rPr b="1"/>
              <a:t>0.3%</a:t>
            </a:r>
            <a:r>
              <a:t>.</a:t>
            </a:r>
          </a:p>
          <a:p>
            <a:pPr marL="0" indent="0" defTabSz="356615">
              <a:lnSpc>
                <a:spcPct val="100000"/>
              </a:lnSpc>
              <a:spcBef>
                <a:spcPts val="0"/>
              </a:spcBef>
              <a:buSzTx/>
              <a:buNone/>
              <a:defRPr sz="935">
                <a:solidFill>
                  <a:srgbClr val="80808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 marL="0" indent="0" defTabSz="356615">
              <a:lnSpc>
                <a:spcPct val="100000"/>
              </a:lnSpc>
              <a:spcBef>
                <a:spcPts val="1000"/>
              </a:spcBef>
              <a:buSzTx/>
              <a:buNone/>
              <a:defRPr b="1" sz="1092">
                <a:latin typeface="Times Roman"/>
                <a:ea typeface="Times Roman"/>
                <a:cs typeface="Times Roman"/>
                <a:sym typeface="Times Roman"/>
              </a:defRPr>
            </a:pPr>
            <a:r>
              <a:t>3) Справочники/витрины (слои, без которых метрики «прыгают»)</a:t>
            </a:r>
          </a:p>
          <a:p>
            <a:pPr marL="356615" indent="-247650" defTabSz="356615">
              <a:lnSpc>
                <a:spcPct val="100000"/>
              </a:lnSpc>
              <a:spcBef>
                <a:spcPts val="900"/>
              </a:spcBef>
              <a:buFont typeface="Times Roman"/>
              <a:defRPr sz="935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Каталог/товары:</a:t>
            </a:r>
            <a:r>
              <a:t> </a:t>
            </a:r>
            <a:r>
              <a:rPr sz="1013">
                <a:latin typeface="Courier"/>
                <a:ea typeface="Courier"/>
                <a:cs typeface="Courier"/>
                <a:sym typeface="Courier"/>
              </a:rPr>
              <a:t>sku_id</a:t>
            </a:r>
            <a:r>
              <a:t>, категория (FMCG/GM/Питомцы/Красота/Хоз), атрибутность (вариативный/без), вес/объём/темп.</a:t>
            </a:r>
          </a:p>
          <a:p>
            <a:pPr marL="356615" indent="-247650" defTabSz="356615">
              <a:lnSpc>
                <a:spcPct val="100000"/>
              </a:lnSpc>
              <a:spcBef>
                <a:spcPts val="900"/>
              </a:spcBef>
              <a:buFont typeface="Times Roman"/>
              <a:defRPr sz="935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Продавцы/магазины/СЦ:</a:t>
            </a:r>
            <a:r>
              <a:t> </a:t>
            </a:r>
            <a:r>
              <a:rPr sz="1013">
                <a:latin typeface="Courier"/>
                <a:ea typeface="Courier"/>
                <a:cs typeface="Courier"/>
                <a:sym typeface="Courier"/>
              </a:rPr>
              <a:t>seller_id</a:t>
            </a:r>
            <a:r>
              <a:t>, </a:t>
            </a:r>
            <a:r>
              <a:rPr sz="1013">
                <a:latin typeface="Courier"/>
                <a:ea typeface="Courier"/>
                <a:cs typeface="Courier"/>
                <a:sym typeface="Courier"/>
              </a:rPr>
              <a:t>store_id</a:t>
            </a:r>
            <a:r>
              <a:t>, логистические зоны, правила слотов.</a:t>
            </a:r>
          </a:p>
          <a:p>
            <a:pPr marL="356615" indent="-247650" defTabSz="356615">
              <a:lnSpc>
                <a:spcPct val="100000"/>
              </a:lnSpc>
              <a:spcBef>
                <a:spcPts val="900"/>
              </a:spcBef>
              <a:buFont typeface="Times Roman"/>
              <a:defRPr sz="935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Платежи:</a:t>
            </a:r>
            <a:r>
              <a:t> справочник методов (карта/СБП/Мир Pay) с </a:t>
            </a:r>
            <a:r>
              <a:rPr b="1"/>
              <a:t>фактическими комиссиями</a:t>
            </a:r>
            <a:r>
              <a:t> по тарифам.</a:t>
            </a:r>
          </a:p>
          <a:p>
            <a:pPr marL="356615" indent="-247650" defTabSz="356615">
              <a:lnSpc>
                <a:spcPct val="100000"/>
              </a:lnSpc>
              <a:spcBef>
                <a:spcPts val="900"/>
              </a:spcBef>
              <a:buFont typeface="Times Roman"/>
              <a:defRPr sz="935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Промо/инсентивы:</a:t>
            </a:r>
            <a:r>
              <a:t> caps/механики на sku/order.</a:t>
            </a:r>
          </a:p>
          <a:p>
            <a:pPr marL="356615" indent="-247650" defTabSz="356615">
              <a:lnSpc>
                <a:spcPct val="100000"/>
              </a:lnSpc>
              <a:spcBef>
                <a:spcPts val="900"/>
              </a:spcBef>
              <a:buFont typeface="Times Roman"/>
              <a:defRPr sz="935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OMS/ETA:</a:t>
            </a:r>
            <a:r>
              <a:t> статусы заказа, SLA по СЦ.</a:t>
            </a:r>
          </a:p>
          <a:p>
            <a:pPr marL="356615" indent="-247650" defTabSz="356615">
              <a:lnSpc>
                <a:spcPct val="100000"/>
              </a:lnSpc>
              <a:spcBef>
                <a:spcPts val="900"/>
              </a:spcBef>
              <a:buFont typeface="Times Roman"/>
              <a:defRPr b="1" sz="935">
                <a:latin typeface="Times Roman"/>
                <a:ea typeface="Times Roman"/>
                <a:cs typeface="Times Roman"/>
                <a:sym typeface="Times Roman"/>
              </a:defRPr>
            </a:pPr>
            <a:r>
              <a:t>Категорийная экономика:</a:t>
            </a:r>
            <a:r>
              <a:rPr b="0"/>
              <a:t> </a:t>
            </a:r>
            <a:r>
              <a:rPr b="0" sz="1013">
                <a:latin typeface="Courier"/>
                <a:ea typeface="Courier"/>
                <a:cs typeface="Courier"/>
                <a:sym typeface="Courier"/>
              </a:rPr>
              <a:t>AOV_cat</a:t>
            </a:r>
            <a:r>
              <a:rPr b="0"/>
              <a:t>, </a:t>
            </a:r>
            <a:r>
              <a:rPr b="0" sz="1013">
                <a:latin typeface="Courier"/>
                <a:ea typeface="Courier"/>
                <a:cs typeface="Courier"/>
                <a:sym typeface="Courier"/>
              </a:rPr>
              <a:t>share_cat</a:t>
            </a:r>
            <a:r>
              <a:rPr b="0"/>
              <a:t> </a:t>
            </a:r>
            <a:r>
              <a:t>отдельно для Delivery и C&amp;C</a:t>
            </a:r>
            <a:r>
              <a:rPr b="0"/>
              <a:t>.</a:t>
            </a:r>
            <a:endParaRPr b="0"/>
          </a:p>
          <a:p>
            <a:pPr marL="0" indent="0" defTabSz="356615">
              <a:lnSpc>
                <a:spcPct val="100000"/>
              </a:lnSpc>
              <a:spcBef>
                <a:spcPts val="0"/>
              </a:spcBef>
              <a:buSzTx/>
              <a:buNone/>
              <a:defRPr sz="935">
                <a:solidFill>
                  <a:srgbClr val="80808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 marL="0" indent="0" defTabSz="356615">
              <a:lnSpc>
                <a:spcPct val="100000"/>
              </a:lnSpc>
              <a:spcBef>
                <a:spcPts val="1000"/>
              </a:spcBef>
              <a:buSzTx/>
              <a:buNone/>
              <a:defRPr b="1" sz="1092">
                <a:latin typeface="Times Roman"/>
                <a:ea typeface="Times Roman"/>
                <a:cs typeface="Times Roman"/>
                <a:sym typeface="Times Roman"/>
              </a:defRPr>
            </a:pPr>
            <a:r>
              <a:t>4) Метрики и вычисления (ровно так, как в основной части)</a:t>
            </a:r>
          </a:p>
          <a:p>
            <a:pPr marL="356615" indent="-247650" defTabSz="356615">
              <a:lnSpc>
                <a:spcPct val="100000"/>
              </a:lnSpc>
              <a:spcBef>
                <a:spcPts val="900"/>
              </a:spcBef>
              <a:buFont typeface="Times Roman"/>
              <a:defRPr sz="935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NSM (MBC):</a:t>
            </a:r>
            <a:r>
              <a:t> уникальные покупатели из </a:t>
            </a:r>
            <a:r>
              <a:rPr b="1"/>
              <a:t>OMNI in-app/deeplink</a:t>
            </a:r>
            <a:r>
              <a:t> / </a:t>
            </a:r>
            <a:r>
              <a:rPr b="1"/>
              <a:t>OMNI MAU</a:t>
            </a:r>
            <a:r>
              <a:t>. Исключить: standalone, тест/фрод, отмены до исполнения.</a:t>
            </a:r>
          </a:p>
          <a:p>
            <a:pPr marL="356615" indent="-247650" defTabSz="356615">
              <a:lnSpc>
                <a:spcPct val="100000"/>
              </a:lnSpc>
              <a:spcBef>
                <a:spcPts val="900"/>
              </a:spcBef>
              <a:buFont typeface="Times Roman"/>
              <a:defRPr sz="1013">
                <a:latin typeface="Courier"/>
                <a:ea typeface="Courier"/>
                <a:cs typeface="Courier"/>
                <a:sym typeface="Courier"/>
              </a:defRPr>
            </a:pPr>
            <a:r>
              <a:rPr b="1" sz="935">
                <a:latin typeface="Times Roman"/>
                <a:ea typeface="Times Roman"/>
                <a:cs typeface="Times Roman"/>
                <a:sym typeface="Times Roman"/>
              </a:rPr>
              <a:t>MDC:</a:t>
            </a:r>
            <a:r>
              <a:rPr sz="935">
                <a:latin typeface="Times Roman"/>
                <a:ea typeface="Times Roman"/>
                <a:cs typeface="Times Roman"/>
                <a:sym typeface="Times Roman"/>
              </a:rPr>
              <a:t> </a:t>
            </a:r>
            <a:r>
              <a:t>MBC × Fulfillment_success</a:t>
            </a:r>
            <a:r>
              <a:rPr sz="935">
                <a:latin typeface="Times Roman"/>
                <a:ea typeface="Times Roman"/>
                <a:cs typeface="Times Roman"/>
                <a:sym typeface="Times Roman"/>
              </a:rPr>
              <a:t>.</a:t>
            </a:r>
            <a:endParaRPr sz="935">
              <a:latin typeface="Times Roman"/>
              <a:ea typeface="Times Roman"/>
              <a:cs typeface="Times Roman"/>
              <a:sym typeface="Times Roman"/>
            </a:endParaRPr>
          </a:p>
          <a:p>
            <a:pPr marL="356615" indent="-247650" defTabSz="356615">
              <a:lnSpc>
                <a:spcPct val="100000"/>
              </a:lnSpc>
              <a:spcBef>
                <a:spcPts val="900"/>
              </a:spcBef>
              <a:buFont typeface="Times Roman"/>
              <a:defRPr sz="935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Воронка 6 шагов:</a:t>
            </a:r>
            <a:r>
              <a:t> Views → CTR → Intent → ATC → Checkout → </a:t>
            </a:r>
            <a:r>
              <a:rPr b="1"/>
              <a:t>Fulfillment</a:t>
            </a:r>
            <a:r>
              <a:t>.</a:t>
            </a:r>
          </a:p>
          <a:p>
            <a:pPr marL="356615" indent="-247650" defTabSz="356615">
              <a:lnSpc>
                <a:spcPct val="100000"/>
              </a:lnSpc>
              <a:spcBef>
                <a:spcPts val="900"/>
              </a:spcBef>
              <a:buFont typeface="Times Roman"/>
              <a:defRPr b="1" sz="935">
                <a:latin typeface="Times Roman"/>
                <a:ea typeface="Times Roman"/>
                <a:cs typeface="Times Roman"/>
                <a:sym typeface="Times Roman"/>
              </a:defRPr>
            </a:pPr>
            <a:r>
              <a:t>Диагностические:</a:t>
            </a:r>
            <a:r>
              <a:rPr b="0"/>
              <a:t> </a:t>
            </a:r>
            <a:r>
              <a:rPr b="0" sz="1013">
                <a:latin typeface="Courier"/>
                <a:ea typeface="Courier"/>
                <a:cs typeface="Courier"/>
                <a:sym typeface="Courier"/>
              </a:rPr>
              <a:t>ATC_latency_ms</a:t>
            </a:r>
            <a:r>
              <a:rPr b="0"/>
              <a:t>, </a:t>
            </a:r>
            <a:r>
              <a:rPr b="0" sz="1013">
                <a:latin typeface="Courier"/>
                <a:ea typeface="Courier"/>
                <a:cs typeface="Courier"/>
                <a:sym typeface="Courier"/>
              </a:rPr>
              <a:t>Mixed_cart_rate</a:t>
            </a:r>
            <a:r>
              <a:rPr b="0"/>
              <a:t>, </a:t>
            </a:r>
            <a:r>
              <a:rPr b="0" sz="1013">
                <a:latin typeface="Courier"/>
                <a:ea typeface="Courier"/>
                <a:cs typeface="Courier"/>
                <a:sym typeface="Courier"/>
              </a:rPr>
              <a:t>Drop@Mixed_cart</a:t>
            </a:r>
            <a:r>
              <a:rPr b="0"/>
              <a:t>, </a:t>
            </a:r>
            <a:r>
              <a:rPr b="0" sz="1013">
                <a:latin typeface="Courier"/>
                <a:ea typeface="Courier"/>
                <a:cs typeface="Courier"/>
                <a:sym typeface="Courier"/>
              </a:rPr>
              <a:t>Pay_success%</a:t>
            </a:r>
            <a:r>
              <a:rPr b="0"/>
              <a:t>, </a:t>
            </a:r>
            <a:r>
              <a:rPr b="0" sz="1013">
                <a:latin typeface="Courier"/>
                <a:ea typeface="Courier"/>
                <a:cs typeface="Courier"/>
                <a:sym typeface="Courier"/>
              </a:rPr>
              <a:t>On_time%</a:t>
            </a:r>
            <a:r>
              <a:rPr b="0"/>
              <a:t>, </a:t>
            </a:r>
            <a:r>
              <a:rPr b="0" sz="1013">
                <a:latin typeface="Courier"/>
                <a:ea typeface="Courier"/>
                <a:cs typeface="Courier"/>
                <a:sym typeface="Courier"/>
              </a:rPr>
              <a:t>Delivered_success%</a:t>
            </a:r>
            <a:r>
              <a:rPr b="0"/>
              <a:t>, </a:t>
            </a:r>
            <a:r>
              <a:rPr b="0" sz="1013">
                <a:latin typeface="Courier"/>
                <a:ea typeface="Courier"/>
                <a:cs typeface="Courier"/>
                <a:sym typeface="Courier"/>
              </a:rPr>
              <a:t>Contact_rate</a:t>
            </a:r>
            <a:r>
              <a:rPr b="0"/>
              <a:t>.</a:t>
            </a:r>
            <a:endParaRPr b="0"/>
          </a:p>
          <a:p>
            <a:pPr marL="356615" indent="-247650" defTabSz="356615">
              <a:lnSpc>
                <a:spcPct val="100000"/>
              </a:lnSpc>
              <a:spcBef>
                <a:spcPts val="900"/>
              </a:spcBef>
              <a:buFont typeface="Times Roman"/>
              <a:defRPr sz="935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GMV:</a:t>
            </a:r>
            <a:r>
              <a:t> Σ(покупатели×</a:t>
            </a:r>
            <a:r>
              <a:rPr sz="1013">
                <a:latin typeface="Courier"/>
                <a:ea typeface="Courier"/>
                <a:cs typeface="Courier"/>
                <a:sym typeface="Courier"/>
              </a:rPr>
              <a:t>AOV_cat</a:t>
            </a:r>
            <a:r>
              <a:t>×</a:t>
            </a:r>
            <a:r>
              <a:rPr sz="1013">
                <a:latin typeface="Courier"/>
                <a:ea typeface="Courier"/>
                <a:cs typeface="Courier"/>
                <a:sym typeface="Courier"/>
              </a:rPr>
              <a:t>share_cat</a:t>
            </a:r>
            <a:r>
              <a:t>×Mix(Delivery/C&amp;C)).</a:t>
            </a:r>
          </a:p>
        </p:txBody>
      </p:sp>
      <p:sp>
        <p:nvSpPr>
          <p:cNvPr id="280" name="5) Юнит-экономика (вклад по заказу и по SKU)…"/>
          <p:cNvSpPr txBox="1"/>
          <p:nvPr/>
        </p:nvSpPr>
        <p:spPr>
          <a:xfrm>
            <a:off x="12743515" y="3661183"/>
            <a:ext cx="10107737" cy="94306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457200">
              <a:lnSpc>
                <a:spcPct val="100000"/>
              </a:lnSpc>
              <a:spcBef>
                <a:spcPts val="1400"/>
              </a:spcBef>
              <a:defRPr b="1" sz="14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5) Юнит-экономика (вклад по заказу и по SKU)</a:t>
            </a:r>
          </a:p>
          <a:p>
            <a:pPr marL="457200" indent="-317500" defTabSz="457200">
              <a:lnSpc>
                <a:spcPct val="100000"/>
              </a:lnSpc>
              <a:spcBef>
                <a:spcPts val="1200"/>
              </a:spcBef>
              <a:buSzPct val="123000"/>
              <a:buFont typeface="Times Roman"/>
              <a:buChar char="•"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CM2_order =</a:t>
            </a:r>
            <a:r>
              <a:t> NetRevenue − COGS − </a:t>
            </a:r>
            <a:r>
              <a:rPr b="1"/>
              <a:t>Logistics_var</a:t>
            </a:r>
            <a:r>
              <a:t> − </a:t>
            </a:r>
            <a:r>
              <a:rPr b="1"/>
              <a:t>Payments_fees</a:t>
            </a:r>
            <a:r>
              <a:t> − </a:t>
            </a:r>
            <a:r>
              <a:rPr b="1"/>
              <a:t>Picking&amp;Packing</a:t>
            </a:r>
            <a:r>
              <a:t> − Incentives − Refunds/Compensations</a:t>
            </a:r>
            <a:br/>
            <a:r>
              <a:t>— разрезы: Delivery/C&amp;C · регион/СЦ · метод оплаты · &lt; / ≥ AOV* (порог free).</a:t>
            </a:r>
          </a:p>
          <a:p>
            <a:pPr marL="457200" indent="-317500" defTabSz="457200">
              <a:lnSpc>
                <a:spcPct val="100000"/>
              </a:lnSpc>
              <a:spcBef>
                <a:spcPts val="1200"/>
              </a:spcBef>
              <a:buSzPct val="123000"/>
              <a:buFont typeface="Times Roman"/>
              <a:buChar char="•"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UCM_sku =</a:t>
            </a:r>
            <a:r>
              <a:t> NetPrice − COGS − Promo_sku − Alloc(Logistics_var) − Alloc(Payments_fees) − Alloc(Picking&amp;Packing) − ExpReturns</a:t>
            </a:r>
            <a:br/>
            <a:r>
              <a:t>— </a:t>
            </a:r>
            <a:r>
              <a:rPr b="1"/>
              <a:t>Alloc-правила:</a:t>
            </a:r>
            <a:r>
              <a:t> платежи — по доле цены; логистика — </a:t>
            </a:r>
            <a:r>
              <a:rPr b="1"/>
              <a:t>50% вес/объём/температура + 50% цена</a:t>
            </a:r>
            <a:r>
              <a:t>; пикинг — по классу сборки×нормо-минутам.</a:t>
            </a:r>
          </a:p>
          <a:p>
            <a:pPr marL="457200" indent="-317500" defTabSz="457200">
              <a:lnSpc>
                <a:spcPct val="100000"/>
              </a:lnSpc>
              <a:spcBef>
                <a:spcPts val="1200"/>
              </a:spcBef>
              <a:buSzPct val="123000"/>
              <a:buFont typeface="Times Roman"/>
              <a:buChar char="•"/>
              <a:defRPr sz="1300">
                <a:latin typeface="Courier"/>
                <a:ea typeface="Courier"/>
                <a:cs typeface="Courier"/>
                <a:sym typeface="Courier"/>
              </a:defRPr>
            </a:pPr>
            <a:r>
              <a:rPr b="1" sz="1200">
                <a:latin typeface="Times Roman"/>
                <a:ea typeface="Times Roman"/>
                <a:cs typeface="Times Roman"/>
                <a:sym typeface="Times Roman"/>
              </a:rPr>
              <a:t>Стоп-линии:</a:t>
            </a:r>
            <a:r>
              <a:rPr sz="1200">
                <a:latin typeface="Times Roman"/>
                <a:ea typeface="Times Roman"/>
                <a:cs typeface="Times Roman"/>
                <a:sym typeface="Times Roman"/>
              </a:rPr>
              <a:t> </a:t>
            </a:r>
            <a:r>
              <a:t>CM2/order ≥ 0</a:t>
            </a:r>
            <a:r>
              <a:rPr sz="1200">
                <a:latin typeface="Times Roman"/>
                <a:ea typeface="Times Roman"/>
                <a:cs typeface="Times Roman"/>
                <a:sym typeface="Times Roman"/>
              </a:rPr>
              <a:t> (по каналам); </a:t>
            </a:r>
            <a:r>
              <a:t>Share_negative_UCM ≤ Sₙ%</a:t>
            </a:r>
            <a:r>
              <a:rPr sz="1200">
                <a:latin typeface="Times Roman"/>
                <a:ea typeface="Times Roman"/>
                <a:cs typeface="Times Roman"/>
                <a:sym typeface="Times Roman"/>
              </a:rPr>
              <a:t>.</a:t>
            </a:r>
            <a:endParaRPr sz="1200">
              <a:latin typeface="Times Roman"/>
              <a:ea typeface="Times Roman"/>
              <a:cs typeface="Times Roman"/>
              <a:sym typeface="Times Roman"/>
            </a:endParaRPr>
          </a:p>
          <a:p>
            <a:pPr defTabSz="457200">
              <a:lnSpc>
                <a:spcPct val="100000"/>
              </a:lnSpc>
              <a:spcBef>
                <a:spcPts val="0"/>
              </a:spcBef>
              <a:defRPr sz="1200">
                <a:solidFill>
                  <a:srgbClr val="80808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 defTabSz="457200">
              <a:lnSpc>
                <a:spcPct val="100000"/>
              </a:lnSpc>
              <a:spcBef>
                <a:spcPts val="1400"/>
              </a:spcBef>
              <a:defRPr b="1" sz="14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6) Контроль качества данных (до запуска A/B)</a:t>
            </a:r>
          </a:p>
          <a:p>
            <a:pPr marL="457200" indent="-317500" defTabSz="457200">
              <a:lnSpc>
                <a:spcPct val="100000"/>
              </a:lnSpc>
              <a:spcBef>
                <a:spcPts val="1200"/>
              </a:spcBef>
              <a:buSzPct val="123000"/>
              <a:buFont typeface="Times Roman"/>
              <a:buChar char="•"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A/A 48 ч:</a:t>
            </a:r>
            <a:r>
              <a:t> </a:t>
            </a:r>
            <a:r>
              <a:rPr b="1"/>
              <a:t>SRM = 0</a:t>
            </a:r>
            <a:r>
              <a:t>, расхождение экспозиции ±0.5 п.п.</a:t>
            </a:r>
          </a:p>
          <a:p>
            <a:pPr marL="457200" indent="-317500" defTabSz="457200">
              <a:lnSpc>
                <a:spcPct val="100000"/>
              </a:lnSpc>
              <a:spcBef>
                <a:spcPts val="1200"/>
              </a:spcBef>
              <a:buSzPct val="123000"/>
              <a:buFont typeface="Times Roman"/>
              <a:buChar char="•"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Инварианты воронки:</a:t>
            </a:r>
            <a:r>
              <a:t> Counts(Views) ≥ CTR ≥ Intent ≥ ATC ≥ Checkout (монотонность).</a:t>
            </a:r>
          </a:p>
          <a:p>
            <a:pPr marL="457200" indent="-317500" defTabSz="457200">
              <a:lnSpc>
                <a:spcPct val="100000"/>
              </a:lnSpc>
              <a:spcBef>
                <a:spcPts val="1200"/>
              </a:spcBef>
              <a:buSzPct val="123000"/>
              <a:buFont typeface="Times Roman"/>
              <a:buChar char="•"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Неполнота:</a:t>
            </a:r>
            <a:r>
              <a:t> пропуски ключевых полей &lt; </a:t>
            </a:r>
            <a:r>
              <a:rPr b="1"/>
              <a:t>0.5%</a:t>
            </a:r>
            <a:r>
              <a:t>; дубли событий &lt; </a:t>
            </a:r>
            <a:r>
              <a:rPr b="1"/>
              <a:t>0.5%</a:t>
            </a:r>
            <a:r>
              <a:t>.</a:t>
            </a:r>
          </a:p>
          <a:p>
            <a:pPr marL="457200" indent="-317500" defTabSz="457200">
              <a:lnSpc>
                <a:spcPct val="100000"/>
              </a:lnSpc>
              <a:spcBef>
                <a:spcPts val="1200"/>
              </a:spcBef>
              <a:buSzPct val="123000"/>
              <a:buFont typeface="Times Roman"/>
              <a:buChar char="•"/>
              <a:defRPr b="1"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Согласованность ключей:</a:t>
            </a:r>
            <a:r>
              <a:rPr b="0"/>
              <a:t> </a:t>
            </a:r>
            <a:r>
              <a:rPr b="0" sz="1300">
                <a:latin typeface="Courier"/>
                <a:ea typeface="Courier"/>
                <a:cs typeface="Courier"/>
                <a:sym typeface="Courier"/>
              </a:rPr>
              <a:t>user_id</a:t>
            </a:r>
            <a:r>
              <a:rPr b="0"/>
              <a:t> ↔ </a:t>
            </a:r>
            <a:r>
              <a:rPr b="0" sz="1300">
                <a:latin typeface="Courier"/>
                <a:ea typeface="Courier"/>
                <a:cs typeface="Courier"/>
                <a:sym typeface="Courier"/>
              </a:rPr>
              <a:t>order_id</a:t>
            </a:r>
            <a:r>
              <a:rPr b="0"/>
              <a:t> ↔ </a:t>
            </a:r>
            <a:r>
              <a:rPr b="0" sz="1300">
                <a:latin typeface="Courier"/>
                <a:ea typeface="Courier"/>
                <a:cs typeface="Courier"/>
                <a:sym typeface="Courier"/>
              </a:rPr>
              <a:t>flow_id</a:t>
            </a:r>
            <a:r>
              <a:rPr b="0"/>
              <a:t> сквозные ≥ </a:t>
            </a:r>
            <a:r>
              <a:t>99.7%</a:t>
            </a:r>
            <a:r>
              <a:rPr b="0"/>
              <a:t>.</a:t>
            </a:r>
            <a:endParaRPr b="0"/>
          </a:p>
          <a:p>
            <a:pPr marL="457200" indent="-317500" defTabSz="457200">
              <a:lnSpc>
                <a:spcPct val="100000"/>
              </a:lnSpc>
              <a:spcBef>
                <a:spcPts val="1200"/>
              </a:spcBef>
              <a:buSzPct val="123000"/>
              <a:buFont typeface="Times Roman"/>
              <a:buChar char="•"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Границы NSM:</a:t>
            </a:r>
            <a:r>
              <a:t> в числителе нет standalone-заказов (проверка по </a:t>
            </a:r>
            <a:r>
              <a:rPr sz="1300">
                <a:latin typeface="Courier"/>
                <a:ea typeface="Courier"/>
                <a:cs typeface="Courier"/>
                <a:sym typeface="Courier"/>
              </a:rPr>
              <a:t>source</a:t>
            </a:r>
            <a:r>
              <a:t>).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1200">
                <a:solidFill>
                  <a:srgbClr val="80808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 defTabSz="457200">
              <a:lnSpc>
                <a:spcPct val="100000"/>
              </a:lnSpc>
              <a:spcBef>
                <a:spcPts val="1400"/>
              </a:spcBef>
              <a:defRPr b="1" sz="14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7) Дашборд и регламенты обновления</a:t>
            </a:r>
          </a:p>
          <a:p>
            <a:pPr marL="457200" indent="-317500" defTabSz="457200">
              <a:lnSpc>
                <a:spcPct val="100000"/>
              </a:lnSpc>
              <a:spcBef>
                <a:spcPts val="1200"/>
              </a:spcBef>
              <a:buSzPct val="123000"/>
              <a:buFont typeface="Times Roman"/>
              <a:buChar char="•"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Обновления:</a:t>
            </a:r>
            <a:r>
              <a:t> стрим — near-real-time; агрегаты — </a:t>
            </a:r>
            <a:r>
              <a:rPr b="1"/>
              <a:t>ежечасно</a:t>
            </a:r>
            <a:r>
              <a:t>; 1/7/28-дневные — </a:t>
            </a:r>
            <a:r>
              <a:rPr b="1"/>
              <a:t>ежедневно к 09:00</a:t>
            </a:r>
            <a:r>
              <a:t>.</a:t>
            </a:r>
          </a:p>
          <a:p>
            <a:pPr marL="457200" indent="-317500" defTabSz="457200">
              <a:lnSpc>
                <a:spcPct val="100000"/>
              </a:lnSpc>
              <a:spcBef>
                <a:spcPts val="1200"/>
              </a:spcBef>
              <a:buSzPct val="123000"/>
              <a:buFont typeface="Times Roman"/>
              <a:buChar char="•"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Блоки:</a:t>
            </a:r>
            <a:r>
              <a:t> NSM/MDC + вклад инициатив · Воронка 6 шагов · </a:t>
            </a:r>
            <a:r>
              <a:rPr b="1"/>
              <a:t>CM2/UCM</a:t>
            </a:r>
            <a:r>
              <a:t> · On-time/Delivered/NPS · Активные A/B с MDE · </a:t>
            </a:r>
            <a:r>
              <a:rPr b="1"/>
              <a:t>Circuit breakers</a:t>
            </a:r>
            <a:r>
              <a:t>.</a:t>
            </a:r>
          </a:p>
          <a:p>
            <a:pPr marL="457200" indent="-317500" defTabSz="457200">
              <a:lnSpc>
                <a:spcPct val="100000"/>
              </a:lnSpc>
              <a:spcBef>
                <a:spcPts val="1200"/>
              </a:spcBef>
              <a:buSzPct val="123000"/>
              <a:buFont typeface="Times Roman"/>
              <a:buChar char="•"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Алерты:</a:t>
            </a:r>
            <a:r>
              <a:t> SRM≠0 · CM2&lt;0 (канал/регион) · On-time&lt;Y% · Contact↑ · лаг событий &gt;5 мин.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1200">
                <a:solidFill>
                  <a:srgbClr val="80808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 defTabSz="457200">
              <a:lnSpc>
                <a:spcPct val="100000"/>
              </a:lnSpc>
              <a:spcBef>
                <a:spcPts val="1400"/>
              </a:spcBef>
              <a:defRPr b="1" sz="14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8) Доступы и безопасность</a:t>
            </a:r>
          </a:p>
          <a:p>
            <a:pPr marL="457200" indent="-317500" defTabSz="457200">
              <a:lnSpc>
                <a:spcPct val="100000"/>
              </a:lnSpc>
              <a:spcBef>
                <a:spcPts val="1200"/>
              </a:spcBef>
              <a:buSzPct val="123000"/>
              <a:buFont typeface="Times Roman"/>
              <a:buChar char="•"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Роли:</a:t>
            </a:r>
            <a:r>
              <a:t> Prod-events (read), Experiment Registry (write PM/Data), P&amp;L витрины (Finance Ops+Data).</a:t>
            </a:r>
          </a:p>
          <a:p>
            <a:pPr marL="457200" indent="-317500" defTabSz="457200">
              <a:lnSpc>
                <a:spcPct val="100000"/>
              </a:lnSpc>
              <a:spcBef>
                <a:spcPts val="1200"/>
              </a:spcBef>
              <a:buSzPct val="123000"/>
              <a:buFont typeface="Times Roman"/>
              <a:buChar char="•"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PII:</a:t>
            </a:r>
            <a:r>
              <a:t> отдано через ID-псевдонимы; raw PII — только у ограниченной группы.</a:t>
            </a:r>
          </a:p>
          <a:p>
            <a:pPr marL="457200" indent="-317500" defTabSz="457200">
              <a:lnSpc>
                <a:spcPct val="100000"/>
              </a:lnSpc>
              <a:spcBef>
                <a:spcPts val="1200"/>
              </a:spcBef>
              <a:buSzPct val="123000"/>
              <a:buFont typeface="Times Roman"/>
              <a:buChar char="•"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Аудит:</a:t>
            </a:r>
            <a:r>
              <a:t> лог изменений метрик/формул; версия схем событий.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1200">
                <a:solidFill>
                  <a:srgbClr val="80808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 defTabSz="457200">
              <a:lnSpc>
                <a:spcPct val="100000"/>
              </a:lnSpc>
              <a:spcBef>
                <a:spcPts val="1400"/>
              </a:spcBef>
              <a:defRPr b="1" sz="14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9) Go/No-Go перед H1</a:t>
            </a:r>
          </a:p>
          <a:p>
            <a:pPr marL="457200" indent="-317500" defTabSz="457200">
              <a:lnSpc>
                <a:spcPct val="100000"/>
              </a:lnSpc>
              <a:spcBef>
                <a:spcPts val="1200"/>
              </a:spcBef>
              <a:buSzPct val="123000"/>
              <a:buFont typeface="Times Roman"/>
              <a:buChar char="•"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✓ Все события из п.2 бьют в витрины; лаг ≤5 мин.</a:t>
            </a:r>
          </a:p>
          <a:p>
            <a:pPr marL="457200" indent="-317500" defTabSz="457200">
              <a:lnSpc>
                <a:spcPct val="100000"/>
              </a:lnSpc>
              <a:spcBef>
                <a:spcPts val="1200"/>
              </a:spcBef>
              <a:buSzPct val="123000"/>
              <a:buFont typeface="Times Roman"/>
              <a:buChar char="•"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✓ Справочники из п.3 заполнены (платёжные комиссии/логистика/ETA/категории).</a:t>
            </a:r>
          </a:p>
          <a:p>
            <a:pPr marL="457200" indent="-317500" defTabSz="457200">
              <a:lnSpc>
                <a:spcPct val="100000"/>
              </a:lnSpc>
              <a:spcBef>
                <a:spcPts val="1200"/>
              </a:spcBef>
              <a:buSzPct val="123000"/>
              <a:buFont typeface="Times Roman"/>
              <a:buChar char="•"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✓ Метрики и формулы из п.4/5 пересчитаны на «вчера» и сходятся с контрольными отчётами.</a:t>
            </a:r>
          </a:p>
          <a:p>
            <a:pPr marL="457200" indent="-317500" defTabSz="457200">
              <a:lnSpc>
                <a:spcPct val="100000"/>
              </a:lnSpc>
              <a:spcBef>
                <a:spcPts val="1200"/>
              </a:spcBef>
              <a:buSzPct val="123000"/>
              <a:buFont typeface="Times Roman"/>
              <a:buChar char="•"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✓ A/A-прогон пройден; SRM-алерты включены; </a:t>
            </a:r>
            <a:r>
              <a:rPr b="1"/>
              <a:t>circuit breakers</a:t>
            </a:r>
            <a:r>
              <a:t> связаны с действиями (кап инсентивов, порог free, слоты).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Спасибо"/>
          <p:cNvSpPr txBox="1"/>
          <p:nvPr>
            <p:ph type="title"/>
          </p:nvPr>
        </p:nvSpPr>
        <p:spPr>
          <a:xfrm>
            <a:off x="1206500" y="6141418"/>
            <a:ext cx="21971000" cy="1433164"/>
          </a:xfrm>
          <a:prstGeom prst="rect">
            <a:avLst/>
          </a:prstGeom>
        </p:spPr>
        <p:txBody>
          <a:bodyPr/>
          <a:lstStyle/>
          <a:p>
            <a:pPr/>
            <a:r>
              <a:t>Спасибо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33_DynamicLight">
  <a:themeElements>
    <a:clrScheme name="33_DynamicLight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33_DynamicLight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33_Dynamic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33_DynamicLight">
  <a:themeElements>
    <a:clrScheme name="33_DynamicLight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33_DynamicLight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33_Dynamic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